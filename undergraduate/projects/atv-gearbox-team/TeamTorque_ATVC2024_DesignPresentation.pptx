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4.jpg" ContentType="image/jpg"/>
  <Override PartName="/ppt/media/image35.jpg" ContentType="image/jpg"/>
  <Override PartName="/ppt/media/image36.jpg" ContentType="image/jpg"/>
  <Override PartName="/ppt/media/image37.jpg" ContentType="image/jpg"/>
  <Override PartName="/ppt/media/image38.jpg" ContentType="image/jpg"/>
  <Override PartName="/ppt/media/image39.jpg" ContentType="image/jpg"/>
  <Override PartName="/ppt/media/image40.jpg" ContentType="image/jpg"/>
  <Override PartName="/ppt/media/image42.jpg" ContentType="image/jpg"/>
  <Override PartName="/ppt/media/image44.jpg" ContentType="image/jpg"/>
  <Override PartName="/ppt/media/image47.jpg" ContentType="image/jpg"/>
  <Override PartName="/ppt/media/image51.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8" r:id="rId3"/>
    <p:sldId id="259" r:id="rId4"/>
    <p:sldId id="260" r:id="rId5"/>
    <p:sldId id="261" r:id="rId6"/>
    <p:sldId id="262" r:id="rId7"/>
    <p:sldId id="265" r:id="rId8"/>
    <p:sldId id="263" r:id="rId9"/>
    <p:sldId id="267" r:id="rId10"/>
    <p:sldId id="281" r:id="rId11"/>
    <p:sldId id="283" r:id="rId12"/>
    <p:sldId id="284" r:id="rId13"/>
    <p:sldId id="282" r:id="rId14"/>
    <p:sldId id="289" r:id="rId15"/>
    <p:sldId id="290" r:id="rId16"/>
    <p:sldId id="291" r:id="rId17"/>
    <p:sldId id="288" r:id="rId18"/>
    <p:sldId id="285" r:id="rId19"/>
    <p:sldId id="286" r:id="rId20"/>
    <p:sldId id="287" r:id="rId21"/>
    <p:sldId id="269" r:id="rId22"/>
    <p:sldId id="270" r:id="rId23"/>
    <p:sldId id="271" r:id="rId24"/>
    <p:sldId id="272" r:id="rId25"/>
    <p:sldId id="273" r:id="rId26"/>
    <p:sldId id="274" r:id="rId27"/>
    <p:sldId id="275" r:id="rId28"/>
    <p:sldId id="276" r:id="rId29"/>
    <p:sldId id="278" r:id="rId30"/>
    <p:sldId id="279" r:id="rId31"/>
    <p:sldId id="280" r:id="rId32"/>
    <p:sldId id="293" r:id="rId33"/>
    <p:sldId id="292" r:id="rId34"/>
    <p:sldId id="294" r:id="rId35"/>
    <p:sldId id="295"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091CB6-7675-4359-B237-3CEB9600D2F3}" type="datetimeFigureOut">
              <a:rPr lang="en-IN" smtClean="0"/>
              <a:t>14-03-2024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E6D735-6085-4E1D-B5C3-17E8DC43574E}" type="slidenum">
              <a:rPr lang="en-IN" smtClean="0"/>
              <a:t>‹#›</a:t>
            </a:fld>
            <a:endParaRPr lang="en-IN"/>
          </a:p>
        </p:txBody>
      </p:sp>
    </p:spTree>
    <p:extLst>
      <p:ext uri="{BB962C8B-B14F-4D97-AF65-F5344CB8AC3E}">
        <p14:creationId xmlns:p14="http://schemas.microsoft.com/office/powerpoint/2010/main" val="141388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12CEE8-0A4D-49D3-BB01-8EAF342A202E}" type="slidenum">
              <a:rPr lang="en-US" smtClean="0"/>
              <a:t>27</a:t>
            </a:fld>
            <a:endParaRPr lang="en-US"/>
          </a:p>
        </p:txBody>
      </p:sp>
    </p:spTree>
    <p:extLst>
      <p:ext uri="{BB962C8B-B14F-4D97-AF65-F5344CB8AC3E}">
        <p14:creationId xmlns:p14="http://schemas.microsoft.com/office/powerpoint/2010/main" val="1685234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8E6D735-6085-4E1D-B5C3-17E8DC43574E}" type="slidenum">
              <a:rPr lang="en-IN" smtClean="0"/>
              <a:t>30</a:t>
            </a:fld>
            <a:endParaRPr lang="en-IN"/>
          </a:p>
        </p:txBody>
      </p:sp>
    </p:spTree>
    <p:extLst>
      <p:ext uri="{BB962C8B-B14F-4D97-AF65-F5344CB8AC3E}">
        <p14:creationId xmlns:p14="http://schemas.microsoft.com/office/powerpoint/2010/main" val="3121559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09411C2-1901-445B-A331-20581A1D0745}"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3945778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9411C2-1901-445B-A331-20581A1D0745}"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3057605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9411C2-1901-445B-A331-20581A1D0745}"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2036593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09411C2-1901-445B-A331-20581A1D0745}"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40752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09411C2-1901-445B-A331-20581A1D0745}" type="datetimeFigureOut">
              <a:rPr lang="en-IN" smtClean="0"/>
              <a:t>14-03-2024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66957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9411C2-1901-445B-A331-20581A1D0745}" type="datetimeFigureOut">
              <a:rPr lang="en-IN" smtClean="0"/>
              <a:t>14-03-2024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1405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9411C2-1901-445B-A331-20581A1D0745}" type="datetimeFigureOut">
              <a:rPr lang="en-IN" smtClean="0"/>
              <a:t>14-03-2024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368002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9411C2-1901-445B-A331-20581A1D0745}"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3531502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9411C2-1901-445B-A331-20581A1D0745}"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284179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9411C2-1901-445B-A331-20581A1D0745}"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1156625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9411C2-1901-445B-A331-20581A1D0745}"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1D1D5-A24C-4C69-A502-77CB94C6CB87}" type="slidenum">
              <a:rPr lang="en-IN" smtClean="0"/>
              <a:t>‹#›</a:t>
            </a:fld>
            <a:endParaRPr lang="en-IN"/>
          </a:p>
        </p:txBody>
      </p:sp>
    </p:spTree>
    <p:extLst>
      <p:ext uri="{BB962C8B-B14F-4D97-AF65-F5344CB8AC3E}">
        <p14:creationId xmlns:p14="http://schemas.microsoft.com/office/powerpoint/2010/main" val="17393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411C2-1901-445B-A331-20581A1D0745}" type="datetimeFigureOut">
              <a:rPr lang="en-IN" smtClean="0"/>
              <a:t>14-03-2024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81D1D5-A24C-4C69-A502-77CB94C6CB87}" type="slidenum">
              <a:rPr lang="en-IN" smtClean="0"/>
              <a:t>‹#›</a:t>
            </a:fld>
            <a:endParaRPr lang="en-IN"/>
          </a:p>
        </p:txBody>
      </p:sp>
    </p:spTree>
    <p:extLst>
      <p:ext uri="{BB962C8B-B14F-4D97-AF65-F5344CB8AC3E}">
        <p14:creationId xmlns:p14="http://schemas.microsoft.com/office/powerpoint/2010/main" val="454956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6.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7.xml"/><Relationship Id="rId5" Type="http://schemas.openxmlformats.org/officeDocument/2006/relationships/image" Target="../media/image28.jpg"/><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jpg"/><Relationship Id="rId7" Type="http://schemas.openxmlformats.org/officeDocument/2006/relationships/image" Target="../media/image39.jpg"/><Relationship Id="rId2" Type="http://schemas.openxmlformats.org/officeDocument/2006/relationships/image" Target="../media/image34.jpg"/><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33.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g"/><Relationship Id="rId7" Type="http://schemas.openxmlformats.org/officeDocument/2006/relationships/image" Target="../media/image51.jp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2">
            <a:extLst>
              <a:ext uri="{FF2B5EF4-FFF2-40B4-BE49-F238E27FC236}">
                <a16:creationId xmlns:a16="http://schemas.microsoft.com/office/drawing/2014/main" xmlns="" id="{B5129EAF-929E-46C4-8933-34BE9C315130}"/>
              </a:ext>
            </a:extLst>
          </p:cNvPr>
          <p:cNvSpPr>
            <a:spLocks noGrp="1"/>
          </p:cNvSpPr>
          <p:nvPr>
            <p:ph type="sldNum" sz="quarter" idx="10"/>
          </p:nvPr>
        </p:nvSpPr>
        <p:spPr>
          <a:xfrm>
            <a:off x="11152221" y="6608507"/>
            <a:ext cx="829056" cy="228600"/>
          </a:xfrm>
        </p:spPr>
        <p:txBody>
          <a:bodyPr/>
          <a:lstStyle/>
          <a:p>
            <a:pPr>
              <a:defRPr/>
            </a:pPr>
            <a:fld id="{E855780E-3866-46CD-9270-CC3A93C6A43B}" type="slidenum">
              <a:rPr lang="en-US">
                <a:solidFill>
                  <a:srgbClr val="262626"/>
                </a:solidFill>
                <a:latin typeface="Arial"/>
              </a:rPr>
              <a:pPr>
                <a:defRPr/>
              </a:pPr>
              <a:t>1</a:t>
            </a:fld>
            <a:endParaRPr lang="en-US" dirty="0">
              <a:solidFill>
                <a:srgbClr val="262626"/>
              </a:solidFill>
              <a:latin typeface="Arial"/>
            </a:endParaRPr>
          </a:p>
        </p:txBody>
      </p:sp>
      <p:sp>
        <p:nvSpPr>
          <p:cNvPr id="10" name="Title 3">
            <a:extLst>
              <a:ext uri="{FF2B5EF4-FFF2-40B4-BE49-F238E27FC236}">
                <a16:creationId xmlns:a16="http://schemas.microsoft.com/office/drawing/2014/main" xmlns="" id="{1A6559AF-1956-4E05-98E6-228FD17CA440}"/>
              </a:ext>
            </a:extLst>
          </p:cNvPr>
          <p:cNvSpPr txBox="1">
            <a:spLocks/>
          </p:cNvSpPr>
          <p:nvPr/>
        </p:nvSpPr>
        <p:spPr>
          <a:xfrm>
            <a:off x="72615" y="1067019"/>
            <a:ext cx="7821523" cy="69488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smtClean="0"/>
              <a:t>         ATVC Design Review Briefing (DRB)</a:t>
            </a:r>
            <a:endParaRPr lang="en-US" sz="2800" b="1" dirty="0"/>
          </a:p>
        </p:txBody>
      </p:sp>
      <p:sp>
        <p:nvSpPr>
          <p:cNvPr id="11" name="Text Placeholder 12">
            <a:extLst>
              <a:ext uri="{FF2B5EF4-FFF2-40B4-BE49-F238E27FC236}">
                <a16:creationId xmlns:a16="http://schemas.microsoft.com/office/drawing/2014/main" xmlns="" id="{5B0C25C7-3CA2-4FFB-A130-03C2AA39175C}"/>
              </a:ext>
            </a:extLst>
          </p:cNvPr>
          <p:cNvSpPr txBox="1">
            <a:spLocks/>
          </p:cNvSpPr>
          <p:nvPr/>
        </p:nvSpPr>
        <p:spPr>
          <a:xfrm>
            <a:off x="3131840" y="3626227"/>
            <a:ext cx="11781367" cy="32067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b="1" u="sng" dirty="0" smtClean="0"/>
              <a:t> Car Number</a:t>
            </a:r>
            <a:endParaRPr lang="en-US" b="1" u="sng" dirty="0"/>
          </a:p>
        </p:txBody>
      </p:sp>
      <p:sp>
        <p:nvSpPr>
          <p:cNvPr id="12" name="Content Placeholder 4">
            <a:extLst>
              <a:ext uri="{FF2B5EF4-FFF2-40B4-BE49-F238E27FC236}">
                <a16:creationId xmlns:a16="http://schemas.microsoft.com/office/drawing/2014/main" xmlns="" id="{12DFE692-D322-4490-8287-7AA96615A368}"/>
              </a:ext>
            </a:extLst>
          </p:cNvPr>
          <p:cNvSpPr txBox="1">
            <a:spLocks/>
          </p:cNvSpPr>
          <p:nvPr/>
        </p:nvSpPr>
        <p:spPr>
          <a:xfrm>
            <a:off x="-1260648" y="2702466"/>
            <a:ext cx="11781365" cy="1058845"/>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4000" dirty="0" smtClean="0"/>
              <a:t>VASAVI COLLEGE OF ENGINEERING</a:t>
            </a:r>
            <a:endParaRPr lang="en-US" sz="4000" dirty="0"/>
          </a:p>
        </p:txBody>
      </p:sp>
      <p:sp>
        <p:nvSpPr>
          <p:cNvPr id="13" name="Content Placeholder 5">
            <a:extLst>
              <a:ext uri="{FF2B5EF4-FFF2-40B4-BE49-F238E27FC236}">
                <a16:creationId xmlns:a16="http://schemas.microsoft.com/office/drawing/2014/main" xmlns="" id="{8EFC8478-E924-4BC6-B750-B2BE5F9D67CF}"/>
              </a:ext>
            </a:extLst>
          </p:cNvPr>
          <p:cNvSpPr txBox="1">
            <a:spLocks/>
          </p:cNvSpPr>
          <p:nvPr/>
        </p:nvSpPr>
        <p:spPr>
          <a:xfrm>
            <a:off x="-1634756" y="4456969"/>
            <a:ext cx="11781365" cy="863591"/>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4000" b="1" dirty="0" smtClean="0"/>
              <a:t>ATV 80</a:t>
            </a:r>
            <a:endParaRPr lang="en-US" sz="4000" b="1" dirty="0"/>
          </a:p>
        </p:txBody>
      </p:sp>
      <p:sp>
        <p:nvSpPr>
          <p:cNvPr id="14" name="Content Placeholder 8">
            <a:extLst>
              <a:ext uri="{FF2B5EF4-FFF2-40B4-BE49-F238E27FC236}">
                <a16:creationId xmlns:a16="http://schemas.microsoft.com/office/drawing/2014/main" xmlns="" id="{6BEA496B-834E-4FCD-9B98-424C891E07C8}"/>
              </a:ext>
            </a:extLst>
          </p:cNvPr>
          <p:cNvSpPr txBox="1">
            <a:spLocks/>
          </p:cNvSpPr>
          <p:nvPr/>
        </p:nvSpPr>
        <p:spPr>
          <a:xfrm>
            <a:off x="-1620688" y="1844824"/>
            <a:ext cx="11781367" cy="320675"/>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b="1" u="sng" dirty="0" smtClean="0"/>
              <a:t>College Name</a:t>
            </a:r>
            <a:endParaRPr lang="en-US" b="1" u="sng" dirty="0"/>
          </a:p>
        </p:txBody>
      </p:sp>
      <p:pic>
        <p:nvPicPr>
          <p:cNvPr id="15" name="Picture 14">
            <a:extLst>
              <a:ext uri="{FF2B5EF4-FFF2-40B4-BE49-F238E27FC236}">
                <a16:creationId xmlns:a16="http://schemas.microsoft.com/office/drawing/2014/main" xmlns="" id="{14241394-F24F-7A42-9C7E-8CCF2DC5F7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520" y="0"/>
            <a:ext cx="2748823" cy="1093788"/>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5313" y="85893"/>
            <a:ext cx="2658687" cy="922002"/>
          </a:xfrm>
          <a:prstGeom prst="rect">
            <a:avLst/>
          </a:prstGeom>
        </p:spPr>
      </p:pic>
    </p:spTree>
    <p:extLst>
      <p:ext uri="{BB962C8B-B14F-4D97-AF65-F5344CB8AC3E}">
        <p14:creationId xmlns:p14="http://schemas.microsoft.com/office/powerpoint/2010/main" val="2436408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Vehicle Summary</a:t>
            </a:r>
            <a:endParaRPr lang="en-IN" dirty="0"/>
          </a:p>
        </p:txBody>
      </p:sp>
      <p:sp>
        <p:nvSpPr>
          <p:cNvPr id="3" name="Content Placeholder 2"/>
          <p:cNvSpPr>
            <a:spLocks noGrp="1"/>
          </p:cNvSpPr>
          <p:nvPr>
            <p:ph idx="1"/>
          </p:nvPr>
        </p:nvSpPr>
        <p:spPr/>
        <p:txBody>
          <a:bodyPr>
            <a:normAutofit fontScale="62500" lnSpcReduction="20000"/>
          </a:bodyPr>
          <a:lstStyle/>
          <a:p>
            <a:r>
              <a:rPr lang="en-US" dirty="0"/>
              <a:t>The vehicle is meticulously designed for benchmark performance, ensuring no compromises in any sub-systems.</a:t>
            </a:r>
          </a:p>
          <a:p>
            <a:r>
              <a:rPr lang="en-US" dirty="0"/>
              <a:t>Extensive research informs the selection of components, with each part designed for specific aspects and thoroughly analyzed.</a:t>
            </a:r>
          </a:p>
          <a:p>
            <a:r>
              <a:rPr lang="en-US" dirty="0"/>
              <a:t>AISI4130 material is utilized for the frame, optimizing the strength-to-weight ratio for superior performance.</a:t>
            </a:r>
          </a:p>
          <a:p>
            <a:r>
              <a:rPr lang="en-US" dirty="0"/>
              <a:t>Independent suspension features a double wishbone in the front </a:t>
            </a:r>
            <a:r>
              <a:rPr lang="en-US" dirty="0" smtClean="0"/>
              <a:t>and H arms with Camber links in </a:t>
            </a:r>
            <a:r>
              <a:rPr lang="en-US" dirty="0"/>
              <a:t>the rear, providing excellent travel for the suspension system.</a:t>
            </a:r>
          </a:p>
          <a:p>
            <a:r>
              <a:rPr lang="en-US" dirty="0"/>
              <a:t>A CVT with a single reduction gearbox is coupled to the engine, delivering optimal transmission output for enhanced acceleration.</a:t>
            </a:r>
          </a:p>
          <a:p>
            <a:r>
              <a:rPr lang="en-US" dirty="0"/>
              <a:t>The vehicle boasts an effective braking system, ensuring control on both paved and unpaved surfaces.</a:t>
            </a:r>
          </a:p>
          <a:p>
            <a:r>
              <a:rPr lang="en-US" dirty="0"/>
              <a:t>Great ergonomics contribute to a comfortable driving posture, elevating the overall driving experience and performance of the vehicle</a:t>
            </a:r>
            <a:r>
              <a:rPr lang="en-US" dirty="0" smtClean="0"/>
              <a:t>.</a:t>
            </a:r>
            <a:endParaRPr lang="en-US" dirty="0"/>
          </a:p>
        </p:txBody>
      </p:sp>
    </p:spTree>
    <p:extLst>
      <p:ext uri="{BB962C8B-B14F-4D97-AF65-F5344CB8AC3E}">
        <p14:creationId xmlns:p14="http://schemas.microsoft.com/office/powerpoint/2010/main" val="3167217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576" y="188640"/>
            <a:ext cx="10235480" cy="1143000"/>
          </a:xfrm>
        </p:spPr>
        <p:txBody>
          <a:bodyPr>
            <a:normAutofit/>
          </a:bodyPr>
          <a:lstStyle/>
          <a:p>
            <a:r>
              <a:rPr lang="en-IN" sz="3600" b="1" dirty="0"/>
              <a:t>Vehicle Specifications &amp; Vehicle Comparison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8423122"/>
              </p:ext>
            </p:extLst>
          </p:nvPr>
        </p:nvGraphicFramePr>
        <p:xfrm>
          <a:off x="107504" y="1196752"/>
          <a:ext cx="4392489" cy="5543190"/>
        </p:xfrm>
        <a:graphic>
          <a:graphicData uri="http://schemas.openxmlformats.org/drawingml/2006/table">
            <a:tbl>
              <a:tblPr firstRow="1" bandRow="1">
                <a:tableStyleId>{5C22544A-7EE6-4342-B048-85BDC9FD1C3A}</a:tableStyleId>
              </a:tblPr>
              <a:tblGrid>
                <a:gridCol w="1464163"/>
                <a:gridCol w="1464163"/>
                <a:gridCol w="1464163"/>
              </a:tblGrid>
              <a:tr h="556365">
                <a:tc>
                  <a:txBody>
                    <a:bodyPr/>
                    <a:lstStyle/>
                    <a:p>
                      <a:r>
                        <a:rPr lang="en-US" dirty="0" smtClean="0"/>
                        <a:t>Parameters</a:t>
                      </a:r>
                      <a:endParaRPr lang="en-IN" dirty="0"/>
                    </a:p>
                  </a:txBody>
                  <a:tcPr/>
                </a:tc>
                <a:tc>
                  <a:txBody>
                    <a:bodyPr/>
                    <a:lstStyle/>
                    <a:p>
                      <a:r>
                        <a:rPr lang="en-US" dirty="0" smtClean="0"/>
                        <a:t>OLD</a:t>
                      </a:r>
                      <a:endParaRPr lang="en-IN" dirty="0"/>
                    </a:p>
                  </a:txBody>
                  <a:tcPr/>
                </a:tc>
                <a:tc>
                  <a:txBody>
                    <a:bodyPr/>
                    <a:lstStyle/>
                    <a:p>
                      <a:r>
                        <a:rPr lang="en-US" dirty="0" smtClean="0"/>
                        <a:t>NEW</a:t>
                      </a:r>
                      <a:endParaRPr lang="en-IN" dirty="0"/>
                    </a:p>
                  </a:txBody>
                  <a:tcPr/>
                </a:tc>
              </a:tr>
              <a:tr h="490619">
                <a:tc>
                  <a:txBody>
                    <a:bodyPr/>
                    <a:lstStyle/>
                    <a:p>
                      <a:pPr algn="ctr" fontAlgn="b"/>
                      <a:r>
                        <a:rPr lang="en-IN" sz="1400" b="0" i="0" u="none" strike="noStrike" dirty="0">
                          <a:solidFill>
                            <a:srgbClr val="000000"/>
                          </a:solidFill>
                          <a:effectLst/>
                          <a:latin typeface="Calibri"/>
                        </a:rPr>
                        <a:t>wheelbase</a:t>
                      </a:r>
                    </a:p>
                  </a:txBody>
                  <a:tcPr marL="9525" marR="9525" marT="9525" marB="0" anchor="b"/>
                </a:tc>
                <a:tc>
                  <a:txBody>
                    <a:bodyPr/>
                    <a:lstStyle/>
                    <a:p>
                      <a:pPr algn="ctr" fontAlgn="b"/>
                      <a:r>
                        <a:rPr lang="en-IN" sz="1400" b="0" i="0" u="none" strike="noStrike" dirty="0" smtClean="0">
                          <a:solidFill>
                            <a:srgbClr val="000000"/>
                          </a:solidFill>
                          <a:effectLst/>
                          <a:latin typeface="Calibri"/>
                        </a:rPr>
                        <a:t>1320mm</a:t>
                      </a:r>
                      <a:endParaRPr lang="en-IN" sz="1400" b="0" i="0" u="none" strike="noStrike" dirty="0">
                        <a:solidFill>
                          <a:srgbClr val="000000"/>
                        </a:solidFill>
                        <a:effectLst/>
                        <a:latin typeface="Calibri"/>
                      </a:endParaRPr>
                    </a:p>
                  </a:txBody>
                  <a:tcPr marL="9525" marR="9525" marT="9525" marB="0" anchor="b"/>
                </a:tc>
                <a:tc>
                  <a:txBody>
                    <a:bodyPr/>
                    <a:lstStyle/>
                    <a:p>
                      <a:r>
                        <a:rPr lang="en-US" sz="1400" dirty="0" smtClean="0"/>
                        <a:t>1320.8mm</a:t>
                      </a:r>
                      <a:endParaRPr lang="en-IN" sz="1400" dirty="0"/>
                    </a:p>
                  </a:txBody>
                  <a:tcPr/>
                </a:tc>
              </a:tr>
              <a:tr h="490619">
                <a:tc>
                  <a:txBody>
                    <a:bodyPr/>
                    <a:lstStyle/>
                    <a:p>
                      <a:pPr algn="ctr" fontAlgn="b"/>
                      <a:r>
                        <a:rPr lang="en-IN" sz="1400" b="0" i="0" u="none" strike="noStrike" dirty="0">
                          <a:solidFill>
                            <a:srgbClr val="000000"/>
                          </a:solidFill>
                          <a:effectLst/>
                          <a:latin typeface="Calibri"/>
                        </a:rPr>
                        <a:t>Frame</a:t>
                      </a:r>
                    </a:p>
                  </a:txBody>
                  <a:tcPr marL="9525" marR="9525" marT="9525" marB="0" anchor="b"/>
                </a:tc>
                <a:tc>
                  <a:txBody>
                    <a:bodyPr/>
                    <a:lstStyle/>
                    <a:p>
                      <a:pPr algn="ctr" fontAlgn="b"/>
                      <a:r>
                        <a:rPr lang="en-IN" sz="1400" b="0" i="0" u="none" strike="noStrike">
                          <a:solidFill>
                            <a:srgbClr val="000000"/>
                          </a:solidFill>
                          <a:effectLst/>
                          <a:latin typeface="Calibri"/>
                        </a:rPr>
                        <a:t>23.8Kg</a:t>
                      </a:r>
                    </a:p>
                  </a:txBody>
                  <a:tcPr marL="9525" marR="9525" marT="9525" marB="0" anchor="b"/>
                </a:tc>
                <a:tc>
                  <a:txBody>
                    <a:bodyPr/>
                    <a:lstStyle/>
                    <a:p>
                      <a:r>
                        <a:rPr lang="en-US" sz="1400" dirty="0" smtClean="0"/>
                        <a:t>25.6kgs</a:t>
                      </a:r>
                      <a:endParaRPr lang="en-IN" sz="1400" dirty="0"/>
                    </a:p>
                  </a:txBody>
                  <a:tcPr/>
                </a:tc>
              </a:tr>
              <a:tr h="490619">
                <a:tc>
                  <a:txBody>
                    <a:bodyPr/>
                    <a:lstStyle/>
                    <a:p>
                      <a:pPr algn="ctr" fontAlgn="b"/>
                      <a:r>
                        <a:rPr lang="en-IN" sz="1400" b="0" i="0" u="none" strike="noStrike" dirty="0">
                          <a:solidFill>
                            <a:srgbClr val="000000"/>
                          </a:solidFill>
                          <a:effectLst/>
                          <a:latin typeface="Calibri"/>
                        </a:rPr>
                        <a:t>Max Velocity</a:t>
                      </a:r>
                    </a:p>
                  </a:txBody>
                  <a:tcPr marL="9525" marR="9525" marT="9525" marB="0" anchor="b"/>
                </a:tc>
                <a:tc>
                  <a:txBody>
                    <a:bodyPr/>
                    <a:lstStyle/>
                    <a:p>
                      <a:pPr algn="ctr" fontAlgn="b"/>
                      <a:r>
                        <a:rPr lang="en-IN" sz="1400" b="0" i="0" u="none" strike="noStrike" dirty="0">
                          <a:solidFill>
                            <a:srgbClr val="000000"/>
                          </a:solidFill>
                          <a:effectLst/>
                          <a:latin typeface="Calibri"/>
                        </a:rPr>
                        <a:t>57.23Kmph</a:t>
                      </a:r>
                    </a:p>
                  </a:txBody>
                  <a:tcPr marL="9525" marR="9525" marT="9525" marB="0" anchor="b"/>
                </a:tc>
                <a:tc>
                  <a:txBody>
                    <a:bodyPr/>
                    <a:lstStyle/>
                    <a:p>
                      <a:r>
                        <a:rPr lang="en-US" sz="1400" dirty="0" smtClean="0"/>
                        <a:t>57.22m/s</a:t>
                      </a:r>
                      <a:endParaRPr lang="en-IN" sz="1400" dirty="0"/>
                    </a:p>
                  </a:txBody>
                  <a:tcPr/>
                </a:tc>
              </a:tr>
              <a:tr h="846917">
                <a:tc>
                  <a:txBody>
                    <a:bodyPr/>
                    <a:lstStyle/>
                    <a:p>
                      <a:pPr algn="ctr" fontAlgn="b"/>
                      <a:r>
                        <a:rPr lang="en-IN" sz="1400" b="0" i="0" u="none" strike="noStrike" dirty="0">
                          <a:solidFill>
                            <a:srgbClr val="000000"/>
                          </a:solidFill>
                          <a:effectLst/>
                          <a:latin typeface="Calibri"/>
                        </a:rPr>
                        <a:t>Suspension</a:t>
                      </a:r>
                    </a:p>
                  </a:txBody>
                  <a:tcPr marL="9525" marR="9525" marT="9525" marB="0" anchor="b"/>
                </a:tc>
                <a:tc>
                  <a:txBody>
                    <a:bodyPr/>
                    <a:lstStyle/>
                    <a:p>
                      <a:pPr algn="ctr" fontAlgn="b"/>
                      <a:r>
                        <a:rPr lang="en-US" sz="1400" b="0" i="0" u="none" strike="noStrike" dirty="0">
                          <a:solidFill>
                            <a:srgbClr val="000000"/>
                          </a:solidFill>
                          <a:effectLst/>
                          <a:latin typeface="Calibri"/>
                        </a:rPr>
                        <a:t>Front: double </a:t>
                      </a:r>
                      <a:r>
                        <a:rPr lang="en-US" sz="1400" b="0" i="0" u="none" strike="noStrike" dirty="0" smtClean="0">
                          <a:solidFill>
                            <a:srgbClr val="000000"/>
                          </a:solidFill>
                          <a:effectLst/>
                          <a:latin typeface="Calibri"/>
                        </a:rPr>
                        <a:t>wishbone</a:t>
                      </a:r>
                    </a:p>
                    <a:p>
                      <a:pPr algn="ctr" fontAlgn="b"/>
                      <a:r>
                        <a:rPr lang="en-US" sz="1400" b="0" i="0" u="none" strike="noStrike" dirty="0" smtClean="0">
                          <a:solidFill>
                            <a:srgbClr val="000000"/>
                          </a:solidFill>
                          <a:effectLst/>
                          <a:latin typeface="Calibri"/>
                        </a:rPr>
                        <a:t> </a:t>
                      </a:r>
                      <a:r>
                        <a:rPr lang="en-US" sz="1400" b="0" i="0" u="none" strike="noStrike" dirty="0">
                          <a:solidFill>
                            <a:srgbClr val="000000"/>
                          </a:solidFill>
                          <a:effectLst/>
                          <a:latin typeface="Calibri"/>
                        </a:rPr>
                        <a:t>Rear: </a:t>
                      </a:r>
                      <a:r>
                        <a:rPr lang="en-US" sz="1400" b="0" i="0" u="none" strike="noStrike" dirty="0" smtClean="0">
                          <a:solidFill>
                            <a:srgbClr val="000000"/>
                          </a:solidFill>
                          <a:effectLst/>
                          <a:latin typeface="Calibri"/>
                        </a:rPr>
                        <a:t>semi</a:t>
                      </a:r>
                      <a:r>
                        <a:rPr lang="en-US" sz="1400" b="0" i="0" u="none" strike="noStrike" baseline="0" dirty="0" smtClean="0">
                          <a:solidFill>
                            <a:srgbClr val="000000"/>
                          </a:solidFill>
                          <a:effectLst/>
                          <a:latin typeface="Calibri"/>
                        </a:rPr>
                        <a:t> trailing </a:t>
                      </a:r>
                      <a:r>
                        <a:rPr lang="en-US" sz="1400" b="0" i="0" u="none" strike="noStrike" dirty="0" smtClean="0">
                          <a:solidFill>
                            <a:srgbClr val="000000"/>
                          </a:solidFill>
                          <a:effectLst/>
                          <a:latin typeface="Calibri"/>
                        </a:rPr>
                        <a:t>with </a:t>
                      </a:r>
                      <a:r>
                        <a:rPr lang="en-US" sz="1400" b="0" i="0" u="none" strike="noStrike" dirty="0">
                          <a:solidFill>
                            <a:srgbClr val="000000"/>
                          </a:solidFill>
                          <a:effectLst/>
                          <a:latin typeface="Calibri"/>
                        </a:rPr>
                        <a:t>upper link.</a:t>
                      </a:r>
                    </a:p>
                  </a:txBody>
                  <a:tcPr marL="9525" marR="9525" marT="9525" marB="0" anchor="b"/>
                </a:tc>
                <a:tc>
                  <a:txBody>
                    <a:bodyPr/>
                    <a:lstStyle/>
                    <a:p>
                      <a:r>
                        <a:rPr lang="en-US" sz="1400" b="0" i="0" u="none" strike="noStrike" dirty="0" smtClean="0">
                          <a:solidFill>
                            <a:srgbClr val="000000"/>
                          </a:solidFill>
                          <a:effectLst/>
                          <a:latin typeface="+mn-lt"/>
                        </a:rPr>
                        <a:t>Front: double wishbone </a:t>
                      </a:r>
                    </a:p>
                    <a:p>
                      <a:r>
                        <a:rPr lang="en-US" sz="1400" b="0" i="0" u="none" strike="noStrike" dirty="0" smtClean="0">
                          <a:solidFill>
                            <a:srgbClr val="000000"/>
                          </a:solidFill>
                          <a:effectLst/>
                          <a:latin typeface="+mn-lt"/>
                        </a:rPr>
                        <a:t>Rear:</a:t>
                      </a:r>
                      <a:r>
                        <a:rPr lang="en-US" sz="1400" b="0" i="0" u="none" strike="noStrike" baseline="0" dirty="0" smtClean="0">
                          <a:solidFill>
                            <a:srgbClr val="000000"/>
                          </a:solidFill>
                          <a:effectLst/>
                          <a:latin typeface="+mn-lt"/>
                        </a:rPr>
                        <a:t> H arms </a:t>
                      </a:r>
                      <a:r>
                        <a:rPr lang="en-US" sz="1400" b="0" i="0" u="none" strike="noStrike" dirty="0" smtClean="0">
                          <a:solidFill>
                            <a:srgbClr val="000000"/>
                          </a:solidFill>
                          <a:effectLst/>
                          <a:latin typeface="+mn-lt"/>
                        </a:rPr>
                        <a:t>with upper link</a:t>
                      </a:r>
                      <a:endParaRPr lang="en-IN" sz="1400" dirty="0"/>
                    </a:p>
                  </a:txBody>
                  <a:tcPr/>
                </a:tc>
              </a:tr>
              <a:tr h="490619">
                <a:tc>
                  <a:txBody>
                    <a:bodyPr/>
                    <a:lstStyle/>
                    <a:p>
                      <a:pPr algn="ctr" fontAlgn="b"/>
                      <a:r>
                        <a:rPr lang="en-IN" sz="1400" b="0" i="0" u="none" strike="noStrike" dirty="0">
                          <a:solidFill>
                            <a:srgbClr val="000000"/>
                          </a:solidFill>
                          <a:effectLst/>
                          <a:latin typeface="Calibri"/>
                        </a:rPr>
                        <a:t>Steering Drive</a:t>
                      </a:r>
                    </a:p>
                  </a:txBody>
                  <a:tcPr marL="9525" marR="9525" marT="9525" marB="0" anchor="b"/>
                </a:tc>
                <a:tc>
                  <a:txBody>
                    <a:bodyPr/>
                    <a:lstStyle/>
                    <a:p>
                      <a:pPr algn="ctr" fontAlgn="b"/>
                      <a:r>
                        <a:rPr lang="en-IN" sz="1400" b="0" i="0" u="none" strike="noStrike" dirty="0">
                          <a:solidFill>
                            <a:srgbClr val="000000"/>
                          </a:solidFill>
                          <a:effectLst/>
                          <a:latin typeface="Calibri"/>
                        </a:rPr>
                        <a:t>Centre</a:t>
                      </a:r>
                    </a:p>
                  </a:txBody>
                  <a:tcPr marL="9525" marR="9525" marT="9525" marB="0" anchor="b"/>
                </a:tc>
                <a:tc>
                  <a:txBody>
                    <a:bodyPr/>
                    <a:lstStyle/>
                    <a:p>
                      <a:r>
                        <a:rPr lang="en-US" sz="1400" dirty="0" smtClean="0"/>
                        <a:t>Centre</a:t>
                      </a:r>
                      <a:endParaRPr lang="en-IN" sz="1400" dirty="0"/>
                    </a:p>
                  </a:txBody>
                  <a:tcPr/>
                </a:tc>
              </a:tr>
              <a:tr h="490619">
                <a:tc>
                  <a:txBody>
                    <a:bodyPr/>
                    <a:lstStyle/>
                    <a:p>
                      <a:pPr algn="ctr" fontAlgn="b"/>
                      <a:r>
                        <a:rPr lang="en-IN" sz="1400" b="0" i="0" u="none" strike="noStrike" dirty="0">
                          <a:solidFill>
                            <a:srgbClr val="000000"/>
                          </a:solidFill>
                          <a:effectLst/>
                          <a:latin typeface="Calibri"/>
                        </a:rPr>
                        <a:t>Kerb Weight</a:t>
                      </a:r>
                    </a:p>
                  </a:txBody>
                  <a:tcPr marL="9525" marR="9525" marT="9525" marB="0" anchor="b"/>
                </a:tc>
                <a:tc>
                  <a:txBody>
                    <a:bodyPr/>
                    <a:lstStyle/>
                    <a:p>
                      <a:pPr algn="ctr" fontAlgn="b"/>
                      <a:r>
                        <a:rPr lang="en-IN" sz="1400" b="0" i="0" u="none" strike="noStrike" dirty="0">
                          <a:solidFill>
                            <a:srgbClr val="000000"/>
                          </a:solidFill>
                          <a:effectLst/>
                          <a:latin typeface="Calibri"/>
                        </a:rPr>
                        <a:t>150 kg</a:t>
                      </a:r>
                    </a:p>
                  </a:txBody>
                  <a:tcPr marL="9525" marR="9525" marT="9525" marB="0" anchor="b"/>
                </a:tc>
                <a:tc>
                  <a:txBody>
                    <a:bodyPr/>
                    <a:lstStyle/>
                    <a:p>
                      <a:r>
                        <a:rPr lang="en-US" sz="1400" dirty="0" smtClean="0"/>
                        <a:t>142.2kgs</a:t>
                      </a:r>
                      <a:endParaRPr lang="en-IN" sz="1400" dirty="0"/>
                    </a:p>
                  </a:txBody>
                  <a:tcPr/>
                </a:tc>
              </a:tr>
              <a:tr h="490619">
                <a:tc>
                  <a:txBody>
                    <a:bodyPr/>
                    <a:lstStyle/>
                    <a:p>
                      <a:pPr algn="ctr" fontAlgn="b"/>
                      <a:r>
                        <a:rPr lang="en-IN" sz="1400" b="0" i="0" u="none" strike="noStrike" dirty="0" err="1">
                          <a:solidFill>
                            <a:srgbClr val="000000"/>
                          </a:solidFill>
                          <a:effectLst/>
                          <a:latin typeface="Calibri"/>
                        </a:rPr>
                        <a:t>Gradeability</a:t>
                      </a:r>
                      <a:endParaRPr lang="en-IN" sz="1400" b="0" i="0" u="none" strike="noStrike" dirty="0">
                        <a:solidFill>
                          <a:srgbClr val="000000"/>
                        </a:solidFill>
                        <a:effectLst/>
                        <a:latin typeface="Calibri"/>
                      </a:endParaRPr>
                    </a:p>
                  </a:txBody>
                  <a:tcPr marL="9525" marR="9525" marT="9525" marB="0" anchor="b"/>
                </a:tc>
                <a:tc>
                  <a:txBody>
                    <a:bodyPr/>
                    <a:lstStyle/>
                    <a:p>
                      <a:pPr algn="ctr" fontAlgn="b"/>
                      <a:r>
                        <a:rPr lang="en-IN" sz="1400" b="0" i="0" u="none" strike="noStrike" dirty="0">
                          <a:solidFill>
                            <a:srgbClr val="000000"/>
                          </a:solidFill>
                          <a:effectLst/>
                          <a:latin typeface="Calibri"/>
                        </a:rPr>
                        <a:t>65%</a:t>
                      </a:r>
                    </a:p>
                  </a:txBody>
                  <a:tcPr marL="9525" marR="9525" marT="9525" marB="0" anchor="b"/>
                </a:tc>
                <a:tc>
                  <a:txBody>
                    <a:bodyPr/>
                    <a:lstStyle/>
                    <a:p>
                      <a:r>
                        <a:rPr lang="en-US" sz="1400" dirty="0" smtClean="0"/>
                        <a:t>65%</a:t>
                      </a:r>
                      <a:endParaRPr lang="en-IN" sz="1400" dirty="0"/>
                    </a:p>
                  </a:txBody>
                  <a:tcPr/>
                </a:tc>
              </a:tr>
              <a:tr h="490619">
                <a:tc>
                  <a:txBody>
                    <a:bodyPr/>
                    <a:lstStyle/>
                    <a:p>
                      <a:pPr algn="ctr" fontAlgn="b"/>
                      <a:r>
                        <a:rPr lang="en-IN" sz="1400" b="0" i="0" u="none" strike="noStrike" dirty="0">
                          <a:solidFill>
                            <a:srgbClr val="000000"/>
                          </a:solidFill>
                          <a:effectLst/>
                          <a:latin typeface="Calibri"/>
                        </a:rPr>
                        <a:t>Steering Ratio type</a:t>
                      </a:r>
                    </a:p>
                  </a:txBody>
                  <a:tcPr marL="9525" marR="9525" marT="9525" marB="0" anchor="b"/>
                </a:tc>
                <a:tc>
                  <a:txBody>
                    <a:bodyPr/>
                    <a:lstStyle/>
                    <a:p>
                      <a:pPr algn="ctr" fontAlgn="b"/>
                      <a:r>
                        <a:rPr lang="en-IN" sz="1400" b="0" i="0" u="none" strike="noStrike" dirty="0">
                          <a:solidFill>
                            <a:srgbClr val="000000"/>
                          </a:solidFill>
                          <a:effectLst/>
                          <a:latin typeface="Calibri"/>
                        </a:rPr>
                        <a:t>4.33:1</a:t>
                      </a:r>
                    </a:p>
                  </a:txBody>
                  <a:tcPr marL="9525" marR="9525" marT="9525" marB="0" anchor="b"/>
                </a:tc>
                <a:tc>
                  <a:txBody>
                    <a:bodyPr/>
                    <a:lstStyle/>
                    <a:p>
                      <a:r>
                        <a:rPr lang="en-US" sz="1400" dirty="0" smtClean="0"/>
                        <a:t>5.3:1</a:t>
                      </a:r>
                      <a:endParaRPr lang="en-IN" sz="1400" dirty="0"/>
                    </a:p>
                  </a:txBody>
                  <a:tcPr/>
                </a:tc>
              </a:tr>
              <a:tr h="607612">
                <a:tc>
                  <a:txBody>
                    <a:bodyPr/>
                    <a:lstStyle/>
                    <a:p>
                      <a:pPr algn="ctr" fontAlgn="b"/>
                      <a:r>
                        <a:rPr lang="en-IN" sz="1400" b="0" i="0" u="none" strike="noStrike" dirty="0">
                          <a:solidFill>
                            <a:srgbClr val="000000"/>
                          </a:solidFill>
                          <a:effectLst/>
                          <a:latin typeface="Calibri"/>
                        </a:rPr>
                        <a:t>Brake </a:t>
                      </a:r>
                      <a:r>
                        <a:rPr lang="en-IN" sz="1400" b="0" i="0" u="none" strike="noStrike" dirty="0" err="1">
                          <a:solidFill>
                            <a:srgbClr val="000000"/>
                          </a:solidFill>
                          <a:effectLst/>
                          <a:latin typeface="Calibri"/>
                        </a:rPr>
                        <a:t>Calipers</a:t>
                      </a:r>
                      <a:endParaRPr lang="en-IN" sz="1400" b="0" i="0" u="none" strike="noStrike" dirty="0">
                        <a:solidFill>
                          <a:srgbClr val="000000"/>
                        </a:solidFill>
                        <a:effectLst/>
                        <a:latin typeface="Calibri"/>
                      </a:endParaRPr>
                    </a:p>
                  </a:txBody>
                  <a:tcPr marL="9525" marR="9525" marT="9525" marB="0" anchor="b"/>
                </a:tc>
                <a:tc>
                  <a:txBody>
                    <a:bodyPr/>
                    <a:lstStyle/>
                    <a:p>
                      <a:pPr algn="ctr" fontAlgn="b"/>
                      <a:r>
                        <a:rPr lang="en-IN" sz="1400" b="0" i="0" u="none" strike="noStrike" dirty="0">
                          <a:solidFill>
                            <a:srgbClr val="000000"/>
                          </a:solidFill>
                          <a:effectLst/>
                          <a:latin typeface="Calibri"/>
                        </a:rPr>
                        <a:t>2 Floating&amp;1 fixed</a:t>
                      </a: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dirty="0" smtClean="0">
                          <a:solidFill>
                            <a:srgbClr val="000000"/>
                          </a:solidFill>
                          <a:effectLst/>
                          <a:latin typeface="+mn-lt"/>
                        </a:rPr>
                        <a:t>2 Floating&amp;1 fixed</a:t>
                      </a:r>
                    </a:p>
                  </a:txBody>
                  <a:tcPr/>
                </a:tc>
              </a:tr>
            </a:tbl>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3492877197"/>
              </p:ext>
            </p:extLst>
          </p:nvPr>
        </p:nvGraphicFramePr>
        <p:xfrm>
          <a:off x="4572000" y="1196752"/>
          <a:ext cx="4572000" cy="5518520"/>
        </p:xfrm>
        <a:graphic>
          <a:graphicData uri="http://schemas.openxmlformats.org/drawingml/2006/table">
            <a:tbl>
              <a:tblPr firstRow="1" bandRow="1">
                <a:tableStyleId>{5C22544A-7EE6-4342-B048-85BDC9FD1C3A}</a:tableStyleId>
              </a:tblPr>
              <a:tblGrid>
                <a:gridCol w="1524000"/>
                <a:gridCol w="1524000"/>
                <a:gridCol w="1524000"/>
              </a:tblGrid>
              <a:tr h="567917">
                <a:tc>
                  <a:txBody>
                    <a:bodyPr/>
                    <a:lstStyle/>
                    <a:p>
                      <a:r>
                        <a:rPr lang="en-US" dirty="0" smtClean="0"/>
                        <a:t>Parameters</a:t>
                      </a:r>
                      <a:endParaRPr lang="en-IN" dirty="0"/>
                    </a:p>
                  </a:txBody>
                  <a:tcPr/>
                </a:tc>
                <a:tc>
                  <a:txBody>
                    <a:bodyPr/>
                    <a:lstStyle/>
                    <a:p>
                      <a:r>
                        <a:rPr lang="en-US" dirty="0" smtClean="0"/>
                        <a:t>OLD</a:t>
                      </a:r>
                      <a:endParaRPr lang="en-IN" dirty="0"/>
                    </a:p>
                  </a:txBody>
                  <a:tcPr/>
                </a:tc>
                <a:tc>
                  <a:txBody>
                    <a:bodyPr/>
                    <a:lstStyle/>
                    <a:p>
                      <a:r>
                        <a:rPr lang="en-US" dirty="0" smtClean="0"/>
                        <a:t>NEW</a:t>
                      </a:r>
                      <a:endParaRPr lang="en-IN" dirty="0"/>
                    </a:p>
                  </a:txBody>
                  <a:tcPr/>
                </a:tc>
              </a:tr>
              <a:tr h="550067">
                <a:tc>
                  <a:txBody>
                    <a:bodyPr/>
                    <a:lstStyle/>
                    <a:p>
                      <a:pPr algn="ctr" fontAlgn="b"/>
                      <a:r>
                        <a:rPr lang="en-IN" sz="1400" b="0" i="0" u="none" strike="noStrike" dirty="0">
                          <a:solidFill>
                            <a:srgbClr val="000000"/>
                          </a:solidFill>
                          <a:effectLst/>
                          <a:latin typeface="Calibri"/>
                        </a:rPr>
                        <a:t>Max </a:t>
                      </a:r>
                      <a:r>
                        <a:rPr lang="en-IN" sz="1400" b="0" i="0" u="none" strike="noStrike" dirty="0" err="1">
                          <a:solidFill>
                            <a:srgbClr val="000000"/>
                          </a:solidFill>
                          <a:effectLst/>
                          <a:latin typeface="Calibri"/>
                        </a:rPr>
                        <a:t>Acc</a:t>
                      </a:r>
                      <a:endParaRPr lang="en-IN" sz="1400" b="0" i="0" u="none" strike="noStrike" dirty="0">
                        <a:solidFill>
                          <a:srgbClr val="000000"/>
                        </a:solidFill>
                        <a:effectLst/>
                        <a:latin typeface="Calibri"/>
                      </a:endParaRPr>
                    </a:p>
                  </a:txBody>
                  <a:tcPr marL="9525" marR="9525" marT="9525" marB="0" anchor="b"/>
                </a:tc>
                <a:tc>
                  <a:txBody>
                    <a:bodyPr/>
                    <a:lstStyle/>
                    <a:p>
                      <a:pPr algn="ctr" fontAlgn="b"/>
                      <a:r>
                        <a:rPr lang="en-IN" sz="1400" b="0" i="0" u="none" strike="noStrike">
                          <a:solidFill>
                            <a:srgbClr val="000000"/>
                          </a:solidFill>
                          <a:effectLst/>
                          <a:latin typeface="Calibri"/>
                        </a:rPr>
                        <a:t>6.61 m/sec2</a:t>
                      </a:r>
                    </a:p>
                  </a:txBody>
                  <a:tcPr marL="9525" marR="9525" marT="9525" marB="0" anchor="b"/>
                </a:tc>
                <a:tc>
                  <a:txBody>
                    <a:bodyPr/>
                    <a:lstStyle/>
                    <a:p>
                      <a:r>
                        <a:rPr lang="en-US" sz="1400" dirty="0" smtClean="0"/>
                        <a:t>5.74m/s^2</a:t>
                      </a:r>
                      <a:endParaRPr lang="en-IN" sz="1400" dirty="0"/>
                    </a:p>
                  </a:txBody>
                  <a:tcPr/>
                </a:tc>
              </a:tr>
              <a:tr h="550067">
                <a:tc>
                  <a:txBody>
                    <a:bodyPr/>
                    <a:lstStyle/>
                    <a:p>
                      <a:pPr algn="ctr" fontAlgn="b"/>
                      <a:r>
                        <a:rPr lang="en-IN" sz="1400" b="0" i="0" u="none" strike="noStrike" dirty="0">
                          <a:solidFill>
                            <a:srgbClr val="000000"/>
                          </a:solidFill>
                          <a:effectLst/>
                          <a:latin typeface="Calibri"/>
                        </a:rPr>
                        <a:t>Stopping Dist.</a:t>
                      </a:r>
                    </a:p>
                  </a:txBody>
                  <a:tcPr marL="9525" marR="9525" marT="9525" marB="0" anchor="b"/>
                </a:tc>
                <a:tc>
                  <a:txBody>
                    <a:bodyPr/>
                    <a:lstStyle/>
                    <a:p>
                      <a:pPr algn="ctr" fontAlgn="b"/>
                      <a:r>
                        <a:rPr lang="en-IN" sz="1400" b="0" i="0" u="none" strike="noStrike" dirty="0">
                          <a:solidFill>
                            <a:srgbClr val="000000"/>
                          </a:solidFill>
                          <a:effectLst/>
                          <a:latin typeface="Calibri"/>
                        </a:rPr>
                        <a:t>3.04m</a:t>
                      </a:r>
                    </a:p>
                  </a:txBody>
                  <a:tcPr marL="9525" marR="9525" marT="9525" marB="0" anchor="b"/>
                </a:tc>
                <a:tc>
                  <a:txBody>
                    <a:bodyPr/>
                    <a:lstStyle/>
                    <a:p>
                      <a:r>
                        <a:rPr lang="en-IN" sz="1400" b="0" i="0" u="none" strike="noStrike" dirty="0" smtClean="0">
                          <a:solidFill>
                            <a:srgbClr val="000000"/>
                          </a:solidFill>
                          <a:effectLst/>
                          <a:latin typeface="+mn-lt"/>
                        </a:rPr>
                        <a:t>3.04m</a:t>
                      </a:r>
                      <a:endParaRPr lang="en-IN" sz="1400" dirty="0"/>
                    </a:p>
                  </a:txBody>
                  <a:tcPr/>
                </a:tc>
              </a:tr>
              <a:tr h="550067">
                <a:tc>
                  <a:txBody>
                    <a:bodyPr/>
                    <a:lstStyle/>
                    <a:p>
                      <a:pPr algn="ctr" fontAlgn="b"/>
                      <a:r>
                        <a:rPr lang="en-IN" sz="1400" b="0" i="0" u="none" strike="noStrike" dirty="0">
                          <a:solidFill>
                            <a:srgbClr val="000000"/>
                          </a:solidFill>
                          <a:effectLst/>
                          <a:latin typeface="Calibri"/>
                        </a:rPr>
                        <a:t>Weight transfer</a:t>
                      </a:r>
                    </a:p>
                  </a:txBody>
                  <a:tcPr marL="9525" marR="9525" marT="9525" marB="0" anchor="b"/>
                </a:tc>
                <a:tc>
                  <a:txBody>
                    <a:bodyPr/>
                    <a:lstStyle/>
                    <a:p>
                      <a:pPr algn="ctr" fontAlgn="b"/>
                      <a:r>
                        <a:rPr lang="en-IN" sz="1400" b="0" i="0" u="none" strike="noStrike" dirty="0">
                          <a:solidFill>
                            <a:srgbClr val="000000"/>
                          </a:solidFill>
                          <a:effectLst/>
                          <a:latin typeface="Calibri"/>
                        </a:rPr>
                        <a:t>28.59%</a:t>
                      </a:r>
                    </a:p>
                  </a:txBody>
                  <a:tcPr marL="9525" marR="9525" marT="9525" marB="0" anchor="b"/>
                </a:tc>
                <a:tc>
                  <a:txBody>
                    <a:bodyPr/>
                    <a:lstStyle/>
                    <a:p>
                      <a:endParaRPr lang="en-IN" sz="1400" dirty="0"/>
                    </a:p>
                  </a:txBody>
                  <a:tcPr/>
                </a:tc>
              </a:tr>
              <a:tr h="550067">
                <a:tc>
                  <a:txBody>
                    <a:bodyPr/>
                    <a:lstStyle/>
                    <a:p>
                      <a:pPr algn="ctr" fontAlgn="b"/>
                      <a:r>
                        <a:rPr lang="en-IN" sz="1400" b="0" i="0" u="none" strike="noStrike" dirty="0">
                          <a:solidFill>
                            <a:srgbClr val="000000"/>
                          </a:solidFill>
                          <a:effectLst/>
                          <a:latin typeface="Calibri"/>
                        </a:rPr>
                        <a:t>Turing radius</a:t>
                      </a:r>
                    </a:p>
                  </a:txBody>
                  <a:tcPr marL="9525" marR="9525" marT="9525" marB="0" anchor="b"/>
                </a:tc>
                <a:tc>
                  <a:txBody>
                    <a:bodyPr/>
                    <a:lstStyle/>
                    <a:p>
                      <a:pPr algn="ctr" fontAlgn="b"/>
                      <a:r>
                        <a:rPr lang="en-IN" sz="1400" b="0" i="0" u="none" strike="noStrike" dirty="0">
                          <a:solidFill>
                            <a:srgbClr val="000000"/>
                          </a:solidFill>
                          <a:effectLst/>
                          <a:latin typeface="Calibri"/>
                        </a:rPr>
                        <a:t>1.4m</a:t>
                      </a:r>
                    </a:p>
                  </a:txBody>
                  <a:tcPr marL="9525" marR="9525" marT="9525" marB="0" anchor="b"/>
                </a:tc>
                <a:tc>
                  <a:txBody>
                    <a:bodyPr/>
                    <a:lstStyle/>
                    <a:p>
                      <a:r>
                        <a:rPr lang="en-US" sz="1400" dirty="0" smtClean="0"/>
                        <a:t>1.6m</a:t>
                      </a:r>
                      <a:endParaRPr lang="en-IN" sz="1400" dirty="0"/>
                    </a:p>
                  </a:txBody>
                  <a:tcPr/>
                </a:tc>
              </a:tr>
              <a:tr h="550067">
                <a:tc>
                  <a:txBody>
                    <a:bodyPr/>
                    <a:lstStyle/>
                    <a:p>
                      <a:pPr algn="ctr" fontAlgn="b"/>
                      <a:r>
                        <a:rPr lang="en-IN" sz="1400" b="0" i="0" u="none" strike="noStrike">
                          <a:solidFill>
                            <a:srgbClr val="000000"/>
                          </a:solidFill>
                          <a:effectLst/>
                          <a:latin typeface="Calibri"/>
                        </a:rPr>
                        <a:t>Drive</a:t>
                      </a:r>
                    </a:p>
                  </a:txBody>
                  <a:tcPr marL="9525" marR="9525" marT="9525" marB="0" anchor="b"/>
                </a:tc>
                <a:tc>
                  <a:txBody>
                    <a:bodyPr/>
                    <a:lstStyle/>
                    <a:p>
                      <a:pPr algn="ctr" fontAlgn="b"/>
                      <a:r>
                        <a:rPr lang="en-IN" sz="1400" b="0" i="0" u="none" strike="noStrike" dirty="0" smtClean="0">
                          <a:solidFill>
                            <a:srgbClr val="000000"/>
                          </a:solidFill>
                          <a:effectLst/>
                          <a:latin typeface="Calibri"/>
                        </a:rPr>
                        <a:t>2WD</a:t>
                      </a:r>
                      <a:endParaRPr lang="en-IN" sz="1400" b="0" i="0" u="none" strike="noStrike" dirty="0">
                        <a:solidFill>
                          <a:srgbClr val="000000"/>
                        </a:solidFill>
                        <a:effectLst/>
                        <a:latin typeface="Calibri"/>
                      </a:endParaRPr>
                    </a:p>
                  </a:txBody>
                  <a:tcPr marL="9525" marR="9525" marT="9525" marB="0" anchor="b"/>
                </a:tc>
                <a:tc>
                  <a:txBody>
                    <a:bodyPr/>
                    <a:lstStyle/>
                    <a:p>
                      <a:r>
                        <a:rPr lang="en-US" sz="1400" dirty="0" smtClean="0"/>
                        <a:t>4WD</a:t>
                      </a:r>
                      <a:endParaRPr lang="en-IN" sz="1400" dirty="0"/>
                    </a:p>
                  </a:txBody>
                  <a:tcPr/>
                </a:tc>
              </a:tr>
              <a:tr h="550067">
                <a:tc>
                  <a:txBody>
                    <a:bodyPr/>
                    <a:lstStyle/>
                    <a:p>
                      <a:pPr algn="ctr" fontAlgn="b"/>
                      <a:r>
                        <a:rPr lang="en-IN" sz="1400" b="0" i="0" u="none" strike="noStrike">
                          <a:solidFill>
                            <a:srgbClr val="000000"/>
                          </a:solidFill>
                          <a:effectLst/>
                          <a:latin typeface="Calibri"/>
                        </a:rPr>
                        <a:t>Max gear ratio</a:t>
                      </a:r>
                    </a:p>
                  </a:txBody>
                  <a:tcPr marL="9525" marR="9525" marT="9525" marB="0" anchor="b"/>
                </a:tc>
                <a:tc>
                  <a:txBody>
                    <a:bodyPr/>
                    <a:lstStyle/>
                    <a:p>
                      <a:pPr algn="ctr" fontAlgn="b"/>
                      <a:r>
                        <a:rPr lang="en-IN" sz="1400" b="0" i="0" u="none" strike="noStrike" dirty="0">
                          <a:solidFill>
                            <a:srgbClr val="000000"/>
                          </a:solidFill>
                          <a:effectLst/>
                          <a:latin typeface="Calibri"/>
                        </a:rPr>
                        <a:t>Rear: </a:t>
                      </a:r>
                      <a:r>
                        <a:rPr lang="en-IN" sz="1400" b="0" i="0" u="none" strike="noStrike" dirty="0" smtClean="0">
                          <a:solidFill>
                            <a:srgbClr val="000000"/>
                          </a:solidFill>
                          <a:effectLst/>
                          <a:latin typeface="Calibri"/>
                        </a:rPr>
                        <a:t>12:1</a:t>
                      </a:r>
                      <a:endParaRPr lang="en-IN" sz="1400" b="0" i="0" u="none" strike="noStrike" dirty="0">
                        <a:solidFill>
                          <a:srgbClr val="000000"/>
                        </a:solidFill>
                        <a:effectLst/>
                        <a:latin typeface="Calibri"/>
                      </a:endParaRPr>
                    </a:p>
                  </a:txBody>
                  <a:tcPr marL="9525" marR="9525" marT="9525" marB="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dirty="0" smtClean="0">
                          <a:solidFill>
                            <a:srgbClr val="000000"/>
                          </a:solidFill>
                          <a:effectLst/>
                          <a:latin typeface="+mn-lt"/>
                        </a:rPr>
                        <a:t>Rear: 12:1 Front:12.75:1</a:t>
                      </a:r>
                    </a:p>
                  </a:txBody>
                  <a:tcPr/>
                </a:tc>
              </a:tr>
              <a:tr h="550067">
                <a:tc>
                  <a:txBody>
                    <a:bodyPr/>
                    <a:lstStyle/>
                    <a:p>
                      <a:pPr algn="ctr" fontAlgn="b"/>
                      <a:r>
                        <a:rPr lang="en-IN" sz="1400" b="0" i="0" u="none" strike="noStrike">
                          <a:solidFill>
                            <a:srgbClr val="000000"/>
                          </a:solidFill>
                          <a:effectLst/>
                          <a:latin typeface="Calibri"/>
                        </a:rPr>
                        <a:t>Max torque</a:t>
                      </a:r>
                    </a:p>
                  </a:txBody>
                  <a:tcPr marL="9525" marR="9525" marT="9525" marB="0" anchor="b"/>
                </a:tc>
                <a:tc>
                  <a:txBody>
                    <a:bodyPr/>
                    <a:lstStyle/>
                    <a:p>
                      <a:pPr algn="ctr" fontAlgn="b"/>
                      <a:r>
                        <a:rPr lang="en-IN" sz="1400" b="0" i="0" u="none" strike="noStrike" dirty="0">
                          <a:solidFill>
                            <a:srgbClr val="000000"/>
                          </a:solidFill>
                          <a:effectLst/>
                          <a:latin typeface="Calibri"/>
                        </a:rPr>
                        <a:t>544N-m</a:t>
                      </a:r>
                    </a:p>
                  </a:txBody>
                  <a:tcPr marL="9525" marR="9525" marT="9525" marB="0" anchor="b"/>
                </a:tc>
                <a:tc>
                  <a:txBody>
                    <a:bodyPr/>
                    <a:lstStyle/>
                    <a:p>
                      <a:r>
                        <a:rPr lang="en-US" sz="1400" dirty="0" smtClean="0"/>
                        <a:t>524.20 N-m</a:t>
                      </a:r>
                      <a:endParaRPr lang="en-IN" sz="1400" dirty="0"/>
                    </a:p>
                  </a:txBody>
                  <a:tcPr/>
                </a:tc>
              </a:tr>
              <a:tr h="550067">
                <a:tc>
                  <a:txBody>
                    <a:bodyPr/>
                    <a:lstStyle/>
                    <a:p>
                      <a:pPr algn="ctr" fontAlgn="b"/>
                      <a:r>
                        <a:rPr lang="en-IN" sz="1400" b="0" i="0" u="none" strike="noStrike">
                          <a:solidFill>
                            <a:srgbClr val="000000"/>
                          </a:solidFill>
                          <a:effectLst/>
                          <a:latin typeface="Calibri"/>
                        </a:rPr>
                        <a:t>Overall length</a:t>
                      </a:r>
                    </a:p>
                  </a:txBody>
                  <a:tcPr marL="9525" marR="9525" marT="9525" marB="0" anchor="b"/>
                </a:tc>
                <a:tc>
                  <a:txBody>
                    <a:bodyPr/>
                    <a:lstStyle/>
                    <a:p>
                      <a:pPr algn="ctr" fontAlgn="b"/>
                      <a:r>
                        <a:rPr lang="en-IN" sz="1400" b="0" i="0" u="none" strike="noStrike" dirty="0">
                          <a:solidFill>
                            <a:srgbClr val="000000"/>
                          </a:solidFill>
                          <a:effectLst/>
                          <a:latin typeface="Calibri"/>
                        </a:rPr>
                        <a:t>1710mm</a:t>
                      </a:r>
                    </a:p>
                  </a:txBody>
                  <a:tcPr marL="9525" marR="9525" marT="9525" marB="0" anchor="b"/>
                </a:tc>
                <a:tc>
                  <a:txBody>
                    <a:bodyPr/>
                    <a:lstStyle/>
                    <a:p>
                      <a:r>
                        <a:rPr lang="en-US" sz="1400" dirty="0" smtClean="0"/>
                        <a:t>1832.35mm</a:t>
                      </a:r>
                      <a:endParaRPr lang="en-IN" sz="1400" dirty="0"/>
                    </a:p>
                  </a:txBody>
                  <a:tcPr/>
                </a:tc>
              </a:tr>
              <a:tr h="550067">
                <a:tc>
                  <a:txBody>
                    <a:bodyPr/>
                    <a:lstStyle/>
                    <a:p>
                      <a:pPr algn="ctr" fontAlgn="b"/>
                      <a:r>
                        <a:rPr lang="en-IN" sz="1400" b="0" i="0" u="none" strike="noStrike" dirty="0">
                          <a:solidFill>
                            <a:srgbClr val="000000"/>
                          </a:solidFill>
                          <a:effectLst/>
                          <a:latin typeface="Calibri"/>
                        </a:rPr>
                        <a:t>Overall width</a:t>
                      </a:r>
                    </a:p>
                  </a:txBody>
                  <a:tcPr marL="9525" marR="9525" marT="9525" marB="0" anchor="b"/>
                </a:tc>
                <a:tc>
                  <a:txBody>
                    <a:bodyPr/>
                    <a:lstStyle/>
                    <a:p>
                      <a:pPr algn="ctr" fontAlgn="b"/>
                      <a:r>
                        <a:rPr lang="en-IN" sz="1400" b="0" i="0" u="none" strike="noStrike" dirty="0">
                          <a:solidFill>
                            <a:srgbClr val="000000"/>
                          </a:solidFill>
                          <a:effectLst/>
                          <a:latin typeface="Calibri"/>
                        </a:rPr>
                        <a:t>1188.72mm</a:t>
                      </a:r>
                    </a:p>
                  </a:txBody>
                  <a:tcPr marL="9525" marR="9525" marT="9525" marB="0" anchor="b"/>
                </a:tc>
                <a:tc>
                  <a:txBody>
                    <a:bodyPr/>
                    <a:lstStyle/>
                    <a:p>
                      <a:r>
                        <a:rPr lang="en-US" sz="1400" dirty="0" smtClean="0"/>
                        <a:t>966.7mm</a:t>
                      </a:r>
                      <a:endParaRPr lang="en-IN" sz="1400" dirty="0"/>
                    </a:p>
                  </a:txBody>
                  <a:tcPr/>
                </a:tc>
              </a:tr>
            </a:tbl>
          </a:graphicData>
        </a:graphic>
      </p:graphicFrame>
    </p:spTree>
    <p:extLst>
      <p:ext uri="{BB962C8B-B14F-4D97-AF65-F5344CB8AC3E}">
        <p14:creationId xmlns:p14="http://schemas.microsoft.com/office/powerpoint/2010/main" val="2204365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Vehicle Overview and </a:t>
            </a:r>
            <a:r>
              <a:rPr lang="en-IN" b="1" dirty="0" smtClean="0"/>
              <a:t>Integration</a:t>
            </a:r>
            <a:endParaRPr lang="en-IN" dirty="0"/>
          </a:p>
        </p:txBody>
      </p:sp>
      <p:sp>
        <p:nvSpPr>
          <p:cNvPr id="3" name="Content Placeholder 2"/>
          <p:cNvSpPr>
            <a:spLocks noGrp="1"/>
          </p:cNvSpPr>
          <p:nvPr>
            <p:ph idx="1"/>
          </p:nvPr>
        </p:nvSpPr>
        <p:spPr/>
        <p:txBody>
          <a:bodyPr>
            <a:normAutofit fontScale="77500" lnSpcReduction="20000"/>
          </a:bodyPr>
          <a:lstStyle/>
          <a:p>
            <a:r>
              <a:rPr lang="en-IN" dirty="0"/>
              <a:t>Axle shaft lengths align precisely with suspension geometry through SolidWorks' multibody dynamic simulation.</a:t>
            </a:r>
          </a:p>
          <a:p>
            <a:r>
              <a:rPr lang="en-IN" dirty="0"/>
              <a:t>Steering parameters synchronize with suspension geometry via Lotus Shark software, addressing concerns like bump steer for seamless integration.</a:t>
            </a:r>
          </a:p>
          <a:p>
            <a:r>
              <a:rPr lang="en-IN" dirty="0"/>
              <a:t>DFMEA systematically identifies and documents potential value deviations in the vehicle design.</a:t>
            </a:r>
          </a:p>
          <a:p>
            <a:r>
              <a:rPr lang="en-IN" dirty="0"/>
              <a:t>Deviations noted during DFMEA undergo corrective measures; if rectification is unattainable, consequences are calculated for mitigation.</a:t>
            </a:r>
          </a:p>
          <a:p>
            <a:r>
              <a:rPr lang="en-IN" dirty="0"/>
              <a:t>Simulation tools and DFMEA processes ensure a thorough examination of the vehicle's design, optimizing functionality and safety.</a:t>
            </a:r>
          </a:p>
        </p:txBody>
      </p:sp>
    </p:spTree>
    <p:extLst>
      <p:ext uri="{BB962C8B-B14F-4D97-AF65-F5344CB8AC3E}">
        <p14:creationId xmlns:p14="http://schemas.microsoft.com/office/powerpoint/2010/main" val="736069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Lessons learnt</a:t>
            </a:r>
            <a:endParaRPr lang="en-IN" dirty="0"/>
          </a:p>
        </p:txBody>
      </p:sp>
      <p:sp>
        <p:nvSpPr>
          <p:cNvPr id="3" name="Content Placeholder 2"/>
          <p:cNvSpPr>
            <a:spLocks noGrp="1"/>
          </p:cNvSpPr>
          <p:nvPr>
            <p:ph idx="1"/>
          </p:nvPr>
        </p:nvSpPr>
        <p:spPr/>
        <p:txBody>
          <a:bodyPr>
            <a:normAutofit fontScale="77500" lnSpcReduction="20000"/>
          </a:bodyPr>
          <a:lstStyle/>
          <a:p>
            <a:r>
              <a:rPr lang="en-US" dirty="0"/>
              <a:t>Scrutinizing of the vehicle was done and the issue with brake liners was </a:t>
            </a:r>
            <a:r>
              <a:rPr lang="en-US" dirty="0" smtClean="0"/>
              <a:t>fixed.</a:t>
            </a:r>
          </a:p>
          <a:p>
            <a:pPr marL="0" indent="0">
              <a:buNone/>
            </a:pPr>
            <a:r>
              <a:rPr lang="en-US" dirty="0"/>
              <a:t> </a:t>
            </a:r>
            <a:r>
              <a:rPr lang="en-US" dirty="0"/>
              <a:t> </a:t>
            </a:r>
            <a:r>
              <a:rPr lang="en-US" dirty="0" smtClean="0"/>
              <a:t>   </a:t>
            </a:r>
            <a:r>
              <a:rPr lang="en-US" dirty="0" smtClean="0"/>
              <a:t>During </a:t>
            </a:r>
            <a:r>
              <a:rPr lang="en-US" dirty="0"/>
              <a:t>the testing we figured out few failures which were </a:t>
            </a:r>
            <a:r>
              <a:rPr lang="en-US" dirty="0" smtClean="0"/>
              <a:t>:</a:t>
            </a:r>
          </a:p>
          <a:p>
            <a:r>
              <a:rPr lang="en-US" dirty="0"/>
              <a:t>Due to manufacturing errors there were quite a abrasion in the </a:t>
            </a:r>
            <a:r>
              <a:rPr lang="en-US" dirty="0" smtClean="0"/>
              <a:t>machining </a:t>
            </a:r>
            <a:r>
              <a:rPr lang="en-IN" dirty="0" smtClean="0"/>
              <a:t>components</a:t>
            </a:r>
          </a:p>
          <a:p>
            <a:r>
              <a:rPr lang="en-US" dirty="0"/>
              <a:t>Proper validation, quality, testing is to be done after </a:t>
            </a:r>
            <a:r>
              <a:rPr lang="en-US" dirty="0" smtClean="0"/>
              <a:t>machining</a:t>
            </a:r>
          </a:p>
          <a:p>
            <a:r>
              <a:rPr lang="en-US" dirty="0"/>
              <a:t>We need reduce the manufacturing errors by preparing more number of </a:t>
            </a:r>
            <a:r>
              <a:rPr lang="en-US" dirty="0" smtClean="0"/>
              <a:t>jigs </a:t>
            </a:r>
            <a:r>
              <a:rPr lang="en-IN" dirty="0" smtClean="0"/>
              <a:t>and fixtures</a:t>
            </a:r>
          </a:p>
          <a:p>
            <a:r>
              <a:rPr lang="en-US" dirty="0"/>
              <a:t>More time is required for testing the </a:t>
            </a:r>
            <a:r>
              <a:rPr lang="en-US" dirty="0" smtClean="0"/>
              <a:t>vehicle </a:t>
            </a:r>
          </a:p>
          <a:p>
            <a:r>
              <a:rPr lang="en-US" dirty="0"/>
              <a:t>Proper coordination between all the domains plays a pivotal role in </a:t>
            </a:r>
            <a:r>
              <a:rPr lang="en-US" dirty="0" smtClean="0"/>
              <a:t>integration </a:t>
            </a:r>
            <a:r>
              <a:rPr lang="en-IN" dirty="0" smtClean="0"/>
              <a:t>of </a:t>
            </a:r>
            <a:r>
              <a:rPr lang="en-IN" dirty="0"/>
              <a:t>the vehicle</a:t>
            </a:r>
            <a:r>
              <a:rPr lang="en-US" dirty="0" smtClean="0"/>
              <a:t>	</a:t>
            </a:r>
            <a:endParaRPr lang="en-IN" dirty="0"/>
          </a:p>
        </p:txBody>
      </p:sp>
    </p:spTree>
    <p:extLst>
      <p:ext uri="{BB962C8B-B14F-4D97-AF65-F5344CB8AC3E}">
        <p14:creationId xmlns:p14="http://schemas.microsoft.com/office/powerpoint/2010/main" val="27625252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355160" cy="202034"/>
          </a:xfrm>
        </p:spPr>
        <p:txBody>
          <a:bodyPr>
            <a:normAutofit fontScale="90000"/>
          </a:bodyPr>
          <a:lstStyle/>
          <a:p>
            <a:r>
              <a:rPr lang="en-US" b="1" dirty="0" smtClean="0"/>
              <a:t>Design validation plan</a:t>
            </a:r>
            <a:endParaRPr lang="en-IN"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85073857"/>
              </p:ext>
            </p:extLst>
          </p:nvPr>
        </p:nvGraphicFramePr>
        <p:xfrm>
          <a:off x="0" y="650879"/>
          <a:ext cx="9144000" cy="6196149"/>
        </p:xfrm>
        <a:graphic>
          <a:graphicData uri="http://schemas.openxmlformats.org/drawingml/2006/table">
            <a:tbl>
              <a:tblPr firstRow="1" bandRow="1">
                <a:tableStyleId>{5C22544A-7EE6-4342-B048-85BDC9FD1C3A}</a:tableStyleId>
              </a:tblPr>
              <a:tblGrid>
                <a:gridCol w="1547664"/>
                <a:gridCol w="2986236"/>
                <a:gridCol w="2266950"/>
                <a:gridCol w="2343150"/>
              </a:tblGrid>
              <a:tr h="288032">
                <a:tc>
                  <a:txBody>
                    <a:bodyPr/>
                    <a:lstStyle/>
                    <a:p>
                      <a:pPr algn="l" fontAlgn="b"/>
                      <a:r>
                        <a:rPr lang="en-IN" sz="1800" b="1" i="0" u="none" strike="noStrike" dirty="0">
                          <a:solidFill>
                            <a:srgbClr val="000000"/>
                          </a:solidFill>
                          <a:effectLst/>
                          <a:latin typeface="Calibri"/>
                        </a:rPr>
                        <a:t>Vehicle Part</a:t>
                      </a:r>
                    </a:p>
                  </a:txBody>
                  <a:tcPr marL="9525" marR="9525" marT="9525" marB="0" anchor="b"/>
                </a:tc>
                <a:tc>
                  <a:txBody>
                    <a:bodyPr/>
                    <a:lstStyle/>
                    <a:p>
                      <a:pPr algn="ctr" fontAlgn="b"/>
                      <a:r>
                        <a:rPr lang="en-IN" sz="1800" b="1" i="0" u="none" strike="noStrike" dirty="0">
                          <a:solidFill>
                            <a:srgbClr val="000000"/>
                          </a:solidFill>
                          <a:effectLst/>
                          <a:latin typeface="Calibri"/>
                        </a:rPr>
                        <a:t>Performance Target</a:t>
                      </a:r>
                    </a:p>
                  </a:txBody>
                  <a:tcPr marL="9525" marR="9525" marT="9525" marB="0" anchor="b"/>
                </a:tc>
                <a:tc>
                  <a:txBody>
                    <a:bodyPr/>
                    <a:lstStyle/>
                    <a:p>
                      <a:pPr algn="l" fontAlgn="b"/>
                      <a:r>
                        <a:rPr lang="en-IN" sz="1800" b="1" i="0" u="none" strike="noStrike" dirty="0">
                          <a:solidFill>
                            <a:srgbClr val="000000"/>
                          </a:solidFill>
                          <a:effectLst/>
                          <a:latin typeface="Calibri"/>
                        </a:rPr>
                        <a:t>Acceptance Criteria</a:t>
                      </a:r>
                    </a:p>
                  </a:txBody>
                  <a:tcPr marL="9525" marR="9525" marT="9525" marB="0" anchor="b"/>
                </a:tc>
                <a:tc>
                  <a:txBody>
                    <a:bodyPr/>
                    <a:lstStyle/>
                    <a:p>
                      <a:pPr algn="l" fontAlgn="b"/>
                      <a:r>
                        <a:rPr lang="en-IN" sz="1800" b="1" i="0" u="none" strike="noStrike" dirty="0">
                          <a:solidFill>
                            <a:srgbClr val="000000"/>
                          </a:solidFill>
                          <a:effectLst/>
                          <a:latin typeface="Calibri"/>
                        </a:rPr>
                        <a:t>Validation Method</a:t>
                      </a:r>
                    </a:p>
                  </a:txBody>
                  <a:tcPr marL="9525" marR="9525" marT="9525" marB="0" anchor="b"/>
                </a:tc>
              </a:tr>
              <a:tr h="292219">
                <a:tc>
                  <a:txBody>
                    <a:bodyPr/>
                    <a:lstStyle/>
                    <a:p>
                      <a:pPr algn="ctr" fontAlgn="b"/>
                      <a:r>
                        <a:rPr lang="en-IN" sz="1200" b="1" i="0" u="none" strike="noStrike" dirty="0">
                          <a:solidFill>
                            <a:srgbClr val="000000"/>
                          </a:solidFill>
                          <a:effectLst/>
                          <a:latin typeface="Calibri"/>
                        </a:rPr>
                        <a:t>Steering Geometry</a:t>
                      </a:r>
                    </a:p>
                  </a:txBody>
                  <a:tcPr marL="9525" marR="9525" marT="9525" marB="0" anchor="b"/>
                </a:tc>
                <a:tc>
                  <a:txBody>
                    <a:bodyPr/>
                    <a:lstStyle/>
                    <a:p>
                      <a:pPr algn="ctr" fontAlgn="b"/>
                      <a:r>
                        <a:rPr lang="en-IN" sz="1200" b="0" i="0" u="none" strike="noStrike">
                          <a:solidFill>
                            <a:srgbClr val="000000"/>
                          </a:solidFill>
                          <a:effectLst/>
                          <a:latin typeface="Calibri"/>
                        </a:rPr>
                        <a:t>Turning radius of 1.5m</a:t>
                      </a:r>
                    </a:p>
                  </a:txBody>
                  <a:tcPr marL="9525" marR="9525" marT="9525" marB="0" anchor="b"/>
                </a:tc>
                <a:tc>
                  <a:txBody>
                    <a:bodyPr/>
                    <a:lstStyle/>
                    <a:p>
                      <a:pPr algn="ctr" fontAlgn="b"/>
                      <a:r>
                        <a:rPr lang="en-US" sz="1200" b="0" i="0" u="none" strike="noStrike" dirty="0">
                          <a:solidFill>
                            <a:srgbClr val="000000"/>
                          </a:solidFill>
                          <a:effectLst/>
                          <a:latin typeface="Calibri"/>
                        </a:rPr>
                        <a:t>Comfortable to ride in eight track</a:t>
                      </a:r>
                    </a:p>
                  </a:txBody>
                  <a:tcPr marL="9525" marR="9525" marT="9525" marB="0" anchor="b"/>
                </a:tc>
                <a:tc>
                  <a:txBody>
                    <a:bodyPr/>
                    <a:lstStyle/>
                    <a:p>
                      <a:pPr algn="ctr" fontAlgn="b"/>
                      <a:r>
                        <a:rPr lang="en-US" sz="1200" b="0" i="0" u="none" strike="noStrike" dirty="0">
                          <a:solidFill>
                            <a:srgbClr val="000000"/>
                          </a:solidFill>
                          <a:effectLst/>
                          <a:latin typeface="Calibri"/>
                        </a:rPr>
                        <a:t>Calculated and simulated using Adams</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and Lotus software</a:t>
                      </a:r>
                    </a:p>
                  </a:txBody>
                  <a:tcPr marL="9525" marR="9525" marT="9525" marB="0" anchor="b"/>
                </a:tc>
              </a:tr>
              <a:tr h="327965">
                <a:tc>
                  <a:txBody>
                    <a:bodyPr/>
                    <a:lstStyle/>
                    <a:p>
                      <a:pPr algn="ctr" fontAlgn="b"/>
                      <a:r>
                        <a:rPr lang="en-IN" sz="1200" b="1" i="0" u="none" strike="noStrike" dirty="0">
                          <a:solidFill>
                            <a:srgbClr val="000000"/>
                          </a:solidFill>
                          <a:effectLst/>
                          <a:latin typeface="Calibri"/>
                        </a:rPr>
                        <a:t>Steering system</a:t>
                      </a:r>
                    </a:p>
                  </a:txBody>
                  <a:tcPr marL="9525" marR="9525" marT="9525" marB="0" anchor="b"/>
                </a:tc>
                <a:tc>
                  <a:txBody>
                    <a:bodyPr/>
                    <a:lstStyle/>
                    <a:p>
                      <a:pPr algn="ctr" fontAlgn="b"/>
                      <a:r>
                        <a:rPr lang="en-US" sz="1200" b="0" i="0" u="none" strike="noStrike">
                          <a:solidFill>
                            <a:srgbClr val="000000"/>
                          </a:solidFill>
                          <a:effectLst/>
                          <a:latin typeface="Calibri"/>
                        </a:rPr>
                        <a:t>Deviation is &lt; 0.05m when vehicle is run on a straight line</a:t>
                      </a:r>
                    </a:p>
                  </a:txBody>
                  <a:tcPr marL="9525" marR="9525" marT="9525" marB="0" anchor="b"/>
                </a:tc>
                <a:tc>
                  <a:txBody>
                    <a:bodyPr/>
                    <a:lstStyle/>
                    <a:p>
                      <a:pPr algn="ctr" fontAlgn="b"/>
                      <a:r>
                        <a:rPr lang="en-IN" sz="1200" b="0" i="0" u="none" strike="noStrike" dirty="0">
                          <a:solidFill>
                            <a:srgbClr val="000000"/>
                          </a:solidFill>
                          <a:effectLst/>
                          <a:latin typeface="Calibri"/>
                        </a:rPr>
                        <a:t>Deviation should be &lt; 0.1m</a:t>
                      </a:r>
                    </a:p>
                  </a:txBody>
                  <a:tcPr marL="9525" marR="9525" marT="9525" marB="0" anchor="b"/>
                </a:tc>
                <a:tc>
                  <a:txBody>
                    <a:bodyPr/>
                    <a:lstStyle/>
                    <a:p>
                      <a:pPr algn="ctr" fontAlgn="b"/>
                      <a:r>
                        <a:rPr lang="en-US" sz="1200" b="0" i="0" u="none" strike="noStrike" dirty="0">
                          <a:solidFill>
                            <a:srgbClr val="000000"/>
                          </a:solidFill>
                          <a:effectLst/>
                          <a:latin typeface="Calibri"/>
                        </a:rPr>
                        <a:t>Simulations in Adams and Lotus software</a:t>
                      </a:r>
                    </a:p>
                  </a:txBody>
                  <a:tcPr marL="9525" marR="9525" marT="9525" marB="0" anchor="b"/>
                </a:tc>
              </a:tr>
              <a:tr h="308725">
                <a:tc>
                  <a:txBody>
                    <a:bodyPr/>
                    <a:lstStyle/>
                    <a:p>
                      <a:pPr algn="ctr" fontAlgn="b"/>
                      <a:r>
                        <a:rPr lang="en-IN" sz="1200" b="1" i="0" u="none" strike="noStrike" dirty="0">
                          <a:solidFill>
                            <a:srgbClr val="000000"/>
                          </a:solidFill>
                          <a:effectLst/>
                          <a:latin typeface="Calibri"/>
                        </a:rPr>
                        <a:t>Transmission</a:t>
                      </a:r>
                    </a:p>
                  </a:txBody>
                  <a:tcPr marL="9525" marR="9525" marT="9525" marB="0" anchor="b"/>
                </a:tc>
                <a:tc>
                  <a:txBody>
                    <a:bodyPr/>
                    <a:lstStyle/>
                    <a:p>
                      <a:pPr algn="ctr" fontAlgn="b"/>
                      <a:r>
                        <a:rPr lang="en-IN" sz="1200" b="0" i="0" u="none" strike="noStrike">
                          <a:solidFill>
                            <a:srgbClr val="000000"/>
                          </a:solidFill>
                          <a:effectLst/>
                          <a:latin typeface="Calibri"/>
                        </a:rPr>
                        <a:t>Top speed 56kmph</a:t>
                      </a:r>
                    </a:p>
                  </a:txBody>
                  <a:tcPr marL="9525" marR="9525" marT="9525" marB="0" anchor="b"/>
                </a:tc>
                <a:tc>
                  <a:txBody>
                    <a:bodyPr/>
                    <a:lstStyle/>
                    <a:p>
                      <a:pPr algn="ctr" fontAlgn="b"/>
                      <a:r>
                        <a:rPr lang="en-IN" sz="1200" b="0" i="0" u="none" strike="noStrike">
                          <a:solidFill>
                            <a:srgbClr val="000000"/>
                          </a:solidFill>
                          <a:effectLst/>
                          <a:latin typeface="Calibri"/>
                        </a:rPr>
                        <a:t>Greater than 45kmph</a:t>
                      </a:r>
                    </a:p>
                  </a:txBody>
                  <a:tcPr marL="9525" marR="9525" marT="9525" marB="0" anchor="b"/>
                </a:tc>
                <a:tc>
                  <a:txBody>
                    <a:bodyPr/>
                    <a:lstStyle/>
                    <a:p>
                      <a:pPr algn="ctr" fontAlgn="b"/>
                      <a:r>
                        <a:rPr lang="en-IN" sz="1200" b="0" i="0" u="none" strike="noStrike" dirty="0">
                          <a:solidFill>
                            <a:srgbClr val="000000"/>
                          </a:solidFill>
                          <a:effectLst/>
                          <a:latin typeface="Calibri"/>
                        </a:rPr>
                        <a:t>Tachometer</a:t>
                      </a:r>
                    </a:p>
                  </a:txBody>
                  <a:tcPr marL="9525" marR="9525" marT="9525" marB="0" anchor="b"/>
                </a:tc>
              </a:tr>
              <a:tr h="487786">
                <a:tc>
                  <a:txBody>
                    <a:bodyPr/>
                    <a:lstStyle/>
                    <a:p>
                      <a:pPr algn="ctr" fontAlgn="b"/>
                      <a:r>
                        <a:rPr lang="en-IN" sz="1200" b="1" i="0" u="none" strike="noStrike" dirty="0">
                          <a:solidFill>
                            <a:srgbClr val="000000"/>
                          </a:solidFill>
                          <a:effectLst/>
                          <a:latin typeface="Calibri"/>
                        </a:rPr>
                        <a:t>Oils</a:t>
                      </a:r>
                    </a:p>
                  </a:txBody>
                  <a:tcPr marL="9525" marR="9525" marT="9525" marB="0" anchor="b"/>
                </a:tc>
                <a:tc>
                  <a:txBody>
                    <a:bodyPr/>
                    <a:lstStyle/>
                    <a:p>
                      <a:pPr algn="ctr" fontAlgn="b"/>
                      <a:r>
                        <a:rPr lang="en-US" sz="1200" b="0" i="0" u="none" strike="noStrike" dirty="0">
                          <a:solidFill>
                            <a:srgbClr val="000000"/>
                          </a:solidFill>
                          <a:effectLst/>
                          <a:latin typeface="Calibri"/>
                        </a:rPr>
                        <a:t>There should be no leakage of oil when vehicle is rolled</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over</a:t>
                      </a:r>
                    </a:p>
                  </a:txBody>
                  <a:tcPr marL="9525" marR="9525" marT="9525" marB="0" anchor="b"/>
                </a:tc>
                <a:tc>
                  <a:txBody>
                    <a:bodyPr/>
                    <a:lstStyle/>
                    <a:p>
                      <a:pPr algn="ctr" fontAlgn="b"/>
                      <a:r>
                        <a:rPr lang="en-US" sz="1200" b="0" i="0" u="none" strike="noStrike" dirty="0">
                          <a:solidFill>
                            <a:srgbClr val="000000"/>
                          </a:solidFill>
                          <a:effectLst/>
                          <a:latin typeface="Calibri"/>
                        </a:rPr>
                        <a:t>No oil spills on any surface when</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vehicle is tilted</a:t>
                      </a:r>
                    </a:p>
                  </a:txBody>
                  <a:tcPr marL="9525" marR="9525" marT="9525" marB="0" anchor="b"/>
                </a:tc>
                <a:tc>
                  <a:txBody>
                    <a:bodyPr/>
                    <a:lstStyle/>
                    <a:p>
                      <a:pPr algn="ctr" fontAlgn="b"/>
                      <a:r>
                        <a:rPr lang="en-US" sz="1200" b="0" i="0" u="none" strike="noStrike" dirty="0">
                          <a:solidFill>
                            <a:srgbClr val="000000"/>
                          </a:solidFill>
                          <a:effectLst/>
                          <a:latin typeface="Calibri"/>
                        </a:rPr>
                        <a:t>Observed manually by tilting on a dry</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surface</a:t>
                      </a:r>
                    </a:p>
                  </a:txBody>
                  <a:tcPr marL="9525" marR="9525" marT="9525" marB="0" anchor="b"/>
                </a:tc>
              </a:tr>
              <a:tr h="308725">
                <a:tc>
                  <a:txBody>
                    <a:bodyPr/>
                    <a:lstStyle/>
                    <a:p>
                      <a:pPr algn="ctr" fontAlgn="b"/>
                      <a:r>
                        <a:rPr lang="en-IN" sz="1200" b="1" i="0" u="none" strike="noStrike" dirty="0">
                          <a:solidFill>
                            <a:srgbClr val="000000"/>
                          </a:solidFill>
                          <a:effectLst/>
                          <a:latin typeface="Calibri"/>
                        </a:rPr>
                        <a:t>Egression Test</a:t>
                      </a:r>
                    </a:p>
                  </a:txBody>
                  <a:tcPr marL="9525" marR="9525" marT="9525" marB="0" anchor="b"/>
                </a:tc>
                <a:tc>
                  <a:txBody>
                    <a:bodyPr/>
                    <a:lstStyle/>
                    <a:p>
                      <a:pPr algn="ctr" fontAlgn="b"/>
                      <a:r>
                        <a:rPr lang="en-IN" sz="1200" b="0" i="0" u="none" strike="noStrike" dirty="0">
                          <a:solidFill>
                            <a:srgbClr val="000000"/>
                          </a:solidFill>
                          <a:effectLst/>
                          <a:latin typeface="Calibri"/>
                        </a:rPr>
                        <a:t>3 seconds</a:t>
                      </a:r>
                    </a:p>
                  </a:txBody>
                  <a:tcPr marL="9525" marR="9525" marT="9525" marB="0" anchor="b"/>
                </a:tc>
                <a:tc>
                  <a:txBody>
                    <a:bodyPr/>
                    <a:lstStyle/>
                    <a:p>
                      <a:pPr algn="ctr" fontAlgn="b"/>
                      <a:r>
                        <a:rPr lang="en-IN" sz="1200" b="0" i="0" u="none" strike="noStrike" dirty="0">
                          <a:solidFill>
                            <a:srgbClr val="000000"/>
                          </a:solidFill>
                          <a:effectLst/>
                          <a:latin typeface="Calibri"/>
                        </a:rPr>
                        <a:t>Less than 5 seconds</a:t>
                      </a:r>
                    </a:p>
                  </a:txBody>
                  <a:tcPr marL="9525" marR="9525" marT="9525" marB="0" anchor="b"/>
                </a:tc>
                <a:tc>
                  <a:txBody>
                    <a:bodyPr/>
                    <a:lstStyle/>
                    <a:p>
                      <a:pPr algn="ctr" fontAlgn="b"/>
                      <a:r>
                        <a:rPr lang="en-IN" sz="1200" b="0" i="0" u="none" strike="noStrike" dirty="0">
                          <a:solidFill>
                            <a:srgbClr val="000000"/>
                          </a:solidFill>
                          <a:effectLst/>
                          <a:latin typeface="Calibri"/>
                        </a:rPr>
                        <a:t>Stop watch</a:t>
                      </a:r>
                    </a:p>
                  </a:txBody>
                  <a:tcPr marL="9525" marR="9525" marT="9525" marB="0" anchor="b"/>
                </a:tc>
              </a:tr>
              <a:tr h="440537">
                <a:tc>
                  <a:txBody>
                    <a:bodyPr/>
                    <a:lstStyle/>
                    <a:p>
                      <a:pPr algn="ctr" fontAlgn="b"/>
                      <a:r>
                        <a:rPr lang="en-IN" sz="1200" b="1" i="0" u="none" strike="noStrike" dirty="0">
                          <a:solidFill>
                            <a:srgbClr val="000000"/>
                          </a:solidFill>
                          <a:effectLst/>
                          <a:latin typeface="Calibri"/>
                        </a:rPr>
                        <a:t>Braking Distance</a:t>
                      </a:r>
                    </a:p>
                  </a:txBody>
                  <a:tcPr marL="9525" marR="9525" marT="9525" marB="0" anchor="b"/>
                </a:tc>
                <a:tc>
                  <a:txBody>
                    <a:bodyPr/>
                    <a:lstStyle/>
                    <a:p>
                      <a:pPr algn="ctr" fontAlgn="b"/>
                      <a:r>
                        <a:rPr lang="en-IN" sz="1200" b="0" i="0" u="none" strike="noStrike" dirty="0">
                          <a:solidFill>
                            <a:srgbClr val="000000"/>
                          </a:solidFill>
                          <a:effectLst/>
                          <a:latin typeface="Calibri"/>
                        </a:rPr>
                        <a:t>Braking distance 3.04m</a:t>
                      </a:r>
                    </a:p>
                  </a:txBody>
                  <a:tcPr marL="9525" marR="9525" marT="9525" marB="0" anchor="b"/>
                </a:tc>
                <a:tc>
                  <a:txBody>
                    <a:bodyPr/>
                    <a:lstStyle/>
                    <a:p>
                      <a:pPr algn="ctr" fontAlgn="b"/>
                      <a:r>
                        <a:rPr lang="en-US" sz="1200" b="0" i="0" u="none" strike="noStrike" dirty="0">
                          <a:solidFill>
                            <a:srgbClr val="000000"/>
                          </a:solidFill>
                          <a:effectLst/>
                          <a:latin typeface="Calibri"/>
                        </a:rPr>
                        <a:t>Braking distance should be less than</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8m</a:t>
                      </a:r>
                    </a:p>
                  </a:txBody>
                  <a:tcPr marL="9525" marR="9525" marT="9525" marB="0" anchor="b"/>
                </a:tc>
                <a:tc>
                  <a:txBody>
                    <a:bodyPr/>
                    <a:lstStyle/>
                    <a:p>
                      <a:pPr algn="ctr" fontAlgn="b"/>
                      <a:r>
                        <a:rPr lang="en-IN" sz="1200" b="0" i="0" u="none" strike="noStrike" dirty="0">
                          <a:solidFill>
                            <a:srgbClr val="000000"/>
                          </a:solidFill>
                          <a:effectLst/>
                          <a:latin typeface="Calibri"/>
                        </a:rPr>
                        <a:t>Measuring distance using tape</a:t>
                      </a:r>
                    </a:p>
                  </a:txBody>
                  <a:tcPr marL="9525" marR="9525" marT="9525" marB="0" anchor="b"/>
                </a:tc>
              </a:tr>
              <a:tr h="487786">
                <a:tc>
                  <a:txBody>
                    <a:bodyPr/>
                    <a:lstStyle/>
                    <a:p>
                      <a:pPr algn="ctr" fontAlgn="b"/>
                      <a:r>
                        <a:rPr lang="en-IN" sz="1200" b="1" i="0" u="none" strike="noStrike" dirty="0">
                          <a:solidFill>
                            <a:srgbClr val="000000"/>
                          </a:solidFill>
                          <a:effectLst/>
                          <a:latin typeface="Calibri"/>
                        </a:rPr>
                        <a:t>Braking</a:t>
                      </a:r>
                    </a:p>
                  </a:txBody>
                  <a:tcPr marL="9525" marR="9525" marT="9525" marB="0" anchor="b"/>
                </a:tc>
                <a:tc>
                  <a:txBody>
                    <a:bodyPr/>
                    <a:lstStyle/>
                    <a:p>
                      <a:pPr algn="ctr" fontAlgn="b"/>
                      <a:r>
                        <a:rPr lang="en-US" sz="1200" b="0" i="0" u="none" strike="noStrike" dirty="0">
                          <a:solidFill>
                            <a:srgbClr val="000000"/>
                          </a:solidFill>
                          <a:effectLst/>
                          <a:latin typeface="Calibri"/>
                        </a:rPr>
                        <a:t>All four wheels locking at the same time when brakes are</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applied</a:t>
                      </a:r>
                    </a:p>
                  </a:txBody>
                  <a:tcPr marL="9525" marR="9525" marT="9525" marB="0" anchor="b"/>
                </a:tc>
                <a:tc>
                  <a:txBody>
                    <a:bodyPr/>
                    <a:lstStyle/>
                    <a:p>
                      <a:pPr algn="ctr" fontAlgn="b"/>
                      <a:r>
                        <a:rPr lang="en-US" sz="1200" b="0" i="0" u="none" strike="noStrike" dirty="0">
                          <a:solidFill>
                            <a:srgbClr val="000000"/>
                          </a:solidFill>
                          <a:effectLst/>
                          <a:latin typeface="Calibri"/>
                        </a:rPr>
                        <a:t>All wheels should lock simultaneously without rolling motion</a:t>
                      </a:r>
                    </a:p>
                  </a:txBody>
                  <a:tcPr marL="9525" marR="9525" marT="9525" marB="0" anchor="b"/>
                </a:tc>
                <a:tc>
                  <a:txBody>
                    <a:bodyPr/>
                    <a:lstStyle/>
                    <a:p>
                      <a:pPr algn="ctr" fontAlgn="b"/>
                      <a:r>
                        <a:rPr lang="en-IN" sz="1200" b="0" i="0" u="none" strike="noStrike" dirty="0">
                          <a:solidFill>
                            <a:srgbClr val="000000"/>
                          </a:solidFill>
                          <a:effectLst/>
                          <a:latin typeface="Calibri"/>
                        </a:rPr>
                        <a:t>measured at 40 </a:t>
                      </a:r>
                      <a:r>
                        <a:rPr lang="en-IN" sz="1200" b="0" i="0" u="none" strike="noStrike" dirty="0" err="1">
                          <a:solidFill>
                            <a:srgbClr val="000000"/>
                          </a:solidFill>
                          <a:effectLst/>
                          <a:latin typeface="Calibri"/>
                        </a:rPr>
                        <a:t>kmph</a:t>
                      </a:r>
                      <a:endParaRPr lang="en-IN" sz="1200" b="0" i="0" u="none" strike="noStrike" dirty="0">
                        <a:solidFill>
                          <a:srgbClr val="000000"/>
                        </a:solidFill>
                        <a:effectLst/>
                        <a:latin typeface="Calibri"/>
                      </a:endParaRPr>
                    </a:p>
                  </a:txBody>
                  <a:tcPr marL="9525" marR="9525" marT="9525" marB="0" anchor="b"/>
                </a:tc>
              </a:tr>
              <a:tr h="327965">
                <a:tc>
                  <a:txBody>
                    <a:bodyPr/>
                    <a:lstStyle/>
                    <a:p>
                      <a:pPr algn="ctr" fontAlgn="b"/>
                      <a:r>
                        <a:rPr lang="en-IN" sz="1200" b="1" i="0" u="none" strike="noStrike" dirty="0" err="1">
                          <a:solidFill>
                            <a:srgbClr val="000000"/>
                          </a:solidFill>
                          <a:effectLst/>
                          <a:latin typeface="Calibri"/>
                        </a:rPr>
                        <a:t>Gradeability</a:t>
                      </a:r>
                      <a:endParaRPr lang="en-IN" sz="1200" b="1" i="0" u="none" strike="noStrike" dirty="0">
                        <a:solidFill>
                          <a:srgbClr val="000000"/>
                        </a:solidFill>
                        <a:effectLst/>
                        <a:latin typeface="Calibri"/>
                      </a:endParaRPr>
                    </a:p>
                  </a:txBody>
                  <a:tcPr marL="9525" marR="9525" marT="9525" marB="0" anchor="b"/>
                </a:tc>
                <a:tc>
                  <a:txBody>
                    <a:bodyPr/>
                    <a:lstStyle/>
                    <a:p>
                      <a:pPr algn="ctr" fontAlgn="b"/>
                      <a:r>
                        <a:rPr lang="en-US" sz="1200" b="0" i="0" u="none" strike="noStrike" dirty="0">
                          <a:solidFill>
                            <a:srgbClr val="000000"/>
                          </a:solidFill>
                          <a:effectLst/>
                          <a:latin typeface="Calibri"/>
                        </a:rPr>
                        <a:t>Able to climb hill at 45 Â° inclination</a:t>
                      </a:r>
                    </a:p>
                  </a:txBody>
                  <a:tcPr marL="9525" marR="9525" marT="9525" marB="0" anchor="b"/>
                </a:tc>
                <a:tc>
                  <a:txBody>
                    <a:bodyPr/>
                    <a:lstStyle/>
                    <a:p>
                      <a:pPr algn="ctr" fontAlgn="b"/>
                      <a:r>
                        <a:rPr lang="en-US" sz="1200" b="0" i="0" u="none" strike="noStrike" dirty="0">
                          <a:solidFill>
                            <a:srgbClr val="000000"/>
                          </a:solidFill>
                          <a:effectLst/>
                          <a:latin typeface="Calibri"/>
                        </a:rPr>
                        <a:t>Enough torque should be generated</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to climb at 33 inclination</a:t>
                      </a:r>
                    </a:p>
                  </a:txBody>
                  <a:tcPr marL="9525" marR="9525" marT="9525" marB="0" anchor="b"/>
                </a:tc>
                <a:tc>
                  <a:txBody>
                    <a:bodyPr/>
                    <a:lstStyle/>
                    <a:p>
                      <a:pPr algn="ctr" fontAlgn="b"/>
                      <a:r>
                        <a:rPr lang="en-IN" sz="1200" b="0" i="0" u="none" strike="noStrike" dirty="0">
                          <a:solidFill>
                            <a:srgbClr val="000000"/>
                          </a:solidFill>
                          <a:effectLst/>
                          <a:latin typeface="Calibri"/>
                        </a:rPr>
                        <a:t>Uphill / inclined ramp</a:t>
                      </a:r>
                    </a:p>
                  </a:txBody>
                  <a:tcPr marL="9525" marR="9525" marT="9525" marB="0" anchor="b"/>
                </a:tc>
              </a:tr>
              <a:tr h="487786">
                <a:tc>
                  <a:txBody>
                    <a:bodyPr/>
                    <a:lstStyle/>
                    <a:p>
                      <a:pPr algn="ctr" fontAlgn="b"/>
                      <a:r>
                        <a:rPr lang="en-IN" sz="1200" b="1" i="0" u="none" strike="noStrike" dirty="0">
                          <a:solidFill>
                            <a:srgbClr val="000000"/>
                          </a:solidFill>
                          <a:effectLst/>
                          <a:latin typeface="Calibri"/>
                        </a:rPr>
                        <a:t>Suspension Check</a:t>
                      </a:r>
                    </a:p>
                  </a:txBody>
                  <a:tcPr marL="9525" marR="9525" marT="9525" marB="0" anchor="b"/>
                </a:tc>
                <a:tc>
                  <a:txBody>
                    <a:bodyPr/>
                    <a:lstStyle/>
                    <a:p>
                      <a:pPr algn="ctr" fontAlgn="b"/>
                      <a:r>
                        <a:rPr lang="en-US" sz="1200" b="0" i="0" u="none" strike="noStrike">
                          <a:solidFill>
                            <a:srgbClr val="000000"/>
                          </a:solidFill>
                          <a:effectLst/>
                          <a:latin typeface="Calibri"/>
                        </a:rPr>
                        <a:t>No changes in any of the members / links when dropped</a:t>
                      </a:r>
                      <a:br>
                        <a:rPr lang="en-US" sz="1200" b="0" i="0" u="none" strike="noStrike">
                          <a:solidFill>
                            <a:srgbClr val="000000"/>
                          </a:solidFill>
                          <a:effectLst/>
                          <a:latin typeface="Calibri"/>
                        </a:rPr>
                      </a:br>
                      <a:r>
                        <a:rPr lang="en-US" sz="1200" b="0" i="0" u="none" strike="noStrike">
                          <a:solidFill>
                            <a:srgbClr val="000000"/>
                          </a:solidFill>
                          <a:effectLst/>
                          <a:latin typeface="Calibri"/>
                        </a:rPr>
                        <a:t>at height of 2m</a:t>
                      </a:r>
                    </a:p>
                  </a:txBody>
                  <a:tcPr marL="9525" marR="9525" marT="9525" marB="0" anchor="b"/>
                </a:tc>
                <a:tc>
                  <a:txBody>
                    <a:bodyPr/>
                    <a:lstStyle/>
                    <a:p>
                      <a:pPr algn="ctr" fontAlgn="b"/>
                      <a:r>
                        <a:rPr lang="en-US" sz="1200" b="0" i="0" u="none" strike="noStrike" dirty="0">
                          <a:solidFill>
                            <a:srgbClr val="000000"/>
                          </a:solidFill>
                          <a:effectLst/>
                          <a:latin typeface="Calibri"/>
                        </a:rPr>
                        <a:t>No displacement of components when dropped</a:t>
                      </a:r>
                    </a:p>
                  </a:txBody>
                  <a:tcPr marL="9525" marR="9525" marT="9525" marB="0" anchor="b"/>
                </a:tc>
                <a:tc>
                  <a:txBody>
                    <a:bodyPr/>
                    <a:lstStyle/>
                    <a:p>
                      <a:pPr algn="ctr" fontAlgn="b"/>
                      <a:r>
                        <a:rPr lang="en-US" sz="1200" b="0" i="0" u="none" strike="noStrike" dirty="0">
                          <a:solidFill>
                            <a:srgbClr val="000000"/>
                          </a:solidFill>
                          <a:effectLst/>
                          <a:latin typeface="Calibri"/>
                        </a:rPr>
                        <a:t>Drop test and Physical verification</a:t>
                      </a:r>
                    </a:p>
                  </a:txBody>
                  <a:tcPr marL="9525" marR="9525" marT="9525" marB="0" anchor="b"/>
                </a:tc>
              </a:tr>
              <a:tr h="487786">
                <a:tc>
                  <a:txBody>
                    <a:bodyPr/>
                    <a:lstStyle/>
                    <a:p>
                      <a:pPr algn="ctr" fontAlgn="b"/>
                      <a:r>
                        <a:rPr lang="en-IN" sz="1200" b="1" i="0" u="none" strike="noStrike" dirty="0">
                          <a:solidFill>
                            <a:srgbClr val="000000"/>
                          </a:solidFill>
                          <a:effectLst/>
                          <a:latin typeface="Calibri"/>
                        </a:rPr>
                        <a:t>Ergonomics</a:t>
                      </a:r>
                    </a:p>
                  </a:txBody>
                  <a:tcPr marL="9525" marR="9525" marT="9525" marB="0" anchor="b"/>
                </a:tc>
                <a:tc>
                  <a:txBody>
                    <a:bodyPr/>
                    <a:lstStyle/>
                    <a:p>
                      <a:pPr algn="ctr" fontAlgn="b"/>
                      <a:r>
                        <a:rPr lang="en-US" sz="1200" b="0" i="0" u="none" strike="noStrike">
                          <a:solidFill>
                            <a:srgbClr val="000000"/>
                          </a:solidFill>
                          <a:effectLst/>
                          <a:latin typeface="Calibri"/>
                        </a:rPr>
                        <a:t>Clearances to be checked using PVC mock up and</a:t>
                      </a:r>
                      <a:br>
                        <a:rPr lang="en-US" sz="1200" b="0" i="0" u="none" strike="noStrike">
                          <a:solidFill>
                            <a:srgbClr val="000000"/>
                          </a:solidFill>
                          <a:effectLst/>
                          <a:latin typeface="Calibri"/>
                        </a:rPr>
                      </a:br>
                      <a:r>
                        <a:rPr lang="en-US" sz="1200" b="0" i="0" u="none" strike="noStrike">
                          <a:solidFill>
                            <a:srgbClr val="000000"/>
                          </a:solidFill>
                          <a:effectLst/>
                          <a:latin typeface="Calibri"/>
                        </a:rPr>
                        <a:t>considering comfort of driver</a:t>
                      </a:r>
                    </a:p>
                  </a:txBody>
                  <a:tcPr marL="9525" marR="9525" marT="9525" marB="0" anchor="b"/>
                </a:tc>
                <a:tc>
                  <a:txBody>
                    <a:bodyPr/>
                    <a:lstStyle/>
                    <a:p>
                      <a:pPr algn="ctr" fontAlgn="b"/>
                      <a:r>
                        <a:rPr lang="en-US" sz="1200" b="0" i="0" u="none" strike="noStrike" dirty="0">
                          <a:solidFill>
                            <a:srgbClr val="000000"/>
                          </a:solidFill>
                          <a:effectLst/>
                          <a:latin typeface="Calibri"/>
                        </a:rPr>
                        <a:t>All clearances should be &gt; 3 " ; helmet</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to RRH end points which is 6 "</a:t>
                      </a:r>
                    </a:p>
                  </a:txBody>
                  <a:tcPr marL="9525" marR="9525" marT="9525" marB="0" anchor="b"/>
                </a:tc>
                <a:tc>
                  <a:txBody>
                    <a:bodyPr/>
                    <a:lstStyle/>
                    <a:p>
                      <a:pPr algn="ctr" fontAlgn="b"/>
                      <a:r>
                        <a:rPr lang="en-IN" sz="1200" b="0" i="0" u="none" strike="noStrike" dirty="0">
                          <a:solidFill>
                            <a:srgbClr val="000000"/>
                          </a:solidFill>
                          <a:effectLst/>
                          <a:latin typeface="Calibri"/>
                        </a:rPr>
                        <a:t>Measuring tape</a:t>
                      </a:r>
                    </a:p>
                  </a:txBody>
                  <a:tcPr marL="9525" marR="9525" marT="9525" marB="0" anchor="b"/>
                </a:tc>
              </a:tr>
              <a:tr h="327965">
                <a:tc>
                  <a:txBody>
                    <a:bodyPr/>
                    <a:lstStyle/>
                    <a:p>
                      <a:pPr algn="ctr" fontAlgn="b"/>
                      <a:r>
                        <a:rPr lang="en-IN" sz="1200" b="1" i="0" u="none" strike="noStrike" dirty="0">
                          <a:solidFill>
                            <a:srgbClr val="000000"/>
                          </a:solidFill>
                          <a:effectLst/>
                          <a:latin typeface="Calibri"/>
                        </a:rPr>
                        <a:t>Weld </a:t>
                      </a:r>
                      <a:r>
                        <a:rPr lang="en-IN" sz="1200" b="1" i="0" u="none" strike="noStrike" dirty="0" err="1">
                          <a:solidFill>
                            <a:srgbClr val="000000"/>
                          </a:solidFill>
                          <a:effectLst/>
                          <a:latin typeface="Calibri"/>
                        </a:rPr>
                        <a:t>Ment</a:t>
                      </a:r>
                      <a:endParaRPr lang="en-IN" sz="1200" b="1" i="0" u="none" strike="noStrike" dirty="0">
                        <a:solidFill>
                          <a:srgbClr val="000000"/>
                        </a:solidFill>
                        <a:effectLst/>
                        <a:latin typeface="Calibri"/>
                      </a:endParaRPr>
                    </a:p>
                  </a:txBody>
                  <a:tcPr marL="9525" marR="9525" marT="9525" marB="0" anchor="b"/>
                </a:tc>
                <a:tc>
                  <a:txBody>
                    <a:bodyPr/>
                    <a:lstStyle/>
                    <a:p>
                      <a:pPr algn="ctr" fontAlgn="b"/>
                      <a:r>
                        <a:rPr lang="en-US" sz="1200" b="0" i="0" u="none" strike="noStrike">
                          <a:solidFill>
                            <a:srgbClr val="000000"/>
                          </a:solidFill>
                          <a:effectLst/>
                          <a:latin typeface="Calibri"/>
                        </a:rPr>
                        <a:t>Point of welding area shouldn't undergo any bend / crack .</a:t>
                      </a:r>
                    </a:p>
                  </a:txBody>
                  <a:tcPr marL="9525" marR="9525" marT="9525" marB="0" anchor="b"/>
                </a:tc>
                <a:tc>
                  <a:txBody>
                    <a:bodyPr/>
                    <a:lstStyle/>
                    <a:p>
                      <a:pPr algn="ctr" fontAlgn="b"/>
                      <a:r>
                        <a:rPr lang="en-US" sz="1200" b="0" i="0" u="none" strike="noStrike" dirty="0">
                          <a:solidFill>
                            <a:srgbClr val="000000"/>
                          </a:solidFill>
                          <a:effectLst/>
                          <a:latin typeface="Calibri"/>
                        </a:rPr>
                        <a:t>the bend and not at weld Material should break at a point near</a:t>
                      </a:r>
                    </a:p>
                  </a:txBody>
                  <a:tcPr marL="9525" marR="9525" marT="9525" marB="0" anchor="b"/>
                </a:tc>
                <a:tc>
                  <a:txBody>
                    <a:bodyPr/>
                    <a:lstStyle/>
                    <a:p>
                      <a:pPr algn="ctr" fontAlgn="b"/>
                      <a:r>
                        <a:rPr lang="en-IN" sz="1200" b="0" i="0" u="none" strike="noStrike" dirty="0">
                          <a:solidFill>
                            <a:srgbClr val="000000"/>
                          </a:solidFill>
                          <a:effectLst/>
                          <a:latin typeface="Calibri"/>
                        </a:rPr>
                        <a:t>Destructive testing</a:t>
                      </a:r>
                    </a:p>
                  </a:txBody>
                  <a:tcPr marL="9525" marR="9525" marT="9525" marB="0" anchor="b"/>
                </a:tc>
              </a:tr>
              <a:tr h="327965">
                <a:tc>
                  <a:txBody>
                    <a:bodyPr/>
                    <a:lstStyle/>
                    <a:p>
                      <a:pPr algn="ctr" fontAlgn="b"/>
                      <a:r>
                        <a:rPr lang="en-IN" sz="1200" b="1" i="0" u="none" strike="noStrike" dirty="0">
                          <a:solidFill>
                            <a:srgbClr val="000000"/>
                          </a:solidFill>
                          <a:effectLst/>
                          <a:latin typeface="Calibri"/>
                        </a:rPr>
                        <a:t>H &amp; A arms</a:t>
                      </a:r>
                    </a:p>
                  </a:txBody>
                  <a:tcPr marL="9525" marR="9525" marT="9525" marB="0" anchor="b"/>
                </a:tc>
                <a:tc>
                  <a:txBody>
                    <a:bodyPr/>
                    <a:lstStyle/>
                    <a:p>
                      <a:pPr algn="ctr" fontAlgn="b"/>
                      <a:r>
                        <a:rPr lang="en-US" sz="1200" b="0" i="0" u="none" strike="noStrike">
                          <a:solidFill>
                            <a:srgbClr val="000000"/>
                          </a:solidFill>
                          <a:effectLst/>
                          <a:latin typeface="Calibri"/>
                        </a:rPr>
                        <a:t>No bending occurs when landed on single wheel</a:t>
                      </a:r>
                    </a:p>
                  </a:txBody>
                  <a:tcPr marL="9525" marR="9525" marT="9525" marB="0" anchor="b"/>
                </a:tc>
                <a:tc>
                  <a:txBody>
                    <a:bodyPr/>
                    <a:lstStyle/>
                    <a:p>
                      <a:pPr algn="ctr" fontAlgn="b"/>
                      <a:r>
                        <a:rPr lang="en-US" sz="1200" b="0" i="0" u="none" strike="noStrike" dirty="0">
                          <a:solidFill>
                            <a:srgbClr val="000000"/>
                          </a:solidFill>
                          <a:effectLst/>
                          <a:latin typeface="Calibri"/>
                        </a:rPr>
                        <a:t>No deformations when heavy loads are applied</a:t>
                      </a:r>
                    </a:p>
                  </a:txBody>
                  <a:tcPr marL="9525" marR="9525" marT="9525" marB="0" anchor="b"/>
                </a:tc>
                <a:tc>
                  <a:txBody>
                    <a:bodyPr/>
                    <a:lstStyle/>
                    <a:p>
                      <a:pPr algn="ctr" fontAlgn="b"/>
                      <a:r>
                        <a:rPr lang="en-US" sz="1200" b="0" i="0" u="none" strike="noStrike" dirty="0">
                          <a:solidFill>
                            <a:srgbClr val="000000"/>
                          </a:solidFill>
                          <a:effectLst/>
                          <a:latin typeface="Calibri"/>
                        </a:rPr>
                        <a:t>Proper design with optimum F.O.S</a:t>
                      </a:r>
                    </a:p>
                  </a:txBody>
                  <a:tcPr marL="9525" marR="9525" marT="9525" marB="0" anchor="b"/>
                </a:tc>
              </a:tr>
              <a:tr h="338680">
                <a:tc>
                  <a:txBody>
                    <a:bodyPr/>
                    <a:lstStyle/>
                    <a:p>
                      <a:pPr algn="ctr" fontAlgn="b"/>
                      <a:r>
                        <a:rPr lang="en-IN" sz="1200" b="1" i="0" u="none" strike="noStrike" dirty="0">
                          <a:solidFill>
                            <a:srgbClr val="000000"/>
                          </a:solidFill>
                          <a:effectLst/>
                          <a:latin typeface="Calibri"/>
                        </a:rPr>
                        <a:t>Mountings</a:t>
                      </a:r>
                    </a:p>
                  </a:txBody>
                  <a:tcPr marL="9525" marR="9525" marT="9525" marB="0" anchor="b"/>
                </a:tc>
                <a:tc>
                  <a:txBody>
                    <a:bodyPr/>
                    <a:lstStyle/>
                    <a:p>
                      <a:pPr algn="ctr" fontAlgn="b"/>
                      <a:r>
                        <a:rPr lang="en-US" sz="1200" b="0" i="0" u="none" strike="noStrike" dirty="0">
                          <a:solidFill>
                            <a:srgbClr val="000000"/>
                          </a:solidFill>
                          <a:effectLst/>
                          <a:latin typeface="Calibri"/>
                        </a:rPr>
                        <a:t>No bending observed in sudden load</a:t>
                      </a:r>
                    </a:p>
                  </a:txBody>
                  <a:tcPr marL="9525" marR="9525" marT="9525" marB="0" anchor="b"/>
                </a:tc>
                <a:tc>
                  <a:txBody>
                    <a:bodyPr/>
                    <a:lstStyle/>
                    <a:p>
                      <a:pPr algn="ctr" fontAlgn="b"/>
                      <a:r>
                        <a:rPr lang="en-US" sz="1200" b="0" i="0" u="none" strike="noStrike" dirty="0">
                          <a:solidFill>
                            <a:srgbClr val="000000"/>
                          </a:solidFill>
                          <a:effectLst/>
                          <a:latin typeface="Calibri"/>
                        </a:rPr>
                        <a:t>No deformation is observed at weld /</a:t>
                      </a:r>
                      <a:br>
                        <a:rPr lang="en-US" sz="1200" b="0" i="0" u="none" strike="noStrike" dirty="0">
                          <a:solidFill>
                            <a:srgbClr val="000000"/>
                          </a:solidFill>
                          <a:effectLst/>
                          <a:latin typeface="Calibri"/>
                        </a:rPr>
                      </a:br>
                      <a:r>
                        <a:rPr lang="en-US" sz="1200" b="0" i="0" u="none" strike="noStrike" dirty="0">
                          <a:solidFill>
                            <a:srgbClr val="000000"/>
                          </a:solidFill>
                          <a:effectLst/>
                          <a:latin typeface="Calibri"/>
                        </a:rPr>
                        <a:t>clamp region</a:t>
                      </a:r>
                    </a:p>
                  </a:txBody>
                  <a:tcPr marL="9525" marR="9525" marT="9525" marB="0" anchor="b"/>
                </a:tc>
                <a:tc>
                  <a:txBody>
                    <a:bodyPr/>
                    <a:lstStyle/>
                    <a:p>
                      <a:pPr algn="ctr" fontAlgn="b"/>
                      <a:r>
                        <a:rPr lang="en-IN" sz="1200" b="0" i="0" u="none" strike="noStrike" dirty="0">
                          <a:solidFill>
                            <a:srgbClr val="000000"/>
                          </a:solidFill>
                          <a:effectLst/>
                          <a:latin typeface="Calibri"/>
                        </a:rPr>
                        <a:t>Triangulation and </a:t>
                      </a:r>
                      <a:r>
                        <a:rPr lang="en-IN" sz="1200" b="0" i="0" u="none" strike="noStrike" dirty="0" err="1">
                          <a:solidFill>
                            <a:srgbClr val="000000"/>
                          </a:solidFill>
                          <a:effectLst/>
                          <a:latin typeface="Calibri"/>
                        </a:rPr>
                        <a:t>Ansys</a:t>
                      </a:r>
                      <a:r>
                        <a:rPr lang="en-IN" sz="1200" b="0" i="0" u="none" strike="noStrike" dirty="0">
                          <a:solidFill>
                            <a:srgbClr val="000000"/>
                          </a:solidFill>
                          <a:effectLst/>
                          <a:latin typeface="Calibri"/>
                        </a:rPr>
                        <a:t> validation</a:t>
                      </a:r>
                    </a:p>
                  </a:txBody>
                  <a:tcPr marL="9525" marR="9525" marT="9525" marB="0" anchor="b"/>
                </a:tc>
              </a:tr>
            </a:tbl>
          </a:graphicData>
        </a:graphic>
      </p:graphicFrame>
    </p:spTree>
    <p:extLst>
      <p:ext uri="{BB962C8B-B14F-4D97-AF65-F5344CB8AC3E}">
        <p14:creationId xmlns:p14="http://schemas.microsoft.com/office/powerpoint/2010/main" val="39681783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6816" y="1484784"/>
            <a:ext cx="9430816" cy="2115666"/>
          </a:xfrm>
        </p:spPr>
        <p:txBody>
          <a:bodyPr>
            <a:normAutofit/>
          </a:bodyPr>
          <a:lstStyle/>
          <a:p>
            <a:r>
              <a:rPr lang="en-US" sz="8000" b="1" dirty="0" smtClean="0"/>
              <a:t>DFMEA</a:t>
            </a:r>
            <a:endParaRPr lang="en-IN" sz="8000" b="1" dirty="0"/>
          </a:p>
        </p:txBody>
      </p:sp>
      <p:sp>
        <p:nvSpPr>
          <p:cNvPr id="3" name="Subtitle 2"/>
          <p:cNvSpPr>
            <a:spLocks noGrp="1"/>
          </p:cNvSpPr>
          <p:nvPr>
            <p:ph type="subTitle" idx="1"/>
          </p:nvPr>
        </p:nvSpPr>
        <p:spPr/>
        <p:txBody>
          <a:bodyPr/>
          <a:lstStyle/>
          <a:p>
            <a:r>
              <a:rPr lang="en-US" b="1" u="sng" dirty="0" smtClean="0"/>
              <a:t>Design Failure mode &amp; effective analysis</a:t>
            </a:r>
            <a:endParaRPr lang="en-IN" b="1" u="sng" dirty="0"/>
          </a:p>
        </p:txBody>
      </p:sp>
    </p:spTree>
    <p:extLst>
      <p:ext uri="{BB962C8B-B14F-4D97-AF65-F5344CB8AC3E}">
        <p14:creationId xmlns:p14="http://schemas.microsoft.com/office/powerpoint/2010/main" val="1602668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55285222"/>
              </p:ext>
            </p:extLst>
          </p:nvPr>
        </p:nvGraphicFramePr>
        <p:xfrm>
          <a:off x="4" y="-91621"/>
          <a:ext cx="9144000" cy="3358233"/>
        </p:xfrm>
        <a:graphic>
          <a:graphicData uri="http://schemas.openxmlformats.org/drawingml/2006/table">
            <a:tbl>
              <a:tblPr firstRow="1" bandRow="1">
                <a:tableStyleId>{5C22544A-7EE6-4342-B048-85BDC9FD1C3A}</a:tableStyleId>
              </a:tblPr>
              <a:tblGrid>
                <a:gridCol w="1115612"/>
                <a:gridCol w="648072"/>
                <a:gridCol w="1224136"/>
                <a:gridCol w="288032"/>
                <a:gridCol w="792088"/>
                <a:gridCol w="432048"/>
                <a:gridCol w="1656184"/>
                <a:gridCol w="576064"/>
                <a:gridCol w="504056"/>
                <a:gridCol w="576064"/>
                <a:gridCol w="569644"/>
                <a:gridCol w="762000"/>
              </a:tblGrid>
              <a:tr h="424277">
                <a:tc>
                  <a:txBody>
                    <a:bodyPr/>
                    <a:lstStyle/>
                    <a:p>
                      <a:pPr algn="l" fontAlgn="b"/>
                      <a:r>
                        <a:rPr lang="en-IN" sz="1200" b="1" i="0" u="none" strike="noStrike" dirty="0">
                          <a:solidFill>
                            <a:srgbClr val="000000"/>
                          </a:solidFill>
                          <a:effectLst/>
                          <a:latin typeface="Calibri"/>
                        </a:rPr>
                        <a:t>Part</a:t>
                      </a:r>
                    </a:p>
                  </a:txBody>
                  <a:tcPr marL="9525" marR="9525" marT="9525" marB="0" anchor="b"/>
                </a:tc>
                <a:tc>
                  <a:txBody>
                    <a:bodyPr/>
                    <a:lstStyle/>
                    <a:p>
                      <a:pPr algn="l" fontAlgn="b"/>
                      <a:r>
                        <a:rPr lang="en-IN" sz="1200" b="1" i="0" u="none" strike="noStrike" dirty="0">
                          <a:solidFill>
                            <a:srgbClr val="000000"/>
                          </a:solidFill>
                          <a:effectLst/>
                          <a:latin typeface="Calibri"/>
                        </a:rPr>
                        <a:t>Failure mode</a:t>
                      </a:r>
                    </a:p>
                  </a:txBody>
                  <a:tcPr marL="9525" marR="9525" marT="9525" marB="0" anchor="b"/>
                </a:tc>
                <a:tc>
                  <a:txBody>
                    <a:bodyPr/>
                    <a:lstStyle/>
                    <a:p>
                      <a:pPr algn="l" fontAlgn="b"/>
                      <a:r>
                        <a:rPr lang="en-IN" sz="1200" b="1" i="0" u="none" strike="noStrike" dirty="0">
                          <a:solidFill>
                            <a:srgbClr val="000000"/>
                          </a:solidFill>
                          <a:effectLst/>
                          <a:latin typeface="Calibri"/>
                        </a:rPr>
                        <a:t>Potential effect(s) of failure</a:t>
                      </a:r>
                    </a:p>
                  </a:txBody>
                  <a:tcPr marL="9525" marR="9525" marT="9525" marB="0" anchor="b"/>
                </a:tc>
                <a:tc>
                  <a:txBody>
                    <a:bodyPr/>
                    <a:lstStyle/>
                    <a:p>
                      <a:pPr algn="l" fontAlgn="b"/>
                      <a:r>
                        <a:rPr lang="en-IN" sz="1200" b="1" i="0" u="none" strike="noStrike" dirty="0">
                          <a:solidFill>
                            <a:srgbClr val="000000"/>
                          </a:solidFill>
                          <a:effectLst/>
                          <a:latin typeface="Calibri"/>
                        </a:rPr>
                        <a:t>S</a:t>
                      </a:r>
                    </a:p>
                  </a:txBody>
                  <a:tcPr marL="9525" marR="9525" marT="9525" marB="0" anchor="b"/>
                </a:tc>
                <a:tc>
                  <a:txBody>
                    <a:bodyPr/>
                    <a:lstStyle/>
                    <a:p>
                      <a:pPr algn="l" fontAlgn="b"/>
                      <a:r>
                        <a:rPr lang="en-IN" sz="1200" b="1" i="0" u="none" strike="noStrike" dirty="0">
                          <a:solidFill>
                            <a:srgbClr val="000000"/>
                          </a:solidFill>
                          <a:effectLst/>
                          <a:latin typeface="Calibri"/>
                        </a:rPr>
                        <a:t>Potential cause(s)</a:t>
                      </a:r>
                    </a:p>
                  </a:txBody>
                  <a:tcPr marL="9525" marR="9525" marT="9525" marB="0" anchor="b"/>
                </a:tc>
                <a:tc>
                  <a:txBody>
                    <a:bodyPr/>
                    <a:lstStyle/>
                    <a:p>
                      <a:pPr algn="l" fontAlgn="b"/>
                      <a:r>
                        <a:rPr lang="en-IN" sz="1200" b="1" i="0" u="none" strike="noStrike" dirty="0">
                          <a:solidFill>
                            <a:srgbClr val="000000"/>
                          </a:solidFill>
                          <a:effectLst/>
                          <a:latin typeface="Calibri"/>
                        </a:rPr>
                        <a:t>o</a:t>
                      </a:r>
                    </a:p>
                  </a:txBody>
                  <a:tcPr marL="9525" marR="9525" marT="9525" marB="0" anchor="b"/>
                </a:tc>
                <a:tc>
                  <a:txBody>
                    <a:bodyPr/>
                    <a:lstStyle/>
                    <a:p>
                      <a:pPr algn="l" fontAlgn="b"/>
                      <a:r>
                        <a:rPr lang="en-IN" sz="1200" b="1" i="0" u="none" strike="noStrike" dirty="0">
                          <a:solidFill>
                            <a:srgbClr val="000000"/>
                          </a:solidFill>
                          <a:effectLst/>
                          <a:latin typeface="Calibri"/>
                        </a:rPr>
                        <a:t>Current design control</a:t>
                      </a:r>
                    </a:p>
                  </a:txBody>
                  <a:tcPr marL="9525" marR="9525" marT="9525" marB="0" anchor="b"/>
                </a:tc>
                <a:tc>
                  <a:txBody>
                    <a:bodyPr/>
                    <a:lstStyle/>
                    <a:p>
                      <a:pPr algn="l" fontAlgn="b"/>
                      <a:r>
                        <a:rPr lang="en-IN" sz="1200" b="1" i="0" u="none" strike="noStrike" dirty="0">
                          <a:solidFill>
                            <a:srgbClr val="000000"/>
                          </a:solidFill>
                          <a:effectLst/>
                          <a:latin typeface="Calibri"/>
                        </a:rPr>
                        <a:t>D</a:t>
                      </a:r>
                    </a:p>
                  </a:txBody>
                  <a:tcPr marL="9525" marR="9525" marT="9525" marB="0" anchor="b"/>
                </a:tc>
                <a:tc>
                  <a:txBody>
                    <a:bodyPr/>
                    <a:lstStyle/>
                    <a:p>
                      <a:pPr algn="l" fontAlgn="b"/>
                      <a:r>
                        <a:rPr lang="en-IN" sz="1200" b="1" i="0" u="none" strike="noStrike" dirty="0">
                          <a:solidFill>
                            <a:srgbClr val="000000"/>
                          </a:solidFill>
                          <a:effectLst/>
                          <a:latin typeface="Calibri"/>
                        </a:rPr>
                        <a:t>RPN</a:t>
                      </a:r>
                    </a:p>
                  </a:txBody>
                  <a:tcPr marL="9525" marR="9525" marT="9525" marB="0" anchor="b"/>
                </a:tc>
                <a:tc>
                  <a:txBody>
                    <a:bodyPr/>
                    <a:lstStyle/>
                    <a:p>
                      <a:pPr algn="l" fontAlgn="b"/>
                      <a:r>
                        <a:rPr lang="en-IN" sz="1200" b="1" i="0" u="none" strike="noStrike" dirty="0">
                          <a:solidFill>
                            <a:srgbClr val="000000"/>
                          </a:solidFill>
                          <a:effectLst/>
                          <a:latin typeface="Calibri"/>
                        </a:rPr>
                        <a:t>o</a:t>
                      </a:r>
                    </a:p>
                  </a:txBody>
                  <a:tcPr marL="9525" marR="9525" marT="9525" marB="0" anchor="b"/>
                </a:tc>
                <a:tc>
                  <a:txBody>
                    <a:bodyPr/>
                    <a:lstStyle/>
                    <a:p>
                      <a:pPr algn="l" fontAlgn="b"/>
                      <a:r>
                        <a:rPr lang="en-IN" sz="1200" b="1" i="0" u="none" strike="noStrike" dirty="0">
                          <a:solidFill>
                            <a:srgbClr val="000000"/>
                          </a:solidFill>
                          <a:effectLst/>
                          <a:latin typeface="Calibri"/>
                        </a:rPr>
                        <a:t>D</a:t>
                      </a:r>
                    </a:p>
                  </a:txBody>
                  <a:tcPr marL="9525" marR="9525" marT="9525" marB="0" anchor="b"/>
                </a:tc>
                <a:tc>
                  <a:txBody>
                    <a:bodyPr/>
                    <a:lstStyle/>
                    <a:p>
                      <a:pPr algn="l" fontAlgn="b"/>
                      <a:r>
                        <a:rPr lang="en-IN" sz="1200" b="1" i="0" u="none" strike="noStrike" dirty="0">
                          <a:solidFill>
                            <a:srgbClr val="000000"/>
                          </a:solidFill>
                          <a:effectLst/>
                          <a:latin typeface="Calibri"/>
                        </a:rPr>
                        <a:t>RP N</a:t>
                      </a:r>
                    </a:p>
                  </a:txBody>
                  <a:tcPr marL="9525" marR="9525" marT="9525" marB="0" anchor="b"/>
                </a:tc>
              </a:tr>
              <a:tr h="650168">
                <a:tc>
                  <a:txBody>
                    <a:bodyPr/>
                    <a:lstStyle/>
                    <a:p>
                      <a:pPr algn="l" fontAlgn="b"/>
                      <a:r>
                        <a:rPr lang="en-IN" sz="1100" b="0" i="0" u="none" strike="noStrike">
                          <a:solidFill>
                            <a:srgbClr val="000000"/>
                          </a:solidFill>
                          <a:effectLst/>
                          <a:latin typeface="Calibri"/>
                        </a:rPr>
                        <a:t>Suspension Arms</a:t>
                      </a:r>
                    </a:p>
                  </a:txBody>
                  <a:tcPr marL="9525" marR="9525" marT="9525" marB="0" anchor="b"/>
                </a:tc>
                <a:tc>
                  <a:txBody>
                    <a:bodyPr/>
                    <a:lstStyle/>
                    <a:p>
                      <a:pPr algn="l" fontAlgn="b"/>
                      <a:r>
                        <a:rPr lang="en-IN" sz="1100" b="0" i="0" u="none" strike="noStrike" dirty="0">
                          <a:solidFill>
                            <a:srgbClr val="000000"/>
                          </a:solidFill>
                          <a:effectLst/>
                          <a:latin typeface="Calibri"/>
                        </a:rPr>
                        <a:t>bend/break</a:t>
                      </a:r>
                    </a:p>
                  </a:txBody>
                  <a:tcPr marL="9525" marR="9525" marT="9525" marB="0" anchor="b"/>
                </a:tc>
                <a:tc>
                  <a:txBody>
                    <a:bodyPr/>
                    <a:lstStyle/>
                    <a:p>
                      <a:pPr algn="l" fontAlgn="b"/>
                      <a:r>
                        <a:rPr lang="en-IN" sz="1100" b="0" i="0" u="none" strike="noStrike" dirty="0">
                          <a:solidFill>
                            <a:srgbClr val="000000"/>
                          </a:solidFill>
                          <a:effectLst/>
                          <a:latin typeface="Calibri"/>
                        </a:rPr>
                        <a:t>damage to system</a:t>
                      </a:r>
                    </a:p>
                  </a:txBody>
                  <a:tcPr marL="9525" marR="9525" marT="9525" marB="0" anchor="b"/>
                </a:tc>
                <a:tc>
                  <a:txBody>
                    <a:bodyPr/>
                    <a:lstStyle/>
                    <a:p>
                      <a:pPr algn="r" fontAlgn="b"/>
                      <a:r>
                        <a:rPr lang="en-IN" sz="1100" b="0" i="0" u="none" strike="noStrike" dirty="0">
                          <a:solidFill>
                            <a:srgbClr val="000000"/>
                          </a:solidFill>
                          <a:effectLst/>
                          <a:latin typeface="Calibri"/>
                        </a:rPr>
                        <a:t>6</a:t>
                      </a:r>
                    </a:p>
                  </a:txBody>
                  <a:tcPr marL="9525" marR="9525" marT="9525" marB="0" anchor="b"/>
                </a:tc>
                <a:tc>
                  <a:txBody>
                    <a:bodyPr/>
                    <a:lstStyle/>
                    <a:p>
                      <a:pPr algn="l" fontAlgn="b"/>
                      <a:r>
                        <a:rPr lang="en-IN" sz="1100" b="0" i="0" u="none" strike="noStrike">
                          <a:solidFill>
                            <a:srgbClr val="000000"/>
                          </a:solidFill>
                          <a:effectLst/>
                          <a:latin typeface="Calibri"/>
                        </a:rPr>
                        <a:t>Axial stress&gt;yeild stress</a:t>
                      </a:r>
                    </a:p>
                  </a:txBody>
                  <a:tcPr marL="9525" marR="9525" marT="9525" marB="0" anchor="b"/>
                </a:tc>
                <a:tc>
                  <a:txBody>
                    <a:bodyPr/>
                    <a:lstStyle/>
                    <a:p>
                      <a:pPr algn="r" fontAlgn="b"/>
                      <a:r>
                        <a:rPr lang="en-IN" sz="1100" b="0" i="0" u="none" strike="noStrike">
                          <a:solidFill>
                            <a:srgbClr val="000000"/>
                          </a:solidFill>
                          <a:effectLst/>
                          <a:latin typeface="Calibri"/>
                        </a:rPr>
                        <a:t>6</a:t>
                      </a:r>
                    </a:p>
                  </a:txBody>
                  <a:tcPr marL="9525" marR="9525" marT="9525" marB="0" anchor="b"/>
                </a:tc>
                <a:tc>
                  <a:txBody>
                    <a:bodyPr/>
                    <a:lstStyle/>
                    <a:p>
                      <a:pPr algn="l" fontAlgn="b"/>
                      <a:r>
                        <a:rPr lang="en-IN" sz="1100" b="0" i="0" u="none" strike="noStrike">
                          <a:solidFill>
                            <a:srgbClr val="000000"/>
                          </a:solidFill>
                          <a:effectLst/>
                          <a:latin typeface="Calibri"/>
                        </a:rPr>
                        <a:t>Effective analysis</a:t>
                      </a:r>
                    </a:p>
                  </a:txBody>
                  <a:tcPr marL="9525" marR="9525" marT="9525" marB="0" anchor="b"/>
                </a:tc>
                <a:tc>
                  <a:txBody>
                    <a:bodyPr/>
                    <a:lstStyle/>
                    <a:p>
                      <a:pPr algn="r" fontAlgn="b"/>
                      <a:r>
                        <a:rPr lang="en-IN" sz="1100" b="0" i="0" u="none" strike="noStrike">
                          <a:solidFill>
                            <a:srgbClr val="000000"/>
                          </a:solidFill>
                          <a:effectLst/>
                          <a:latin typeface="Calibri"/>
                        </a:rPr>
                        <a:t>5</a:t>
                      </a:r>
                    </a:p>
                  </a:txBody>
                  <a:tcPr marL="9525" marR="9525" marT="9525" marB="0" anchor="b"/>
                </a:tc>
                <a:tc>
                  <a:txBody>
                    <a:bodyPr/>
                    <a:lstStyle/>
                    <a:p>
                      <a:pPr algn="r" fontAlgn="b"/>
                      <a:r>
                        <a:rPr lang="en-IN" sz="1100" b="0" i="0" u="none" strike="noStrike">
                          <a:solidFill>
                            <a:srgbClr val="000000"/>
                          </a:solidFill>
                          <a:effectLst/>
                          <a:latin typeface="Calibri"/>
                        </a:rPr>
                        <a:t>180</a:t>
                      </a:r>
                    </a:p>
                  </a:txBody>
                  <a:tcPr marL="9525" marR="9525" marT="9525" marB="0" anchor="b"/>
                </a:tc>
                <a:tc>
                  <a:txBody>
                    <a:bodyPr/>
                    <a:lstStyle/>
                    <a:p>
                      <a:pPr algn="r" fontAlgn="b"/>
                      <a:r>
                        <a:rPr lang="en-IN" sz="1100" b="0" i="0" u="none" strike="noStrike">
                          <a:solidFill>
                            <a:srgbClr val="000000"/>
                          </a:solidFill>
                          <a:effectLst/>
                          <a:latin typeface="Calibri"/>
                        </a:rPr>
                        <a:t>5</a:t>
                      </a:r>
                    </a:p>
                  </a:txBody>
                  <a:tcPr marL="9525" marR="9525" marT="9525" marB="0" anchor="b"/>
                </a:tc>
                <a:tc>
                  <a:txBody>
                    <a:bodyPr/>
                    <a:lstStyle/>
                    <a:p>
                      <a:pPr algn="r" fontAlgn="b"/>
                      <a:r>
                        <a:rPr lang="en-IN" sz="1100" b="0" i="0" u="none" strike="noStrike">
                          <a:solidFill>
                            <a:srgbClr val="000000"/>
                          </a:solidFill>
                          <a:effectLst/>
                          <a:latin typeface="Calibri"/>
                        </a:rPr>
                        <a:t>2</a:t>
                      </a:r>
                    </a:p>
                  </a:txBody>
                  <a:tcPr marL="9525" marR="9525" marT="9525" marB="0" anchor="b"/>
                </a:tc>
                <a:tc>
                  <a:txBody>
                    <a:bodyPr/>
                    <a:lstStyle/>
                    <a:p>
                      <a:pPr algn="r" fontAlgn="b"/>
                      <a:r>
                        <a:rPr lang="en-IN" sz="1100" b="0" i="0" u="none" strike="noStrike">
                          <a:solidFill>
                            <a:srgbClr val="000000"/>
                          </a:solidFill>
                          <a:effectLst/>
                          <a:latin typeface="Calibri"/>
                        </a:rPr>
                        <a:t>50</a:t>
                      </a:r>
                    </a:p>
                  </a:txBody>
                  <a:tcPr marL="9525" marR="9525" marT="9525" marB="0" anchor="b"/>
                </a:tc>
              </a:tr>
              <a:tr h="492093">
                <a:tc>
                  <a:txBody>
                    <a:bodyPr/>
                    <a:lstStyle/>
                    <a:p>
                      <a:pPr algn="l" fontAlgn="b"/>
                      <a:r>
                        <a:rPr lang="en-IN" sz="1100" b="0" i="0" u="none" strike="noStrike">
                          <a:solidFill>
                            <a:srgbClr val="000000"/>
                          </a:solidFill>
                          <a:effectLst/>
                          <a:latin typeface="Calibri"/>
                        </a:rPr>
                        <a:t>brackets</a:t>
                      </a:r>
                    </a:p>
                  </a:txBody>
                  <a:tcPr marL="9525" marR="9525" marT="9525" marB="0" anchor="b"/>
                </a:tc>
                <a:tc>
                  <a:txBody>
                    <a:bodyPr/>
                    <a:lstStyle/>
                    <a:p>
                      <a:pPr algn="l" fontAlgn="b"/>
                      <a:r>
                        <a:rPr lang="en-IN" sz="1100" b="0" i="0" u="none" strike="noStrike">
                          <a:solidFill>
                            <a:srgbClr val="000000"/>
                          </a:solidFill>
                          <a:effectLst/>
                          <a:latin typeface="Calibri"/>
                        </a:rPr>
                        <a:t>fracture</a:t>
                      </a:r>
                    </a:p>
                  </a:txBody>
                  <a:tcPr marL="9525" marR="9525" marT="9525" marB="0" anchor="b"/>
                </a:tc>
                <a:tc>
                  <a:txBody>
                    <a:bodyPr/>
                    <a:lstStyle/>
                    <a:p>
                      <a:pPr algn="l" fontAlgn="b"/>
                      <a:r>
                        <a:rPr lang="en-IN" sz="1100" b="0" i="0" u="none" strike="noStrike">
                          <a:solidFill>
                            <a:srgbClr val="000000"/>
                          </a:solidFill>
                          <a:effectLst/>
                          <a:latin typeface="Calibri"/>
                        </a:rPr>
                        <a:t>Structural damage to system</a:t>
                      </a:r>
                    </a:p>
                  </a:txBody>
                  <a:tcPr marL="9525" marR="9525" marT="9525" marB="0" anchor="b"/>
                </a:tc>
                <a:tc>
                  <a:txBody>
                    <a:bodyPr/>
                    <a:lstStyle/>
                    <a:p>
                      <a:pPr algn="r" fontAlgn="b"/>
                      <a:r>
                        <a:rPr lang="en-IN" sz="1100" b="0" i="0" u="none" strike="noStrike" dirty="0">
                          <a:solidFill>
                            <a:srgbClr val="000000"/>
                          </a:solidFill>
                          <a:effectLst/>
                          <a:latin typeface="Calibri"/>
                        </a:rPr>
                        <a:t>9</a:t>
                      </a:r>
                    </a:p>
                  </a:txBody>
                  <a:tcPr marL="9525" marR="9525" marT="9525" marB="0" anchor="b"/>
                </a:tc>
                <a:tc>
                  <a:txBody>
                    <a:bodyPr/>
                    <a:lstStyle/>
                    <a:p>
                      <a:pPr algn="l" fontAlgn="b"/>
                      <a:r>
                        <a:rPr lang="en-IN" sz="1100" b="0" i="0" u="none" strike="noStrike" dirty="0">
                          <a:solidFill>
                            <a:srgbClr val="000000"/>
                          </a:solidFill>
                          <a:effectLst/>
                          <a:latin typeface="Calibri"/>
                        </a:rPr>
                        <a:t>Constant vibration</a:t>
                      </a:r>
                    </a:p>
                  </a:txBody>
                  <a:tcPr marL="9525" marR="9525" marT="9525" marB="0" anchor="b"/>
                </a:tc>
                <a:tc>
                  <a:txBody>
                    <a:bodyPr/>
                    <a:lstStyle/>
                    <a:p>
                      <a:pPr algn="r" fontAlgn="b"/>
                      <a:r>
                        <a:rPr lang="en-IN" sz="1100" b="0" i="0" u="none" strike="noStrike" dirty="0">
                          <a:solidFill>
                            <a:srgbClr val="000000"/>
                          </a:solidFill>
                          <a:effectLst/>
                          <a:latin typeface="Calibri"/>
                        </a:rPr>
                        <a:t>5</a:t>
                      </a:r>
                    </a:p>
                  </a:txBody>
                  <a:tcPr marL="9525" marR="9525" marT="9525" marB="0" anchor="b"/>
                </a:tc>
                <a:tc>
                  <a:txBody>
                    <a:bodyPr/>
                    <a:lstStyle/>
                    <a:p>
                      <a:pPr algn="l" fontAlgn="b"/>
                      <a:r>
                        <a:rPr lang="en-IN" sz="1100" b="0" i="0" u="none" strike="noStrike" dirty="0">
                          <a:solidFill>
                            <a:srgbClr val="000000"/>
                          </a:solidFill>
                          <a:effectLst/>
                          <a:latin typeface="Calibri"/>
                        </a:rPr>
                        <a:t>Reduced vibration</a:t>
                      </a:r>
                    </a:p>
                  </a:txBody>
                  <a:tcPr marL="9525" marR="9525" marT="9525" marB="0" anchor="b"/>
                </a:tc>
                <a:tc>
                  <a:txBody>
                    <a:bodyPr/>
                    <a:lstStyle/>
                    <a:p>
                      <a:pPr algn="r" fontAlgn="b"/>
                      <a:r>
                        <a:rPr lang="en-IN" sz="1100" b="0" i="0" u="none" strike="noStrike">
                          <a:solidFill>
                            <a:srgbClr val="000000"/>
                          </a:solidFill>
                          <a:effectLst/>
                          <a:latin typeface="Calibri"/>
                        </a:rPr>
                        <a:t>6</a:t>
                      </a:r>
                    </a:p>
                  </a:txBody>
                  <a:tcPr marL="9525" marR="9525" marT="9525" marB="0" anchor="b"/>
                </a:tc>
                <a:tc>
                  <a:txBody>
                    <a:bodyPr/>
                    <a:lstStyle/>
                    <a:p>
                      <a:pPr algn="r" fontAlgn="b"/>
                      <a:r>
                        <a:rPr lang="en-IN" sz="1100" b="0" i="0" u="none" strike="noStrike">
                          <a:solidFill>
                            <a:srgbClr val="000000"/>
                          </a:solidFill>
                          <a:effectLst/>
                          <a:latin typeface="Calibri"/>
                        </a:rPr>
                        <a:t>270</a:t>
                      </a:r>
                    </a:p>
                  </a:txBody>
                  <a:tcPr marL="9525" marR="9525" marT="9525" marB="0" anchor="b"/>
                </a:tc>
                <a:tc>
                  <a:txBody>
                    <a:bodyPr/>
                    <a:lstStyle/>
                    <a:p>
                      <a:pPr algn="r" fontAlgn="b"/>
                      <a:r>
                        <a:rPr lang="en-IN" sz="1100" b="0" i="0" u="none" strike="noStrike">
                          <a:solidFill>
                            <a:srgbClr val="000000"/>
                          </a:solidFill>
                          <a:effectLst/>
                          <a:latin typeface="Calibri"/>
                        </a:rPr>
                        <a:t>4</a:t>
                      </a:r>
                    </a:p>
                  </a:txBody>
                  <a:tcPr marL="9525" marR="9525" marT="9525" marB="0" anchor="b"/>
                </a:tc>
                <a:tc>
                  <a:txBody>
                    <a:bodyPr/>
                    <a:lstStyle/>
                    <a:p>
                      <a:pPr algn="r" fontAlgn="b"/>
                      <a:r>
                        <a:rPr lang="en-IN" sz="1100" b="0" i="0" u="none" strike="noStrike">
                          <a:solidFill>
                            <a:srgbClr val="000000"/>
                          </a:solidFill>
                          <a:effectLst/>
                          <a:latin typeface="Calibri"/>
                        </a:rPr>
                        <a:t>4</a:t>
                      </a:r>
                    </a:p>
                  </a:txBody>
                  <a:tcPr marL="9525" marR="9525" marT="9525" marB="0" anchor="b"/>
                </a:tc>
                <a:tc>
                  <a:txBody>
                    <a:bodyPr/>
                    <a:lstStyle/>
                    <a:p>
                      <a:pPr algn="l" fontAlgn="b"/>
                      <a:r>
                        <a:rPr lang="en-IN" sz="1100" b="0" i="0" u="none" strike="noStrike">
                          <a:solidFill>
                            <a:srgbClr val="000000"/>
                          </a:solidFill>
                          <a:effectLst/>
                          <a:latin typeface="Calibri"/>
                        </a:rPr>
                        <a:t>11 2</a:t>
                      </a:r>
                    </a:p>
                  </a:txBody>
                  <a:tcPr marL="9525" marR="9525" marT="9525" marB="0" anchor="b"/>
                </a:tc>
              </a:tr>
              <a:tr h="706021">
                <a:tc>
                  <a:txBody>
                    <a:bodyPr/>
                    <a:lstStyle/>
                    <a:p>
                      <a:pPr algn="l" fontAlgn="b"/>
                      <a:r>
                        <a:rPr lang="en-IN" sz="1100" b="0" i="0" u="none" strike="noStrike">
                          <a:solidFill>
                            <a:srgbClr val="000000"/>
                          </a:solidFill>
                          <a:effectLst/>
                          <a:latin typeface="Calibri"/>
                        </a:rPr>
                        <a:t>Braking System</a:t>
                      </a:r>
                    </a:p>
                  </a:txBody>
                  <a:tcPr marL="9525" marR="9525" marT="9525" marB="0" anchor="b"/>
                </a:tc>
                <a:tc>
                  <a:txBody>
                    <a:bodyPr/>
                    <a:lstStyle/>
                    <a:p>
                      <a:pPr algn="l" fontAlgn="b"/>
                      <a:r>
                        <a:rPr lang="en-IN" sz="1100" b="0" i="0" u="none" strike="noStrike">
                          <a:solidFill>
                            <a:srgbClr val="000000"/>
                          </a:solidFill>
                          <a:effectLst/>
                          <a:latin typeface="Calibri"/>
                        </a:rPr>
                        <a:t>Wheels not locking</a:t>
                      </a:r>
                    </a:p>
                  </a:txBody>
                  <a:tcPr marL="9525" marR="9525" marT="9525" marB="0" anchor="b"/>
                </a:tc>
                <a:tc>
                  <a:txBody>
                    <a:bodyPr/>
                    <a:lstStyle/>
                    <a:p>
                      <a:pPr algn="l" fontAlgn="b"/>
                      <a:r>
                        <a:rPr lang="en-IN" sz="1100" b="0" i="0" u="none" strike="noStrike">
                          <a:solidFill>
                            <a:srgbClr val="000000"/>
                          </a:solidFill>
                          <a:effectLst/>
                          <a:latin typeface="Calibri"/>
                        </a:rPr>
                        <a:t>Vehicle fails to stop</a:t>
                      </a:r>
                    </a:p>
                  </a:txBody>
                  <a:tcPr marL="9525" marR="9525" marT="9525" marB="0" anchor="b"/>
                </a:tc>
                <a:tc>
                  <a:txBody>
                    <a:bodyPr/>
                    <a:lstStyle/>
                    <a:p>
                      <a:pPr algn="r" fontAlgn="b"/>
                      <a:r>
                        <a:rPr lang="en-IN" sz="1100" b="0" i="0" u="none" strike="noStrike">
                          <a:solidFill>
                            <a:srgbClr val="000000"/>
                          </a:solidFill>
                          <a:effectLst/>
                          <a:latin typeface="Calibri"/>
                        </a:rPr>
                        <a:t>10</a:t>
                      </a:r>
                    </a:p>
                  </a:txBody>
                  <a:tcPr marL="9525" marR="9525" marT="9525" marB="0" anchor="b"/>
                </a:tc>
                <a:tc>
                  <a:txBody>
                    <a:bodyPr/>
                    <a:lstStyle/>
                    <a:p>
                      <a:pPr algn="l" fontAlgn="b"/>
                      <a:r>
                        <a:rPr lang="en-IN" sz="1100" b="0" i="0" u="none" strike="noStrike">
                          <a:solidFill>
                            <a:srgbClr val="000000"/>
                          </a:solidFill>
                          <a:effectLst/>
                          <a:latin typeface="Calibri"/>
                        </a:rPr>
                        <a:t>Improper bleeding/brake force</a:t>
                      </a:r>
                    </a:p>
                  </a:txBody>
                  <a:tcPr marL="9525" marR="9525" marT="9525" marB="0" anchor="b"/>
                </a:tc>
                <a:tc>
                  <a:txBody>
                    <a:bodyPr/>
                    <a:lstStyle/>
                    <a:p>
                      <a:pPr algn="r" fontAlgn="b"/>
                      <a:r>
                        <a:rPr lang="en-IN" sz="1100" b="0" i="0" u="none" strike="noStrike">
                          <a:solidFill>
                            <a:srgbClr val="000000"/>
                          </a:solidFill>
                          <a:effectLst/>
                          <a:latin typeface="Calibri"/>
                        </a:rPr>
                        <a:t>7</a:t>
                      </a:r>
                    </a:p>
                  </a:txBody>
                  <a:tcPr marL="9525" marR="9525" marT="9525" marB="0" anchor="b"/>
                </a:tc>
                <a:tc>
                  <a:txBody>
                    <a:bodyPr/>
                    <a:lstStyle/>
                    <a:p>
                      <a:pPr algn="l" fontAlgn="b"/>
                      <a:r>
                        <a:rPr lang="en-US" sz="1100" b="0" i="0" u="none" strike="noStrike" dirty="0">
                          <a:solidFill>
                            <a:srgbClr val="000000"/>
                          </a:solidFill>
                          <a:effectLst/>
                          <a:latin typeface="Calibri"/>
                        </a:rPr>
                        <a:t>Proper Bleeding is </a:t>
                      </a:r>
                      <a:r>
                        <a:rPr lang="en-US" sz="1100" b="0" i="0" u="none" strike="noStrike" dirty="0" err="1">
                          <a:solidFill>
                            <a:srgbClr val="000000"/>
                          </a:solidFill>
                          <a:effectLst/>
                          <a:latin typeface="Calibri"/>
                        </a:rPr>
                        <a:t>done,Effective</a:t>
                      </a:r>
                      <a:r>
                        <a:rPr lang="en-US" sz="1100" b="0" i="0" u="none" strike="noStrike" dirty="0">
                          <a:solidFill>
                            <a:srgbClr val="000000"/>
                          </a:solidFill>
                          <a:effectLst/>
                          <a:latin typeface="Calibri"/>
                        </a:rPr>
                        <a:t> design of pedal ratio and travel</a:t>
                      </a:r>
                    </a:p>
                  </a:txBody>
                  <a:tcPr marL="9525" marR="9525" marT="9525" marB="0" anchor="b"/>
                </a:tc>
                <a:tc>
                  <a:txBody>
                    <a:bodyPr/>
                    <a:lstStyle/>
                    <a:p>
                      <a:pPr algn="r" fontAlgn="b"/>
                      <a:r>
                        <a:rPr lang="en-IN" sz="1100" b="0" i="0" u="none" strike="noStrike" dirty="0">
                          <a:solidFill>
                            <a:srgbClr val="000000"/>
                          </a:solidFill>
                          <a:effectLst/>
                          <a:latin typeface="Calibri"/>
                        </a:rPr>
                        <a:t>3</a:t>
                      </a:r>
                    </a:p>
                  </a:txBody>
                  <a:tcPr marL="9525" marR="9525" marT="9525" marB="0" anchor="b"/>
                </a:tc>
                <a:tc>
                  <a:txBody>
                    <a:bodyPr/>
                    <a:lstStyle/>
                    <a:p>
                      <a:pPr algn="r" fontAlgn="b"/>
                      <a:r>
                        <a:rPr lang="en-IN" sz="1100" b="0" i="0" u="none" strike="noStrike">
                          <a:solidFill>
                            <a:srgbClr val="000000"/>
                          </a:solidFill>
                          <a:effectLst/>
                          <a:latin typeface="Calibri"/>
                        </a:rPr>
                        <a:t>210</a:t>
                      </a:r>
                    </a:p>
                  </a:txBody>
                  <a:tcPr marL="9525" marR="9525" marT="9525" marB="0" anchor="b"/>
                </a:tc>
                <a:tc>
                  <a:txBody>
                    <a:bodyPr/>
                    <a:lstStyle/>
                    <a:p>
                      <a:pPr algn="r" fontAlgn="b"/>
                      <a:r>
                        <a:rPr lang="en-IN" sz="1100" b="0" i="0" u="none" strike="noStrike">
                          <a:solidFill>
                            <a:srgbClr val="000000"/>
                          </a:solidFill>
                          <a:effectLst/>
                          <a:latin typeface="Calibri"/>
                        </a:rPr>
                        <a:t>3</a:t>
                      </a:r>
                    </a:p>
                  </a:txBody>
                  <a:tcPr marL="9525" marR="9525" marT="9525" marB="0" anchor="b"/>
                </a:tc>
                <a:tc>
                  <a:txBody>
                    <a:bodyPr/>
                    <a:lstStyle/>
                    <a:p>
                      <a:pPr algn="r" fontAlgn="b"/>
                      <a:r>
                        <a:rPr lang="en-IN" sz="1100" b="0" i="0" u="none" strike="noStrike">
                          <a:solidFill>
                            <a:srgbClr val="000000"/>
                          </a:solidFill>
                          <a:effectLst/>
                          <a:latin typeface="Calibri"/>
                        </a:rPr>
                        <a:t>3</a:t>
                      </a:r>
                    </a:p>
                  </a:txBody>
                  <a:tcPr marL="9525" marR="9525" marT="9525" marB="0" anchor="b"/>
                </a:tc>
                <a:tc>
                  <a:txBody>
                    <a:bodyPr/>
                    <a:lstStyle/>
                    <a:p>
                      <a:pPr algn="r" fontAlgn="b"/>
                      <a:r>
                        <a:rPr lang="en-IN" sz="1100" b="0" i="0" u="none" strike="noStrike" dirty="0">
                          <a:solidFill>
                            <a:srgbClr val="000000"/>
                          </a:solidFill>
                          <a:effectLst/>
                          <a:latin typeface="Calibri"/>
                        </a:rPr>
                        <a:t>81</a:t>
                      </a:r>
                    </a:p>
                  </a:txBody>
                  <a:tcPr marL="9525" marR="9525" marT="9525" marB="0" anchor="b"/>
                </a:tc>
              </a:tr>
              <a:tr h="573229">
                <a:tc>
                  <a:txBody>
                    <a:bodyPr/>
                    <a:lstStyle/>
                    <a:p>
                      <a:pPr algn="l" fontAlgn="b"/>
                      <a:r>
                        <a:rPr lang="en-IN" sz="1100" b="0" i="0" u="none" strike="noStrike">
                          <a:solidFill>
                            <a:srgbClr val="000000"/>
                          </a:solidFill>
                          <a:effectLst/>
                          <a:latin typeface="Calibri"/>
                        </a:rPr>
                        <a:t>Tie Rods</a:t>
                      </a:r>
                    </a:p>
                  </a:txBody>
                  <a:tcPr marL="9525" marR="9525" marT="9525" marB="0" anchor="b"/>
                </a:tc>
                <a:tc>
                  <a:txBody>
                    <a:bodyPr/>
                    <a:lstStyle/>
                    <a:p>
                      <a:pPr algn="l" fontAlgn="b"/>
                      <a:r>
                        <a:rPr lang="en-IN" sz="1100" b="0" i="0" u="none" strike="noStrike">
                          <a:solidFill>
                            <a:srgbClr val="000000"/>
                          </a:solidFill>
                          <a:effectLst/>
                          <a:latin typeface="Calibri"/>
                        </a:rPr>
                        <a:t>bending/buc kling</a:t>
                      </a:r>
                    </a:p>
                  </a:txBody>
                  <a:tcPr marL="9525" marR="9525" marT="9525" marB="0" anchor="b"/>
                </a:tc>
                <a:tc>
                  <a:txBody>
                    <a:bodyPr/>
                    <a:lstStyle/>
                    <a:p>
                      <a:pPr algn="l" fontAlgn="b"/>
                      <a:r>
                        <a:rPr lang="en-IN" sz="1100" b="0" i="0" u="none" strike="noStrike">
                          <a:solidFill>
                            <a:srgbClr val="000000"/>
                          </a:solidFill>
                          <a:effectLst/>
                          <a:latin typeface="Calibri"/>
                        </a:rPr>
                        <a:t>Steering system fails</a:t>
                      </a:r>
                    </a:p>
                  </a:txBody>
                  <a:tcPr marL="9525" marR="9525" marT="9525" marB="0" anchor="b"/>
                </a:tc>
                <a:tc>
                  <a:txBody>
                    <a:bodyPr/>
                    <a:lstStyle/>
                    <a:p>
                      <a:pPr algn="r" fontAlgn="b"/>
                      <a:r>
                        <a:rPr lang="en-IN" sz="1100" b="0" i="0" u="none" strike="noStrike">
                          <a:solidFill>
                            <a:srgbClr val="000000"/>
                          </a:solidFill>
                          <a:effectLst/>
                          <a:latin typeface="Calibri"/>
                        </a:rPr>
                        <a:t>7</a:t>
                      </a:r>
                    </a:p>
                  </a:txBody>
                  <a:tcPr marL="9525" marR="9525" marT="9525" marB="0" anchor="b"/>
                </a:tc>
                <a:tc>
                  <a:txBody>
                    <a:bodyPr/>
                    <a:lstStyle/>
                    <a:p>
                      <a:pPr algn="l" fontAlgn="b"/>
                      <a:r>
                        <a:rPr lang="en-IN" sz="1100" b="0" i="0" u="none" strike="noStrike">
                          <a:solidFill>
                            <a:srgbClr val="000000"/>
                          </a:solidFill>
                          <a:effectLst/>
                          <a:latin typeface="Calibri"/>
                        </a:rPr>
                        <a:t>Excess load</a:t>
                      </a:r>
                    </a:p>
                  </a:txBody>
                  <a:tcPr marL="9525" marR="9525" marT="9525" marB="0" anchor="b"/>
                </a:tc>
                <a:tc>
                  <a:txBody>
                    <a:bodyPr/>
                    <a:lstStyle/>
                    <a:p>
                      <a:pPr algn="r" fontAlgn="b"/>
                      <a:r>
                        <a:rPr lang="en-IN" sz="1100" b="0" i="0" u="none" strike="noStrike">
                          <a:solidFill>
                            <a:srgbClr val="000000"/>
                          </a:solidFill>
                          <a:effectLst/>
                          <a:latin typeface="Calibri"/>
                        </a:rPr>
                        <a:t>5</a:t>
                      </a:r>
                    </a:p>
                  </a:txBody>
                  <a:tcPr marL="9525" marR="9525" marT="9525" marB="0" anchor="b"/>
                </a:tc>
                <a:tc>
                  <a:txBody>
                    <a:bodyPr/>
                    <a:lstStyle/>
                    <a:p>
                      <a:pPr algn="l" fontAlgn="b"/>
                      <a:r>
                        <a:rPr lang="en-US" sz="1100" b="0" i="0" u="none" strike="noStrike">
                          <a:solidFill>
                            <a:srgbClr val="000000"/>
                          </a:solidFill>
                          <a:effectLst/>
                          <a:latin typeface="Calibri"/>
                        </a:rPr>
                        <a:t>Bucking Analysis of tie rods by calculating effective bucklive forces</a:t>
                      </a:r>
                    </a:p>
                  </a:txBody>
                  <a:tcPr marL="9525" marR="9525" marT="9525" marB="0" anchor="b"/>
                </a:tc>
                <a:tc>
                  <a:txBody>
                    <a:bodyPr/>
                    <a:lstStyle/>
                    <a:p>
                      <a:pPr algn="r" fontAlgn="b"/>
                      <a:r>
                        <a:rPr lang="en-IN" sz="1100" b="0" i="0" u="none" strike="noStrike">
                          <a:solidFill>
                            <a:srgbClr val="000000"/>
                          </a:solidFill>
                          <a:effectLst/>
                          <a:latin typeface="Calibri"/>
                        </a:rPr>
                        <a:t>5</a:t>
                      </a:r>
                    </a:p>
                  </a:txBody>
                  <a:tcPr marL="9525" marR="9525" marT="9525" marB="0" anchor="b"/>
                </a:tc>
                <a:tc>
                  <a:txBody>
                    <a:bodyPr/>
                    <a:lstStyle/>
                    <a:p>
                      <a:pPr algn="r" fontAlgn="b"/>
                      <a:r>
                        <a:rPr lang="en-IN" sz="1100" b="0" i="0" u="none" strike="noStrike" dirty="0">
                          <a:solidFill>
                            <a:srgbClr val="000000"/>
                          </a:solidFill>
                          <a:effectLst/>
                          <a:latin typeface="Calibri"/>
                        </a:rPr>
                        <a:t>175</a:t>
                      </a:r>
                    </a:p>
                  </a:txBody>
                  <a:tcPr marL="9525" marR="9525" marT="9525" marB="0" anchor="b"/>
                </a:tc>
                <a:tc>
                  <a:txBody>
                    <a:bodyPr/>
                    <a:lstStyle/>
                    <a:p>
                      <a:pPr algn="r" fontAlgn="b"/>
                      <a:r>
                        <a:rPr lang="en-IN" sz="1100" b="0" i="0" u="none" strike="noStrike" dirty="0">
                          <a:solidFill>
                            <a:srgbClr val="000000"/>
                          </a:solidFill>
                          <a:effectLst/>
                          <a:latin typeface="Calibri"/>
                        </a:rPr>
                        <a:t>4</a:t>
                      </a:r>
                    </a:p>
                  </a:txBody>
                  <a:tcPr marL="9525" marR="9525" marT="9525" marB="0" anchor="b"/>
                </a:tc>
                <a:tc>
                  <a:txBody>
                    <a:bodyPr/>
                    <a:lstStyle/>
                    <a:p>
                      <a:pPr algn="r" fontAlgn="b"/>
                      <a:r>
                        <a:rPr lang="en-IN" sz="1100" b="0" i="0" u="none" strike="noStrike" dirty="0">
                          <a:solidFill>
                            <a:srgbClr val="000000"/>
                          </a:solidFill>
                          <a:effectLst/>
                          <a:latin typeface="Calibri"/>
                        </a:rPr>
                        <a:t>4</a:t>
                      </a:r>
                    </a:p>
                  </a:txBody>
                  <a:tcPr marL="9525" marR="9525" marT="9525" marB="0" anchor="b"/>
                </a:tc>
                <a:tc>
                  <a:txBody>
                    <a:bodyPr/>
                    <a:lstStyle/>
                    <a:p>
                      <a:pPr algn="r" fontAlgn="b"/>
                      <a:r>
                        <a:rPr lang="en-IN" sz="1100" b="0" i="0" u="none" strike="noStrike">
                          <a:solidFill>
                            <a:srgbClr val="000000"/>
                          </a:solidFill>
                          <a:effectLst/>
                          <a:latin typeface="Calibri"/>
                        </a:rPr>
                        <a:t>96</a:t>
                      </a:r>
                    </a:p>
                  </a:txBody>
                  <a:tcPr marL="9525" marR="9525" marT="9525" marB="0" anchor="b"/>
                </a:tc>
              </a:tr>
              <a:tr h="0">
                <a:tc>
                  <a:txBody>
                    <a:bodyPr/>
                    <a:lstStyle/>
                    <a:p>
                      <a:pPr algn="l" fontAlgn="b"/>
                      <a:r>
                        <a:rPr lang="en-IN" sz="1100" b="0" i="0" u="none" strike="noStrike">
                          <a:solidFill>
                            <a:srgbClr val="000000"/>
                          </a:solidFill>
                          <a:effectLst/>
                          <a:latin typeface="Calibri"/>
                        </a:rPr>
                        <a:t>wheel hub</a:t>
                      </a:r>
                    </a:p>
                  </a:txBody>
                  <a:tcPr marL="9525" marR="9525" marT="9525" marB="0" anchor="b"/>
                </a:tc>
                <a:tc gridSpan="2">
                  <a:txBody>
                    <a:bodyPr/>
                    <a:lstStyle/>
                    <a:p>
                      <a:pPr algn="l" fontAlgn="b"/>
                      <a:r>
                        <a:rPr lang="en-IN" sz="1100" b="0" i="0" u="none" strike="noStrike">
                          <a:solidFill>
                            <a:srgbClr val="000000"/>
                          </a:solidFill>
                          <a:effectLst/>
                          <a:latin typeface="Calibri"/>
                        </a:rPr>
                        <a:t>Structural failure</a:t>
                      </a:r>
                    </a:p>
                  </a:txBody>
                  <a:tcPr marL="9525" marR="9525" marT="9525" marB="0" anchor="b"/>
                </a:tc>
                <a:tc hMerge="1">
                  <a:txBody>
                    <a:bodyPr/>
                    <a:lstStyle/>
                    <a:p>
                      <a:endParaRPr lang="en-IN"/>
                    </a:p>
                  </a:txBody>
                  <a:tcPr/>
                </a:tc>
                <a:tc>
                  <a:txBody>
                    <a:bodyPr/>
                    <a:lstStyle/>
                    <a:p>
                      <a:pPr algn="r" fontAlgn="b"/>
                      <a:r>
                        <a:rPr lang="en-IN" sz="1100" b="0" i="0" u="none" strike="noStrike">
                          <a:solidFill>
                            <a:srgbClr val="000000"/>
                          </a:solidFill>
                          <a:effectLst/>
                          <a:latin typeface="Calibri"/>
                        </a:rPr>
                        <a:t>8</a:t>
                      </a:r>
                    </a:p>
                  </a:txBody>
                  <a:tcPr marL="9525" marR="9525" marT="9525" marB="0" anchor="b"/>
                </a:tc>
                <a:tc>
                  <a:txBody>
                    <a:bodyPr/>
                    <a:lstStyle/>
                    <a:p>
                      <a:pPr algn="l" fontAlgn="b"/>
                      <a:r>
                        <a:rPr lang="en-IN" sz="1100" b="0" i="0" u="none" strike="noStrike">
                          <a:solidFill>
                            <a:srgbClr val="000000"/>
                          </a:solidFill>
                          <a:effectLst/>
                          <a:latin typeface="Calibri"/>
                        </a:rPr>
                        <a:t>Double shearing</a:t>
                      </a:r>
                    </a:p>
                  </a:txBody>
                  <a:tcPr marL="9525" marR="9525" marT="9525" marB="0" anchor="b"/>
                </a:tc>
                <a:tc>
                  <a:txBody>
                    <a:bodyPr/>
                    <a:lstStyle/>
                    <a:p>
                      <a:pPr algn="r" fontAlgn="b"/>
                      <a:r>
                        <a:rPr lang="en-IN" sz="1100" b="0" i="0" u="none" strike="noStrike">
                          <a:solidFill>
                            <a:srgbClr val="000000"/>
                          </a:solidFill>
                          <a:effectLst/>
                          <a:latin typeface="Calibri"/>
                        </a:rPr>
                        <a:t>7</a:t>
                      </a:r>
                    </a:p>
                  </a:txBody>
                  <a:tcPr marL="9525" marR="9525" marT="9525" marB="0" anchor="b"/>
                </a:tc>
                <a:tc>
                  <a:txBody>
                    <a:bodyPr/>
                    <a:lstStyle/>
                    <a:p>
                      <a:pPr algn="l" fontAlgn="b"/>
                      <a:r>
                        <a:rPr lang="en-US" sz="1100" b="0" i="0" u="none" strike="noStrike">
                          <a:solidFill>
                            <a:srgbClr val="000000"/>
                          </a:solidFill>
                          <a:effectLst/>
                          <a:latin typeface="Calibri"/>
                        </a:rPr>
                        <a:t>Design according to vehicle specification and proper analysis</a:t>
                      </a:r>
                    </a:p>
                  </a:txBody>
                  <a:tcPr marL="9525" marR="9525" marT="9525" marB="0" anchor="b"/>
                </a:tc>
                <a:tc>
                  <a:txBody>
                    <a:bodyPr/>
                    <a:lstStyle/>
                    <a:p>
                      <a:pPr algn="r" fontAlgn="b"/>
                      <a:r>
                        <a:rPr lang="en-IN" sz="1100" b="0" i="0" u="none" strike="noStrike">
                          <a:solidFill>
                            <a:srgbClr val="000000"/>
                          </a:solidFill>
                          <a:effectLst/>
                          <a:latin typeface="Calibri"/>
                        </a:rPr>
                        <a:t>6</a:t>
                      </a:r>
                    </a:p>
                  </a:txBody>
                  <a:tcPr marL="9525" marR="9525" marT="9525" marB="0" anchor="b"/>
                </a:tc>
                <a:tc>
                  <a:txBody>
                    <a:bodyPr/>
                    <a:lstStyle/>
                    <a:p>
                      <a:pPr algn="r" fontAlgn="b"/>
                      <a:r>
                        <a:rPr lang="en-IN" sz="1100" b="0" i="0" u="none" strike="noStrike">
                          <a:solidFill>
                            <a:srgbClr val="000000"/>
                          </a:solidFill>
                          <a:effectLst/>
                          <a:latin typeface="Calibri"/>
                        </a:rPr>
                        <a:t>336</a:t>
                      </a:r>
                    </a:p>
                  </a:txBody>
                  <a:tcPr marL="9525" marR="9525" marT="9525" marB="0" anchor="b"/>
                </a:tc>
                <a:tc>
                  <a:txBody>
                    <a:bodyPr/>
                    <a:lstStyle/>
                    <a:p>
                      <a:pPr algn="r" fontAlgn="b"/>
                      <a:r>
                        <a:rPr lang="en-IN" sz="1100" b="0" i="0" u="none" strike="noStrike">
                          <a:solidFill>
                            <a:srgbClr val="000000"/>
                          </a:solidFill>
                          <a:effectLst/>
                          <a:latin typeface="Calibri"/>
                        </a:rPr>
                        <a:t>5</a:t>
                      </a:r>
                    </a:p>
                  </a:txBody>
                  <a:tcPr marL="9525" marR="9525" marT="9525" marB="0" anchor="b"/>
                </a:tc>
                <a:tc>
                  <a:txBody>
                    <a:bodyPr/>
                    <a:lstStyle/>
                    <a:p>
                      <a:pPr algn="r" fontAlgn="b"/>
                      <a:r>
                        <a:rPr lang="en-IN" sz="1100" b="0" i="0" u="none" strike="noStrike" dirty="0">
                          <a:solidFill>
                            <a:srgbClr val="000000"/>
                          </a:solidFill>
                          <a:effectLst/>
                          <a:latin typeface="Calibri"/>
                        </a:rPr>
                        <a:t>4</a:t>
                      </a:r>
                    </a:p>
                  </a:txBody>
                  <a:tcPr marL="9525" marR="9525" marT="9525" marB="0" anchor="b"/>
                </a:tc>
                <a:tc>
                  <a:txBody>
                    <a:bodyPr/>
                    <a:lstStyle/>
                    <a:p>
                      <a:pPr algn="l" fontAlgn="b"/>
                      <a:r>
                        <a:rPr lang="en-IN" sz="1100" b="0" i="0" u="none" strike="noStrike" dirty="0">
                          <a:solidFill>
                            <a:srgbClr val="000000"/>
                          </a:solidFill>
                          <a:effectLst/>
                          <a:latin typeface="Calibri"/>
                        </a:rPr>
                        <a:t>14 0</a:t>
                      </a:r>
                    </a:p>
                  </a:txBody>
                  <a:tcPr marL="9525" marR="9525" marT="9525" marB="0" anchor="b"/>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488750488"/>
              </p:ext>
            </p:extLst>
          </p:nvPr>
        </p:nvGraphicFramePr>
        <p:xfrm>
          <a:off x="-21348" y="3284984"/>
          <a:ext cx="9144000" cy="3573017"/>
        </p:xfrm>
        <a:graphic>
          <a:graphicData uri="http://schemas.openxmlformats.org/drawingml/2006/table">
            <a:tbl>
              <a:tblPr firstRow="1" bandRow="1">
                <a:tableStyleId>{5C22544A-7EE6-4342-B048-85BDC9FD1C3A}</a:tableStyleId>
              </a:tblPr>
              <a:tblGrid>
                <a:gridCol w="1115612"/>
                <a:gridCol w="648072"/>
                <a:gridCol w="1224136"/>
                <a:gridCol w="288032"/>
                <a:gridCol w="1101472"/>
                <a:gridCol w="288032"/>
                <a:gridCol w="1817502"/>
                <a:gridCol w="360040"/>
                <a:gridCol w="393394"/>
                <a:gridCol w="576064"/>
                <a:gridCol w="569644"/>
                <a:gridCol w="762000"/>
              </a:tblGrid>
              <a:tr h="389136">
                <a:tc>
                  <a:txBody>
                    <a:bodyPr/>
                    <a:lstStyle/>
                    <a:p>
                      <a:pPr algn="l" fontAlgn="b"/>
                      <a:r>
                        <a:rPr lang="en-IN" sz="1200" b="1" i="0" u="none" strike="noStrike" dirty="0">
                          <a:solidFill>
                            <a:srgbClr val="000000"/>
                          </a:solidFill>
                          <a:effectLst/>
                          <a:latin typeface="Calibri"/>
                        </a:rPr>
                        <a:t>Part</a:t>
                      </a:r>
                    </a:p>
                  </a:txBody>
                  <a:tcPr marL="9525" marR="9525" marT="9525" marB="0" anchor="b"/>
                </a:tc>
                <a:tc>
                  <a:txBody>
                    <a:bodyPr/>
                    <a:lstStyle/>
                    <a:p>
                      <a:pPr algn="l" fontAlgn="b"/>
                      <a:r>
                        <a:rPr lang="en-IN" sz="1200" b="1" i="0" u="none" strike="noStrike" dirty="0">
                          <a:solidFill>
                            <a:srgbClr val="000000"/>
                          </a:solidFill>
                          <a:effectLst/>
                          <a:latin typeface="Calibri"/>
                        </a:rPr>
                        <a:t>Failure mode</a:t>
                      </a:r>
                    </a:p>
                  </a:txBody>
                  <a:tcPr marL="9525" marR="9525" marT="9525" marB="0" anchor="b"/>
                </a:tc>
                <a:tc>
                  <a:txBody>
                    <a:bodyPr/>
                    <a:lstStyle/>
                    <a:p>
                      <a:pPr algn="l" fontAlgn="b"/>
                      <a:r>
                        <a:rPr lang="en-IN" sz="1200" b="1" i="0" u="none" strike="noStrike" dirty="0">
                          <a:solidFill>
                            <a:srgbClr val="000000"/>
                          </a:solidFill>
                          <a:effectLst/>
                          <a:latin typeface="Calibri"/>
                        </a:rPr>
                        <a:t>Potential effect(s) of failure</a:t>
                      </a:r>
                    </a:p>
                  </a:txBody>
                  <a:tcPr marL="9525" marR="9525" marT="9525" marB="0" anchor="b"/>
                </a:tc>
                <a:tc>
                  <a:txBody>
                    <a:bodyPr/>
                    <a:lstStyle/>
                    <a:p>
                      <a:pPr algn="l" fontAlgn="b"/>
                      <a:r>
                        <a:rPr lang="en-IN" sz="1200" b="1" i="0" u="none" strike="noStrike" dirty="0">
                          <a:solidFill>
                            <a:srgbClr val="000000"/>
                          </a:solidFill>
                          <a:effectLst/>
                          <a:latin typeface="Calibri"/>
                        </a:rPr>
                        <a:t>S</a:t>
                      </a:r>
                    </a:p>
                  </a:txBody>
                  <a:tcPr marL="9525" marR="9525" marT="9525" marB="0" anchor="b"/>
                </a:tc>
                <a:tc>
                  <a:txBody>
                    <a:bodyPr/>
                    <a:lstStyle/>
                    <a:p>
                      <a:pPr algn="l" fontAlgn="b"/>
                      <a:r>
                        <a:rPr lang="en-IN" sz="1200" b="1" i="0" u="none" strike="noStrike" dirty="0">
                          <a:solidFill>
                            <a:srgbClr val="000000"/>
                          </a:solidFill>
                          <a:effectLst/>
                          <a:latin typeface="Calibri"/>
                        </a:rPr>
                        <a:t>Potential cause(s)</a:t>
                      </a:r>
                    </a:p>
                  </a:txBody>
                  <a:tcPr marL="9525" marR="9525" marT="9525" marB="0" anchor="b"/>
                </a:tc>
                <a:tc>
                  <a:txBody>
                    <a:bodyPr/>
                    <a:lstStyle/>
                    <a:p>
                      <a:pPr algn="l" fontAlgn="b"/>
                      <a:r>
                        <a:rPr lang="en-IN" sz="1200" b="1" i="0" u="none" strike="noStrike" dirty="0">
                          <a:solidFill>
                            <a:srgbClr val="000000"/>
                          </a:solidFill>
                          <a:effectLst/>
                          <a:latin typeface="Calibri"/>
                        </a:rPr>
                        <a:t>o</a:t>
                      </a:r>
                    </a:p>
                  </a:txBody>
                  <a:tcPr marL="9525" marR="9525" marT="9525" marB="0" anchor="b"/>
                </a:tc>
                <a:tc>
                  <a:txBody>
                    <a:bodyPr/>
                    <a:lstStyle/>
                    <a:p>
                      <a:pPr algn="l" fontAlgn="b"/>
                      <a:r>
                        <a:rPr lang="en-IN" sz="1200" b="1" i="0" u="none" strike="noStrike" dirty="0">
                          <a:solidFill>
                            <a:srgbClr val="000000"/>
                          </a:solidFill>
                          <a:effectLst/>
                          <a:latin typeface="Calibri"/>
                        </a:rPr>
                        <a:t>Current design control</a:t>
                      </a:r>
                    </a:p>
                  </a:txBody>
                  <a:tcPr marL="9525" marR="9525" marT="9525" marB="0" anchor="b"/>
                </a:tc>
                <a:tc>
                  <a:txBody>
                    <a:bodyPr/>
                    <a:lstStyle/>
                    <a:p>
                      <a:pPr algn="l" fontAlgn="b"/>
                      <a:r>
                        <a:rPr lang="en-IN" sz="1200" b="1" i="0" u="none" strike="noStrike" dirty="0">
                          <a:solidFill>
                            <a:srgbClr val="000000"/>
                          </a:solidFill>
                          <a:effectLst/>
                          <a:latin typeface="Calibri"/>
                        </a:rPr>
                        <a:t>D</a:t>
                      </a:r>
                    </a:p>
                  </a:txBody>
                  <a:tcPr marL="9525" marR="9525" marT="9525" marB="0" anchor="b"/>
                </a:tc>
                <a:tc>
                  <a:txBody>
                    <a:bodyPr/>
                    <a:lstStyle/>
                    <a:p>
                      <a:pPr algn="l" fontAlgn="b"/>
                      <a:r>
                        <a:rPr lang="en-IN" sz="1200" b="1" i="0" u="none" strike="noStrike" dirty="0">
                          <a:solidFill>
                            <a:srgbClr val="000000"/>
                          </a:solidFill>
                          <a:effectLst/>
                          <a:latin typeface="Calibri"/>
                        </a:rPr>
                        <a:t>RPN</a:t>
                      </a:r>
                    </a:p>
                  </a:txBody>
                  <a:tcPr marL="9525" marR="9525" marT="9525" marB="0" anchor="b"/>
                </a:tc>
                <a:tc>
                  <a:txBody>
                    <a:bodyPr/>
                    <a:lstStyle/>
                    <a:p>
                      <a:pPr algn="l" fontAlgn="b"/>
                      <a:r>
                        <a:rPr lang="en-IN" sz="1200" b="1" i="0" u="none" strike="noStrike" dirty="0">
                          <a:solidFill>
                            <a:srgbClr val="000000"/>
                          </a:solidFill>
                          <a:effectLst/>
                          <a:latin typeface="Calibri"/>
                        </a:rPr>
                        <a:t>o</a:t>
                      </a:r>
                    </a:p>
                  </a:txBody>
                  <a:tcPr marL="9525" marR="9525" marT="9525" marB="0" anchor="b"/>
                </a:tc>
                <a:tc>
                  <a:txBody>
                    <a:bodyPr/>
                    <a:lstStyle/>
                    <a:p>
                      <a:pPr algn="l" fontAlgn="b"/>
                      <a:r>
                        <a:rPr lang="en-IN" sz="1200" b="1" i="0" u="none" strike="noStrike" dirty="0">
                          <a:solidFill>
                            <a:srgbClr val="000000"/>
                          </a:solidFill>
                          <a:effectLst/>
                          <a:latin typeface="Calibri"/>
                        </a:rPr>
                        <a:t>D</a:t>
                      </a:r>
                    </a:p>
                  </a:txBody>
                  <a:tcPr marL="9525" marR="9525" marT="9525" marB="0" anchor="b"/>
                </a:tc>
                <a:tc>
                  <a:txBody>
                    <a:bodyPr/>
                    <a:lstStyle/>
                    <a:p>
                      <a:pPr algn="l" fontAlgn="b"/>
                      <a:r>
                        <a:rPr lang="en-IN" sz="1200" b="1" i="0" u="none" strike="noStrike" dirty="0">
                          <a:solidFill>
                            <a:srgbClr val="000000"/>
                          </a:solidFill>
                          <a:effectLst/>
                          <a:latin typeface="Calibri"/>
                        </a:rPr>
                        <a:t>RP N</a:t>
                      </a:r>
                    </a:p>
                  </a:txBody>
                  <a:tcPr marL="9525" marR="9525" marT="9525" marB="0" anchor="b"/>
                </a:tc>
              </a:tr>
              <a:tr h="958025">
                <a:tc>
                  <a:txBody>
                    <a:bodyPr/>
                    <a:lstStyle/>
                    <a:p>
                      <a:pPr algn="l" fontAlgn="b"/>
                      <a:r>
                        <a:rPr lang="en-IN" sz="1200" b="0" i="0" u="none" strike="noStrike" dirty="0">
                          <a:solidFill>
                            <a:srgbClr val="000000"/>
                          </a:solidFill>
                          <a:effectLst/>
                          <a:latin typeface="Calibri"/>
                        </a:rPr>
                        <a:t>engine mount</a:t>
                      </a:r>
                    </a:p>
                  </a:txBody>
                  <a:tcPr marL="9525" marR="9525" marT="9525" marB="0" anchor="b"/>
                </a:tc>
                <a:tc>
                  <a:txBody>
                    <a:bodyPr/>
                    <a:lstStyle/>
                    <a:p>
                      <a:pPr algn="l" fontAlgn="b"/>
                      <a:r>
                        <a:rPr lang="en-IN" sz="1200" b="0" i="0" u="none" strike="noStrike">
                          <a:solidFill>
                            <a:srgbClr val="000000"/>
                          </a:solidFill>
                          <a:effectLst/>
                          <a:latin typeface="Calibri"/>
                        </a:rPr>
                        <a:t>Engine parts damage</a:t>
                      </a:r>
                    </a:p>
                  </a:txBody>
                  <a:tcPr marL="9525" marR="9525" marT="9525" marB="0" anchor="b"/>
                </a:tc>
                <a:tc>
                  <a:txBody>
                    <a:bodyPr/>
                    <a:lstStyle/>
                    <a:p>
                      <a:pPr algn="l" fontAlgn="b"/>
                      <a:r>
                        <a:rPr lang="en-IN" sz="1200" b="0" i="0" u="none" strike="noStrike">
                          <a:solidFill>
                            <a:srgbClr val="000000"/>
                          </a:solidFill>
                          <a:effectLst/>
                          <a:latin typeface="Calibri"/>
                        </a:rPr>
                        <a:t>Improper combustion</a:t>
                      </a:r>
                    </a:p>
                  </a:txBody>
                  <a:tcPr marL="9525" marR="9525" marT="9525" marB="0" anchor="b"/>
                </a:tc>
                <a:tc>
                  <a:txBody>
                    <a:bodyPr/>
                    <a:lstStyle/>
                    <a:p>
                      <a:pPr algn="l" fontAlgn="b"/>
                      <a:r>
                        <a:rPr lang="en-IN" sz="1200" b="0" i="0" u="none" strike="noStrike">
                          <a:solidFill>
                            <a:srgbClr val="000000"/>
                          </a:solidFill>
                          <a:effectLst/>
                          <a:latin typeface="Calibri"/>
                        </a:rPr>
                        <a:t>9</a:t>
                      </a:r>
                    </a:p>
                  </a:txBody>
                  <a:tcPr marL="9525" marR="9525" marT="9525" marB="0" anchor="b"/>
                </a:tc>
                <a:tc>
                  <a:txBody>
                    <a:bodyPr/>
                    <a:lstStyle/>
                    <a:p>
                      <a:pPr algn="l" fontAlgn="b"/>
                      <a:r>
                        <a:rPr lang="en-US" sz="1200" b="0" i="0" u="none" strike="noStrike">
                          <a:solidFill>
                            <a:srgbClr val="000000"/>
                          </a:solidFill>
                          <a:effectLst/>
                          <a:latin typeface="Calibri"/>
                        </a:rPr>
                        <a:t>Improper material selection for mounts/improper nvh paths</a:t>
                      </a:r>
                    </a:p>
                  </a:txBody>
                  <a:tcPr marL="9525" marR="9525" marT="9525" marB="0" anchor="b"/>
                </a:tc>
                <a:tc>
                  <a:txBody>
                    <a:bodyPr/>
                    <a:lstStyle/>
                    <a:p>
                      <a:pPr algn="l" fontAlgn="b"/>
                      <a:r>
                        <a:rPr lang="en-IN" sz="1200" b="0" i="0" u="none" strike="noStrike">
                          <a:solidFill>
                            <a:srgbClr val="000000"/>
                          </a:solidFill>
                          <a:effectLst/>
                          <a:latin typeface="Calibri"/>
                        </a:rPr>
                        <a:t>3</a:t>
                      </a:r>
                    </a:p>
                  </a:txBody>
                  <a:tcPr marL="9525" marR="9525" marT="9525" marB="0" anchor="b"/>
                </a:tc>
                <a:tc>
                  <a:txBody>
                    <a:bodyPr/>
                    <a:lstStyle/>
                    <a:p>
                      <a:pPr algn="l" fontAlgn="b"/>
                      <a:r>
                        <a:rPr lang="en-US" sz="1200" b="0" i="0" u="none" strike="noStrike">
                          <a:solidFill>
                            <a:srgbClr val="000000"/>
                          </a:solidFill>
                          <a:effectLst/>
                          <a:latin typeface="Calibri"/>
                        </a:rPr>
                        <a:t>Analysis of NVH due to the engine</a:t>
                      </a:r>
                    </a:p>
                  </a:txBody>
                  <a:tcPr marL="9525" marR="9525" marT="9525" marB="0" anchor="b"/>
                </a:tc>
                <a:tc>
                  <a:txBody>
                    <a:bodyPr/>
                    <a:lstStyle/>
                    <a:p>
                      <a:pPr algn="l" fontAlgn="b"/>
                      <a:r>
                        <a:rPr lang="en-IN" sz="1200" b="0" i="0" u="none" strike="noStrike">
                          <a:solidFill>
                            <a:srgbClr val="000000"/>
                          </a:solidFill>
                          <a:effectLst/>
                          <a:latin typeface="Calibri"/>
                        </a:rPr>
                        <a:t>4</a:t>
                      </a:r>
                    </a:p>
                  </a:txBody>
                  <a:tcPr marL="9525" marR="9525" marT="9525" marB="0" anchor="b"/>
                </a:tc>
                <a:tc>
                  <a:txBody>
                    <a:bodyPr/>
                    <a:lstStyle/>
                    <a:p>
                      <a:pPr algn="l" fontAlgn="b"/>
                      <a:r>
                        <a:rPr lang="en-IN" sz="1200" b="0" i="0" u="none" strike="noStrike">
                          <a:solidFill>
                            <a:srgbClr val="000000"/>
                          </a:solidFill>
                          <a:effectLst/>
                          <a:latin typeface="Calibri"/>
                        </a:rPr>
                        <a:t>108</a:t>
                      </a:r>
                    </a:p>
                  </a:txBody>
                  <a:tcPr marL="9525" marR="9525" marT="9525" marB="0" anchor="b"/>
                </a:tc>
                <a:tc>
                  <a:txBody>
                    <a:bodyPr/>
                    <a:lstStyle/>
                    <a:p>
                      <a:pPr algn="l" fontAlgn="b"/>
                      <a:r>
                        <a:rPr lang="en-IN" sz="1200" b="0" i="0" u="none" strike="noStrike">
                          <a:solidFill>
                            <a:srgbClr val="000000"/>
                          </a:solidFill>
                          <a:effectLst/>
                          <a:latin typeface="Calibri"/>
                        </a:rPr>
                        <a:t>3</a:t>
                      </a:r>
                    </a:p>
                  </a:txBody>
                  <a:tcPr marL="9525" marR="9525" marT="9525" marB="0" anchor="b"/>
                </a:tc>
                <a:tc>
                  <a:txBody>
                    <a:bodyPr/>
                    <a:lstStyle/>
                    <a:p>
                      <a:pPr algn="l" fontAlgn="b"/>
                      <a:r>
                        <a:rPr lang="en-IN" sz="1200" b="0" i="0" u="none" strike="noStrike">
                          <a:solidFill>
                            <a:srgbClr val="000000"/>
                          </a:solidFill>
                          <a:effectLst/>
                          <a:latin typeface="Calibri"/>
                        </a:rPr>
                        <a:t>4</a:t>
                      </a:r>
                    </a:p>
                  </a:txBody>
                  <a:tcPr marL="9525" marR="9525" marT="9525" marB="0" anchor="b"/>
                </a:tc>
                <a:tc>
                  <a:txBody>
                    <a:bodyPr/>
                    <a:lstStyle/>
                    <a:p>
                      <a:pPr algn="l" fontAlgn="b"/>
                      <a:r>
                        <a:rPr lang="en-IN" sz="1200" b="0" i="0" u="none" strike="noStrike">
                          <a:solidFill>
                            <a:srgbClr val="000000"/>
                          </a:solidFill>
                          <a:effectLst/>
                          <a:latin typeface="Calibri"/>
                        </a:rPr>
                        <a:t>96</a:t>
                      </a:r>
                    </a:p>
                  </a:txBody>
                  <a:tcPr marL="9525" marR="9525" marT="9525" marB="0" anchor="b"/>
                </a:tc>
              </a:tr>
              <a:tr h="510255">
                <a:tc>
                  <a:txBody>
                    <a:bodyPr/>
                    <a:lstStyle/>
                    <a:p>
                      <a:pPr algn="l" fontAlgn="b"/>
                      <a:r>
                        <a:rPr lang="en-IN" sz="1200" b="0" i="0" u="none" strike="noStrike">
                          <a:solidFill>
                            <a:srgbClr val="000000"/>
                          </a:solidFill>
                          <a:effectLst/>
                          <a:latin typeface="Calibri"/>
                        </a:rPr>
                        <a:t>pedal assembly</a:t>
                      </a:r>
                    </a:p>
                  </a:txBody>
                  <a:tcPr marL="9525" marR="9525" marT="9525" marB="0" anchor="b"/>
                </a:tc>
                <a:tc>
                  <a:txBody>
                    <a:bodyPr/>
                    <a:lstStyle/>
                    <a:p>
                      <a:pPr algn="l" fontAlgn="b"/>
                      <a:r>
                        <a:rPr lang="en-IN" sz="1200" b="0" i="0" u="none" strike="noStrike">
                          <a:solidFill>
                            <a:srgbClr val="000000"/>
                          </a:solidFill>
                          <a:effectLst/>
                          <a:latin typeface="Calibri"/>
                        </a:rPr>
                        <a:t>Brake failure</a:t>
                      </a:r>
                    </a:p>
                  </a:txBody>
                  <a:tcPr marL="9525" marR="9525" marT="9525" marB="0" anchor="b"/>
                </a:tc>
                <a:tc>
                  <a:txBody>
                    <a:bodyPr/>
                    <a:lstStyle/>
                    <a:p>
                      <a:pPr algn="l" fontAlgn="b"/>
                      <a:r>
                        <a:rPr lang="en-IN" sz="1200" b="0" i="0" u="none" strike="noStrike">
                          <a:solidFill>
                            <a:srgbClr val="000000"/>
                          </a:solidFill>
                          <a:effectLst/>
                          <a:latin typeface="Calibri"/>
                        </a:rPr>
                        <a:t>Brake failure</a:t>
                      </a:r>
                    </a:p>
                  </a:txBody>
                  <a:tcPr marL="9525" marR="9525" marT="9525" marB="0" anchor="b"/>
                </a:tc>
                <a:tc>
                  <a:txBody>
                    <a:bodyPr/>
                    <a:lstStyle/>
                    <a:p>
                      <a:pPr algn="l" fontAlgn="b"/>
                      <a:r>
                        <a:rPr lang="en-IN" sz="1200" b="0" i="0" u="none" strike="noStrike">
                          <a:solidFill>
                            <a:srgbClr val="000000"/>
                          </a:solidFill>
                          <a:effectLst/>
                          <a:latin typeface="Calibri"/>
                        </a:rPr>
                        <a:t>10</a:t>
                      </a:r>
                    </a:p>
                  </a:txBody>
                  <a:tcPr marL="9525" marR="9525" marT="9525" marB="0" anchor="b"/>
                </a:tc>
                <a:tc>
                  <a:txBody>
                    <a:bodyPr/>
                    <a:lstStyle/>
                    <a:p>
                      <a:pPr algn="l" fontAlgn="b"/>
                      <a:r>
                        <a:rPr lang="en-IN" sz="1200" b="0" i="0" u="none" strike="noStrike">
                          <a:solidFill>
                            <a:srgbClr val="000000"/>
                          </a:solidFill>
                          <a:effectLst/>
                          <a:latin typeface="Calibri"/>
                        </a:rPr>
                        <a:t>Excess brake force load</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IN" sz="1200" b="0" i="0" u="none" strike="noStrike">
                          <a:solidFill>
                            <a:srgbClr val="000000"/>
                          </a:solidFill>
                          <a:effectLst/>
                          <a:latin typeface="Calibri"/>
                        </a:rPr>
                        <a:t>Material with high F.O.S</a:t>
                      </a:r>
                    </a:p>
                  </a:txBody>
                  <a:tcPr marL="9525" marR="9525" marT="9525" marB="0" anchor="b"/>
                </a:tc>
                <a:tc>
                  <a:txBody>
                    <a:bodyPr/>
                    <a:lstStyle/>
                    <a:p>
                      <a:pPr algn="l" fontAlgn="b"/>
                      <a:r>
                        <a:rPr lang="en-IN" sz="1200" b="0" i="0" u="none" strike="noStrike">
                          <a:solidFill>
                            <a:srgbClr val="000000"/>
                          </a:solidFill>
                          <a:effectLst/>
                          <a:latin typeface="Calibri"/>
                        </a:rPr>
                        <a:t>2</a:t>
                      </a:r>
                    </a:p>
                  </a:txBody>
                  <a:tcPr marL="9525" marR="9525" marT="9525" marB="0" anchor="b"/>
                </a:tc>
                <a:tc>
                  <a:txBody>
                    <a:bodyPr/>
                    <a:lstStyle/>
                    <a:p>
                      <a:pPr algn="l" fontAlgn="b"/>
                      <a:r>
                        <a:rPr lang="en-IN" sz="1200" b="0" i="0" u="none" strike="noStrike">
                          <a:solidFill>
                            <a:srgbClr val="000000"/>
                          </a:solidFill>
                          <a:effectLst/>
                          <a:latin typeface="Calibri"/>
                        </a:rPr>
                        <a:t>140</a:t>
                      </a:r>
                    </a:p>
                  </a:txBody>
                  <a:tcPr marL="9525" marR="9525" marT="9525" marB="0" anchor="b"/>
                </a:tc>
                <a:tc>
                  <a:txBody>
                    <a:bodyPr/>
                    <a:lstStyle/>
                    <a:p>
                      <a:pPr algn="l" fontAlgn="b"/>
                      <a:r>
                        <a:rPr lang="en-IN" sz="1200" b="0" i="0" u="none" strike="noStrike">
                          <a:solidFill>
                            <a:srgbClr val="000000"/>
                          </a:solidFill>
                          <a:effectLst/>
                          <a:latin typeface="Calibri"/>
                        </a:rPr>
                        <a:t>5</a:t>
                      </a:r>
                    </a:p>
                  </a:txBody>
                  <a:tcPr marL="9525" marR="9525" marT="9525" marB="0" anchor="b"/>
                </a:tc>
                <a:tc>
                  <a:txBody>
                    <a:bodyPr/>
                    <a:lstStyle/>
                    <a:p>
                      <a:pPr algn="l" fontAlgn="b"/>
                      <a:r>
                        <a:rPr lang="en-IN" sz="1200" b="0" i="0" u="none" strike="noStrike">
                          <a:solidFill>
                            <a:srgbClr val="000000"/>
                          </a:solidFill>
                          <a:effectLst/>
                          <a:latin typeface="Calibri"/>
                        </a:rPr>
                        <a:t>5</a:t>
                      </a:r>
                    </a:p>
                  </a:txBody>
                  <a:tcPr marL="9525" marR="9525" marT="9525" marB="0" anchor="b"/>
                </a:tc>
                <a:tc>
                  <a:txBody>
                    <a:bodyPr/>
                    <a:lstStyle/>
                    <a:p>
                      <a:pPr algn="l" fontAlgn="b"/>
                      <a:r>
                        <a:rPr lang="en-IN" sz="1200" b="0" i="0" u="none" strike="noStrike">
                          <a:solidFill>
                            <a:srgbClr val="000000"/>
                          </a:solidFill>
                          <a:effectLst/>
                          <a:latin typeface="Calibri"/>
                        </a:rPr>
                        <a:t>20 0</a:t>
                      </a:r>
                    </a:p>
                  </a:txBody>
                  <a:tcPr marL="9525" marR="9525" marT="9525" marB="0" anchor="b"/>
                </a:tc>
              </a:tr>
              <a:tr h="732079">
                <a:tc>
                  <a:txBody>
                    <a:bodyPr/>
                    <a:lstStyle/>
                    <a:p>
                      <a:pPr algn="l" fontAlgn="b"/>
                      <a:r>
                        <a:rPr lang="en-IN" sz="1200" b="0" i="0" u="none" strike="noStrike">
                          <a:solidFill>
                            <a:srgbClr val="000000"/>
                          </a:solidFill>
                          <a:effectLst/>
                          <a:latin typeface="Calibri"/>
                        </a:rPr>
                        <a:t>Roll Cage</a:t>
                      </a:r>
                    </a:p>
                  </a:txBody>
                  <a:tcPr marL="9525" marR="9525" marT="9525" marB="0" anchor="b"/>
                </a:tc>
                <a:tc>
                  <a:txBody>
                    <a:bodyPr/>
                    <a:lstStyle/>
                    <a:p>
                      <a:pPr algn="l" fontAlgn="b"/>
                      <a:r>
                        <a:rPr lang="en-IN" sz="1200" b="0" i="0" u="none" strike="noStrike">
                          <a:solidFill>
                            <a:srgbClr val="000000"/>
                          </a:solidFill>
                          <a:effectLst/>
                          <a:latin typeface="Calibri"/>
                        </a:rPr>
                        <a:t>Structural failure</a:t>
                      </a:r>
                    </a:p>
                  </a:txBody>
                  <a:tcPr marL="9525" marR="9525" marT="9525" marB="0" anchor="b"/>
                </a:tc>
                <a:tc>
                  <a:txBody>
                    <a:bodyPr/>
                    <a:lstStyle/>
                    <a:p>
                      <a:pPr algn="l" fontAlgn="b"/>
                      <a:r>
                        <a:rPr lang="en-IN" sz="1200" b="0" i="0" u="none" strike="noStrike">
                          <a:solidFill>
                            <a:srgbClr val="000000"/>
                          </a:solidFill>
                          <a:effectLst/>
                          <a:latin typeface="Calibri"/>
                        </a:rPr>
                        <a:t>Driver safety is endangered</a:t>
                      </a:r>
                    </a:p>
                  </a:txBody>
                  <a:tcPr marL="9525" marR="9525" marT="9525" marB="0" anchor="b"/>
                </a:tc>
                <a:tc>
                  <a:txBody>
                    <a:bodyPr/>
                    <a:lstStyle/>
                    <a:p>
                      <a:pPr algn="l" fontAlgn="b"/>
                      <a:r>
                        <a:rPr lang="en-IN" sz="1200" b="0" i="0" u="none" strike="noStrike">
                          <a:solidFill>
                            <a:srgbClr val="000000"/>
                          </a:solidFill>
                          <a:effectLst/>
                          <a:latin typeface="Calibri"/>
                        </a:rPr>
                        <a:t>10</a:t>
                      </a:r>
                    </a:p>
                  </a:txBody>
                  <a:tcPr marL="9525" marR="9525" marT="9525" marB="0" anchor="b"/>
                </a:tc>
                <a:tc>
                  <a:txBody>
                    <a:bodyPr/>
                    <a:lstStyle/>
                    <a:p>
                      <a:pPr algn="l" fontAlgn="b"/>
                      <a:r>
                        <a:rPr lang="en-US" sz="1200" b="0" i="0" u="none" strike="noStrike">
                          <a:solidFill>
                            <a:srgbClr val="000000"/>
                          </a:solidFill>
                          <a:effectLst/>
                          <a:latin typeface="Calibri"/>
                        </a:rPr>
                        <a:t>Excessive impact load with high impact time</a:t>
                      </a:r>
                    </a:p>
                  </a:txBody>
                  <a:tcPr marL="9525" marR="9525" marT="9525" marB="0" anchor="b"/>
                </a:tc>
                <a:tc>
                  <a:txBody>
                    <a:bodyPr/>
                    <a:lstStyle/>
                    <a:p>
                      <a:pPr algn="l" fontAlgn="b"/>
                      <a:r>
                        <a:rPr lang="en-IN" sz="1200" b="0" i="0" u="none" strike="noStrike">
                          <a:solidFill>
                            <a:srgbClr val="000000"/>
                          </a:solidFill>
                          <a:effectLst/>
                          <a:latin typeface="Calibri"/>
                        </a:rPr>
                        <a:t>8</a:t>
                      </a:r>
                    </a:p>
                  </a:txBody>
                  <a:tcPr marL="9525" marR="9525" marT="9525" marB="0" anchor="b"/>
                </a:tc>
                <a:tc>
                  <a:txBody>
                    <a:bodyPr/>
                    <a:lstStyle/>
                    <a:p>
                      <a:pPr algn="l" fontAlgn="b"/>
                      <a:r>
                        <a:rPr lang="en-US" sz="1200" b="0" i="0" u="none" strike="noStrike">
                          <a:solidFill>
                            <a:srgbClr val="000000"/>
                          </a:solidFill>
                          <a:effectLst/>
                          <a:latin typeface="Calibri"/>
                        </a:rPr>
                        <a:t>Chosen material with high FOS and Ultimate strength</a:t>
                      </a:r>
                    </a:p>
                  </a:txBody>
                  <a:tcPr marL="9525" marR="9525" marT="9525" marB="0" anchor="b"/>
                </a:tc>
                <a:tc>
                  <a:txBody>
                    <a:bodyPr/>
                    <a:lstStyle/>
                    <a:p>
                      <a:pPr algn="l" fontAlgn="b"/>
                      <a:r>
                        <a:rPr lang="en-IN" sz="1200" b="0" i="0" u="none" strike="noStrike">
                          <a:solidFill>
                            <a:srgbClr val="000000"/>
                          </a:solidFill>
                          <a:effectLst/>
                          <a:latin typeface="Calibri"/>
                        </a:rPr>
                        <a:t>3</a:t>
                      </a:r>
                    </a:p>
                  </a:txBody>
                  <a:tcPr marL="9525" marR="9525" marT="9525" marB="0" anchor="b"/>
                </a:tc>
                <a:tc>
                  <a:txBody>
                    <a:bodyPr/>
                    <a:lstStyle/>
                    <a:p>
                      <a:pPr algn="l" fontAlgn="b"/>
                      <a:r>
                        <a:rPr lang="en-IN" sz="1200" b="0" i="0" u="none" strike="noStrike">
                          <a:solidFill>
                            <a:srgbClr val="000000"/>
                          </a:solidFill>
                          <a:effectLst/>
                          <a:latin typeface="Calibri"/>
                        </a:rPr>
                        <a:t>240</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IN" sz="1200" b="0" i="0" u="none" strike="noStrike">
                          <a:solidFill>
                            <a:srgbClr val="000000"/>
                          </a:solidFill>
                          <a:effectLst/>
                          <a:latin typeface="Calibri"/>
                        </a:rPr>
                        <a:t>6</a:t>
                      </a:r>
                    </a:p>
                  </a:txBody>
                  <a:tcPr marL="9525" marR="9525" marT="9525" marB="0" anchor="b"/>
                </a:tc>
                <a:tc>
                  <a:txBody>
                    <a:bodyPr/>
                    <a:lstStyle/>
                    <a:p>
                      <a:pPr algn="l" fontAlgn="b"/>
                      <a:r>
                        <a:rPr lang="en-IN" sz="1200" b="0" i="0" u="none" strike="noStrike">
                          <a:solidFill>
                            <a:srgbClr val="000000"/>
                          </a:solidFill>
                          <a:effectLst/>
                          <a:latin typeface="Calibri"/>
                        </a:rPr>
                        <a:t>42 0</a:t>
                      </a:r>
                    </a:p>
                  </a:txBody>
                  <a:tcPr marL="9525" marR="9525" marT="9525" marB="0" anchor="b"/>
                </a:tc>
              </a:tr>
              <a:tr h="594386">
                <a:tc>
                  <a:txBody>
                    <a:bodyPr/>
                    <a:lstStyle/>
                    <a:p>
                      <a:pPr algn="l" fontAlgn="b"/>
                      <a:r>
                        <a:rPr lang="en-IN" sz="1200" b="0" i="0" u="none" strike="noStrike">
                          <a:solidFill>
                            <a:srgbClr val="000000"/>
                          </a:solidFill>
                          <a:effectLst/>
                          <a:latin typeface="Calibri"/>
                        </a:rPr>
                        <a:t>4wD/AWD</a:t>
                      </a:r>
                    </a:p>
                  </a:txBody>
                  <a:tcPr marL="9525" marR="9525" marT="9525" marB="0" anchor="b"/>
                </a:tc>
                <a:tc>
                  <a:txBody>
                    <a:bodyPr/>
                    <a:lstStyle/>
                    <a:p>
                      <a:pPr algn="l" fontAlgn="b"/>
                      <a:r>
                        <a:rPr lang="en-IN" sz="1200" b="0" i="0" u="none" strike="noStrike">
                          <a:solidFill>
                            <a:srgbClr val="000000"/>
                          </a:solidFill>
                          <a:effectLst/>
                          <a:latin typeface="Calibri"/>
                        </a:rPr>
                        <a:t>Backlash of gears</a:t>
                      </a:r>
                    </a:p>
                  </a:txBody>
                  <a:tcPr marL="9525" marR="9525" marT="9525" marB="0" anchor="b"/>
                </a:tc>
                <a:tc>
                  <a:txBody>
                    <a:bodyPr/>
                    <a:lstStyle/>
                    <a:p>
                      <a:pPr algn="l" fontAlgn="b"/>
                      <a:r>
                        <a:rPr lang="en-IN" sz="1200" b="0" i="0" u="none" strike="noStrike">
                          <a:solidFill>
                            <a:srgbClr val="000000"/>
                          </a:solidFill>
                          <a:effectLst/>
                          <a:latin typeface="Calibri"/>
                        </a:rPr>
                        <a:t>Transmission system fails</a:t>
                      </a:r>
                    </a:p>
                  </a:txBody>
                  <a:tcPr marL="9525" marR="9525" marT="9525" marB="0" anchor="b"/>
                </a:tc>
                <a:tc>
                  <a:txBody>
                    <a:bodyPr/>
                    <a:lstStyle/>
                    <a:p>
                      <a:pPr algn="l" fontAlgn="b"/>
                      <a:r>
                        <a:rPr lang="en-IN" sz="1200" b="0" i="0" u="none" strike="noStrike">
                          <a:solidFill>
                            <a:srgbClr val="000000"/>
                          </a:solidFill>
                          <a:effectLst/>
                          <a:latin typeface="Calibri"/>
                        </a:rPr>
                        <a:t>8</a:t>
                      </a:r>
                    </a:p>
                  </a:txBody>
                  <a:tcPr marL="9525" marR="9525" marT="9525" marB="0" anchor="b"/>
                </a:tc>
                <a:tc>
                  <a:txBody>
                    <a:bodyPr/>
                    <a:lstStyle/>
                    <a:p>
                      <a:pPr algn="l" fontAlgn="b"/>
                      <a:r>
                        <a:rPr lang="en-IN" sz="1200" b="0" i="0" u="none" strike="noStrike">
                          <a:solidFill>
                            <a:srgbClr val="000000"/>
                          </a:solidFill>
                          <a:effectLst/>
                          <a:latin typeface="Calibri"/>
                        </a:rPr>
                        <a:t>Movement of UV joint</a:t>
                      </a:r>
                    </a:p>
                  </a:txBody>
                  <a:tcPr marL="9525" marR="9525" marT="9525" marB="0" anchor="b"/>
                </a:tc>
                <a:tc>
                  <a:txBody>
                    <a:bodyPr/>
                    <a:lstStyle/>
                    <a:p>
                      <a:pPr algn="l" fontAlgn="b"/>
                      <a:r>
                        <a:rPr lang="en-IN" sz="1200" b="0" i="0" u="none" strike="noStrike">
                          <a:solidFill>
                            <a:srgbClr val="000000"/>
                          </a:solidFill>
                          <a:effectLst/>
                          <a:latin typeface="Calibri"/>
                        </a:rPr>
                        <a:t>4</a:t>
                      </a:r>
                    </a:p>
                  </a:txBody>
                  <a:tcPr marL="9525" marR="9525" marT="9525" marB="0" anchor="b"/>
                </a:tc>
                <a:tc>
                  <a:txBody>
                    <a:bodyPr/>
                    <a:lstStyle/>
                    <a:p>
                      <a:pPr algn="l" fontAlgn="b"/>
                      <a:r>
                        <a:rPr lang="en-US" sz="1200" b="0" i="0" u="none" strike="noStrike">
                          <a:solidFill>
                            <a:srgbClr val="000000"/>
                          </a:solidFill>
                          <a:effectLst/>
                          <a:latin typeface="Calibri"/>
                        </a:rPr>
                        <a:t>Effective design according to the calculations and analysis accordingly</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IN" sz="1200" b="0" i="0" u="none" strike="noStrike">
                          <a:solidFill>
                            <a:srgbClr val="000000"/>
                          </a:solidFill>
                          <a:effectLst/>
                          <a:latin typeface="Calibri"/>
                        </a:rPr>
                        <a:t>224</a:t>
                      </a:r>
                    </a:p>
                  </a:txBody>
                  <a:tcPr marL="9525" marR="9525" marT="9525" marB="0" anchor="b"/>
                </a:tc>
                <a:tc>
                  <a:txBody>
                    <a:bodyPr/>
                    <a:lstStyle/>
                    <a:p>
                      <a:pPr algn="l" fontAlgn="b"/>
                      <a:r>
                        <a:rPr lang="en-IN" sz="1200" b="0" i="0" u="none" strike="noStrike">
                          <a:solidFill>
                            <a:srgbClr val="000000"/>
                          </a:solidFill>
                          <a:effectLst/>
                          <a:latin typeface="Calibri"/>
                        </a:rPr>
                        <a:t>4</a:t>
                      </a:r>
                    </a:p>
                  </a:txBody>
                  <a:tcPr marL="9525" marR="9525" marT="9525" marB="0" anchor="b"/>
                </a:tc>
                <a:tc>
                  <a:txBody>
                    <a:bodyPr/>
                    <a:lstStyle/>
                    <a:p>
                      <a:pPr algn="l" fontAlgn="b"/>
                      <a:r>
                        <a:rPr lang="en-IN" sz="1200" b="0" i="0" u="none" strike="noStrike">
                          <a:solidFill>
                            <a:srgbClr val="000000"/>
                          </a:solidFill>
                          <a:effectLst/>
                          <a:latin typeface="Calibri"/>
                        </a:rPr>
                        <a:t>6</a:t>
                      </a:r>
                    </a:p>
                  </a:txBody>
                  <a:tcPr marL="9525" marR="9525" marT="9525" marB="0" anchor="b"/>
                </a:tc>
                <a:tc>
                  <a:txBody>
                    <a:bodyPr/>
                    <a:lstStyle/>
                    <a:p>
                      <a:pPr algn="l" fontAlgn="b"/>
                      <a:r>
                        <a:rPr lang="en-IN" sz="1200" b="0" i="0" u="none" strike="noStrike">
                          <a:solidFill>
                            <a:srgbClr val="000000"/>
                          </a:solidFill>
                          <a:effectLst/>
                          <a:latin typeface="Calibri"/>
                        </a:rPr>
                        <a:t>14 4</a:t>
                      </a:r>
                    </a:p>
                  </a:txBody>
                  <a:tcPr marL="9525" marR="9525" marT="9525" marB="0" anchor="b"/>
                </a:tc>
              </a:tr>
              <a:tr h="389136">
                <a:tc>
                  <a:txBody>
                    <a:bodyPr/>
                    <a:lstStyle/>
                    <a:p>
                      <a:pPr algn="l" fontAlgn="b"/>
                      <a:r>
                        <a:rPr lang="en-IN" sz="1200" b="0" i="0" u="none" strike="noStrike">
                          <a:solidFill>
                            <a:srgbClr val="000000"/>
                          </a:solidFill>
                          <a:effectLst/>
                          <a:latin typeface="Calibri"/>
                        </a:rPr>
                        <a:t>Shafts</a:t>
                      </a:r>
                    </a:p>
                  </a:txBody>
                  <a:tcPr marL="9525" marR="9525" marT="9525" marB="0" anchor="b"/>
                </a:tc>
                <a:tc>
                  <a:txBody>
                    <a:bodyPr/>
                    <a:lstStyle/>
                    <a:p>
                      <a:pPr algn="l" fontAlgn="b"/>
                      <a:r>
                        <a:rPr lang="en-IN" sz="1200" b="0" i="0" u="none" strike="noStrike">
                          <a:solidFill>
                            <a:srgbClr val="000000"/>
                          </a:solidFill>
                          <a:effectLst/>
                          <a:latin typeface="Calibri"/>
                        </a:rPr>
                        <a:t>mechanical</a:t>
                      </a:r>
                    </a:p>
                  </a:txBody>
                  <a:tcPr marL="9525" marR="9525" marT="9525" marB="0" anchor="b"/>
                </a:tc>
                <a:tc>
                  <a:txBody>
                    <a:bodyPr/>
                    <a:lstStyle/>
                    <a:p>
                      <a:pPr algn="l" fontAlgn="b"/>
                      <a:r>
                        <a:rPr lang="en-IN" sz="1200" b="0" i="0" u="none" strike="noStrike">
                          <a:solidFill>
                            <a:srgbClr val="000000"/>
                          </a:solidFill>
                          <a:effectLst/>
                          <a:latin typeface="Calibri"/>
                        </a:rPr>
                        <a:t>Vehicle is immovable</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IN" sz="1200" b="0" i="0" u="none" strike="noStrike">
                          <a:solidFill>
                            <a:srgbClr val="000000"/>
                          </a:solidFill>
                          <a:effectLst/>
                          <a:latin typeface="Calibri"/>
                        </a:rPr>
                        <a:t>Cyclic loading</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US" sz="1200" b="0" i="0" u="none" strike="noStrike">
                          <a:solidFill>
                            <a:srgbClr val="000000"/>
                          </a:solidFill>
                          <a:effectLst/>
                          <a:latin typeface="Calibri"/>
                        </a:rPr>
                        <a:t>Designed According to load and performance</a:t>
                      </a:r>
                    </a:p>
                  </a:txBody>
                  <a:tcPr marL="9525" marR="9525" marT="9525" marB="0" anchor="b"/>
                </a:tc>
                <a:tc>
                  <a:txBody>
                    <a:bodyPr/>
                    <a:lstStyle/>
                    <a:p>
                      <a:pPr algn="l" fontAlgn="b"/>
                      <a:r>
                        <a:rPr lang="en-IN" sz="1200" b="0" i="0" u="none" strike="noStrike">
                          <a:solidFill>
                            <a:srgbClr val="000000"/>
                          </a:solidFill>
                          <a:effectLst/>
                          <a:latin typeface="Calibri"/>
                        </a:rPr>
                        <a:t>6</a:t>
                      </a:r>
                    </a:p>
                  </a:txBody>
                  <a:tcPr marL="9525" marR="9525" marT="9525" marB="0" anchor="b"/>
                </a:tc>
                <a:tc>
                  <a:txBody>
                    <a:bodyPr/>
                    <a:lstStyle/>
                    <a:p>
                      <a:pPr algn="l" fontAlgn="b"/>
                      <a:r>
                        <a:rPr lang="en-IN" sz="1200" b="0" i="0" u="none" strike="noStrike">
                          <a:solidFill>
                            <a:srgbClr val="000000"/>
                          </a:solidFill>
                          <a:effectLst/>
                          <a:latin typeface="Calibri"/>
                        </a:rPr>
                        <a:t>294</a:t>
                      </a:r>
                    </a:p>
                  </a:txBody>
                  <a:tcPr marL="9525" marR="9525" marT="9525" marB="0" anchor="b"/>
                </a:tc>
                <a:tc>
                  <a:txBody>
                    <a:bodyPr/>
                    <a:lstStyle/>
                    <a:p>
                      <a:pPr algn="l" fontAlgn="b"/>
                      <a:r>
                        <a:rPr lang="en-IN" sz="1200" b="0" i="0" u="none" strike="noStrike">
                          <a:solidFill>
                            <a:srgbClr val="000000"/>
                          </a:solidFill>
                          <a:effectLst/>
                          <a:latin typeface="Calibri"/>
                        </a:rPr>
                        <a:t>7</a:t>
                      </a:r>
                    </a:p>
                  </a:txBody>
                  <a:tcPr marL="9525" marR="9525" marT="9525" marB="0" anchor="b"/>
                </a:tc>
                <a:tc>
                  <a:txBody>
                    <a:bodyPr/>
                    <a:lstStyle/>
                    <a:p>
                      <a:pPr algn="l" fontAlgn="b"/>
                      <a:r>
                        <a:rPr lang="en-IN" sz="1200" b="0" i="0" u="none" strike="noStrike">
                          <a:solidFill>
                            <a:srgbClr val="000000"/>
                          </a:solidFill>
                          <a:effectLst/>
                          <a:latin typeface="Calibri"/>
                        </a:rPr>
                        <a:t>6</a:t>
                      </a:r>
                    </a:p>
                  </a:txBody>
                  <a:tcPr marL="9525" marR="9525" marT="9525" marB="0" anchor="b"/>
                </a:tc>
                <a:tc>
                  <a:txBody>
                    <a:bodyPr/>
                    <a:lstStyle/>
                    <a:p>
                      <a:pPr algn="l" fontAlgn="b"/>
                      <a:r>
                        <a:rPr lang="en-IN" sz="1200" b="0" i="0" u="none" strike="noStrike" dirty="0">
                          <a:solidFill>
                            <a:srgbClr val="000000"/>
                          </a:solidFill>
                          <a:effectLst/>
                          <a:latin typeface="Calibri"/>
                        </a:rPr>
                        <a:t>25 2</a:t>
                      </a:r>
                    </a:p>
                  </a:txBody>
                  <a:tcPr marL="9525" marR="9525" marT="9525" marB="0" anchor="b"/>
                </a:tc>
              </a:tr>
            </a:tbl>
          </a:graphicData>
        </a:graphic>
      </p:graphicFrame>
    </p:spTree>
    <p:extLst>
      <p:ext uri="{BB962C8B-B14F-4D97-AF65-F5344CB8AC3E}">
        <p14:creationId xmlns:p14="http://schemas.microsoft.com/office/powerpoint/2010/main" val="1416791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890" y="404664"/>
            <a:ext cx="7427168" cy="202034"/>
          </a:xfrm>
        </p:spPr>
        <p:txBody>
          <a:bodyPr>
            <a:normAutofit fontScale="90000"/>
          </a:bodyPr>
          <a:lstStyle/>
          <a:p>
            <a:r>
              <a:rPr lang="en-US" b="1" dirty="0" smtClean="0"/>
              <a:t>Cost –Weight Analysis</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41085862"/>
              </p:ext>
            </p:extLst>
          </p:nvPr>
        </p:nvGraphicFramePr>
        <p:xfrm>
          <a:off x="251520" y="785817"/>
          <a:ext cx="8651304" cy="3729990"/>
        </p:xfrm>
        <a:graphic>
          <a:graphicData uri="http://schemas.openxmlformats.org/drawingml/2006/table">
            <a:tbl>
              <a:tblPr firstRow="1" bandRow="1">
                <a:tableStyleId>{5C22544A-7EE6-4342-B048-85BDC9FD1C3A}</a:tableStyleId>
              </a:tblPr>
              <a:tblGrid>
                <a:gridCol w="1368152"/>
                <a:gridCol w="3168352"/>
                <a:gridCol w="2057400"/>
                <a:gridCol w="2057400"/>
              </a:tblGrid>
              <a:tr h="370840">
                <a:tc>
                  <a:txBody>
                    <a:bodyPr/>
                    <a:lstStyle/>
                    <a:p>
                      <a:pPr algn="l" fontAlgn="b"/>
                      <a:r>
                        <a:rPr lang="en-IN" sz="1800" b="1" i="0" u="none" strike="noStrike" dirty="0" smtClean="0">
                          <a:solidFill>
                            <a:srgbClr val="000000"/>
                          </a:solidFill>
                          <a:effectLst/>
                          <a:latin typeface="Calibri"/>
                        </a:rPr>
                        <a:t>System</a:t>
                      </a:r>
                      <a:endParaRPr lang="en-IN" sz="1800" b="1" i="0" u="none" strike="noStrike" dirty="0">
                        <a:solidFill>
                          <a:srgbClr val="000000"/>
                        </a:solidFill>
                        <a:effectLst/>
                        <a:latin typeface="Calibri"/>
                      </a:endParaRPr>
                    </a:p>
                  </a:txBody>
                  <a:tcPr marL="9525" marR="9525" marT="9525" marB="0" anchor="b"/>
                </a:tc>
                <a:tc>
                  <a:txBody>
                    <a:bodyPr/>
                    <a:lstStyle/>
                    <a:p>
                      <a:pPr algn="l" fontAlgn="b"/>
                      <a:r>
                        <a:rPr lang="en-IN" sz="1800" b="1" i="0" u="none" strike="noStrike" dirty="0">
                          <a:solidFill>
                            <a:srgbClr val="000000"/>
                          </a:solidFill>
                          <a:effectLst/>
                          <a:latin typeface="Calibri"/>
                        </a:rPr>
                        <a:t>Individual components</a:t>
                      </a:r>
                    </a:p>
                  </a:txBody>
                  <a:tcPr marL="9525" marR="9525" marT="9525" marB="0" anchor="b"/>
                </a:tc>
                <a:tc>
                  <a:txBody>
                    <a:bodyPr/>
                    <a:lstStyle/>
                    <a:p>
                      <a:pPr algn="l" fontAlgn="b"/>
                      <a:r>
                        <a:rPr lang="en-IN" sz="1800" b="1" i="0" u="none" strike="noStrike" dirty="0">
                          <a:solidFill>
                            <a:srgbClr val="000000"/>
                          </a:solidFill>
                          <a:effectLst/>
                          <a:latin typeface="Calibri"/>
                        </a:rPr>
                        <a:t>Cost(</a:t>
                      </a:r>
                      <a:r>
                        <a:rPr lang="en-IN" sz="1800" b="1" i="0" u="none" strike="noStrike" dirty="0" err="1">
                          <a:solidFill>
                            <a:srgbClr val="000000"/>
                          </a:solidFill>
                          <a:effectLst/>
                          <a:latin typeface="Calibri"/>
                        </a:rPr>
                        <a:t>Rs</a:t>
                      </a:r>
                      <a:r>
                        <a:rPr lang="en-IN" sz="1800" b="1" i="0" u="none" strike="noStrike" dirty="0">
                          <a:solidFill>
                            <a:srgbClr val="000000"/>
                          </a:solidFill>
                          <a:effectLst/>
                          <a:latin typeface="Calibri"/>
                        </a:rPr>
                        <a:t>)</a:t>
                      </a:r>
                    </a:p>
                  </a:txBody>
                  <a:tcPr marL="9525" marR="9525" marT="9525" marB="0" anchor="b"/>
                </a:tc>
                <a:tc>
                  <a:txBody>
                    <a:bodyPr/>
                    <a:lstStyle/>
                    <a:p>
                      <a:pPr algn="l" fontAlgn="b"/>
                      <a:r>
                        <a:rPr lang="en-IN" sz="1800" b="1" i="0" u="none" strike="noStrike" dirty="0">
                          <a:solidFill>
                            <a:srgbClr val="000000"/>
                          </a:solidFill>
                          <a:effectLst/>
                          <a:latin typeface="Calibri"/>
                        </a:rPr>
                        <a:t>Weight(Kg)</a:t>
                      </a:r>
                    </a:p>
                  </a:txBody>
                  <a:tcPr marL="9525" marR="9525" marT="9525" marB="0" anchor="b"/>
                </a:tc>
              </a:tr>
              <a:tr h="370840">
                <a:tc>
                  <a:txBody>
                    <a:bodyPr/>
                    <a:lstStyle/>
                    <a:p>
                      <a:pPr algn="l" fontAlgn="b"/>
                      <a:r>
                        <a:rPr lang="en-IN" sz="1400" b="0" i="0" u="none" strike="noStrike" dirty="0">
                          <a:solidFill>
                            <a:srgbClr val="000000"/>
                          </a:solidFill>
                          <a:effectLst/>
                          <a:latin typeface="Calibri"/>
                        </a:rPr>
                        <a:t>Suspension</a:t>
                      </a:r>
                    </a:p>
                  </a:txBody>
                  <a:tcPr marL="9525" marR="9525" marT="9525" marB="0" anchor="b"/>
                </a:tc>
                <a:tc>
                  <a:txBody>
                    <a:bodyPr/>
                    <a:lstStyle/>
                    <a:p>
                      <a:pPr algn="l" fontAlgn="b"/>
                      <a:r>
                        <a:rPr lang="en-US" sz="1400" b="0" i="0" u="none" strike="noStrike">
                          <a:solidFill>
                            <a:srgbClr val="000000"/>
                          </a:solidFill>
                          <a:effectLst/>
                          <a:latin typeface="Calibri"/>
                        </a:rPr>
                        <a:t>Shock Absorbers+ Hub+ A arms+ H- frame &amp; link+ Knuckles+ Uprights</a:t>
                      </a:r>
                    </a:p>
                  </a:txBody>
                  <a:tcPr marL="9525" marR="9525" marT="9525" marB="0" anchor="b"/>
                </a:tc>
                <a:tc>
                  <a:txBody>
                    <a:bodyPr/>
                    <a:lstStyle/>
                    <a:p>
                      <a:pPr algn="l" fontAlgn="b"/>
                      <a:r>
                        <a:rPr lang="en-IN" sz="1400" b="0" i="0" u="none" strike="noStrike" dirty="0">
                          <a:solidFill>
                            <a:srgbClr val="000000"/>
                          </a:solidFill>
                          <a:effectLst/>
                          <a:latin typeface="Calibri"/>
                        </a:rPr>
                        <a:t>102+8+0.5+0.6+5+6= </a:t>
                      </a:r>
                      <a:r>
                        <a:rPr lang="en-IN" sz="1400" b="0" i="0" u="none" strike="noStrike" dirty="0" smtClean="0">
                          <a:solidFill>
                            <a:srgbClr val="000000"/>
                          </a:solidFill>
                          <a:effectLst/>
                          <a:latin typeface="Calibri"/>
                        </a:rPr>
                        <a:t>89,191.40</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6+4+2.4+3+1.7+1.5= 17.6</a:t>
                      </a:r>
                    </a:p>
                  </a:txBody>
                  <a:tcPr marL="9525" marR="9525" marT="9525" marB="0" anchor="b"/>
                </a:tc>
              </a:tr>
              <a:tr h="370840">
                <a:tc>
                  <a:txBody>
                    <a:bodyPr/>
                    <a:lstStyle/>
                    <a:p>
                      <a:pPr algn="l" fontAlgn="b"/>
                      <a:r>
                        <a:rPr lang="en-IN" sz="1400" b="0" i="0" u="none" strike="noStrike">
                          <a:solidFill>
                            <a:srgbClr val="000000"/>
                          </a:solidFill>
                          <a:effectLst/>
                          <a:latin typeface="Calibri"/>
                        </a:rPr>
                        <a:t>braking</a:t>
                      </a:r>
                    </a:p>
                  </a:txBody>
                  <a:tcPr marL="9525" marR="9525" marT="9525" marB="0" anchor="b"/>
                </a:tc>
                <a:tc>
                  <a:txBody>
                    <a:bodyPr/>
                    <a:lstStyle/>
                    <a:p>
                      <a:pPr algn="l" fontAlgn="b"/>
                      <a:r>
                        <a:rPr lang="en-IN" sz="1400" b="0" i="0" u="none" strike="noStrike" dirty="0">
                          <a:solidFill>
                            <a:srgbClr val="000000"/>
                          </a:solidFill>
                          <a:effectLst/>
                          <a:latin typeface="Calibri"/>
                        </a:rPr>
                        <a:t>Disc Plates+ Brake pedal+ Brake </a:t>
                      </a:r>
                      <a:r>
                        <a:rPr lang="en-IN" sz="1400" b="0" i="0" u="none" strike="noStrike" dirty="0" err="1">
                          <a:solidFill>
                            <a:srgbClr val="000000"/>
                          </a:solidFill>
                          <a:effectLst/>
                          <a:latin typeface="Calibri"/>
                        </a:rPr>
                        <a:t>calipers</a:t>
                      </a:r>
                      <a:r>
                        <a:rPr lang="en-IN" sz="1400" b="0" i="0" u="none" strike="noStrike" dirty="0">
                          <a:solidFill>
                            <a:srgbClr val="000000"/>
                          </a:solidFill>
                          <a:effectLst/>
                          <a:latin typeface="Calibri"/>
                        </a:rPr>
                        <a:t> + Brake hose+ Master cylinder</a:t>
                      </a:r>
                    </a:p>
                  </a:txBody>
                  <a:tcPr marL="9525" marR="9525" marT="9525" marB="0" anchor="b"/>
                </a:tc>
                <a:tc>
                  <a:txBody>
                    <a:bodyPr/>
                    <a:lstStyle/>
                    <a:p>
                      <a:pPr algn="l" fontAlgn="b"/>
                      <a:r>
                        <a:rPr lang="en-IN" sz="1400" b="0" i="0" u="none" strike="noStrike" dirty="0" smtClean="0">
                          <a:solidFill>
                            <a:srgbClr val="000000"/>
                          </a:solidFill>
                          <a:effectLst/>
                          <a:latin typeface="Calibri"/>
                        </a:rPr>
                        <a:t>2+0.3+4.5+0.9= 7323</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2+0.5+2.25+1+0.5=6 25</a:t>
                      </a:r>
                    </a:p>
                  </a:txBody>
                  <a:tcPr marL="9525" marR="9525" marT="9525" marB="0" anchor="b"/>
                </a:tc>
              </a:tr>
              <a:tr h="370840">
                <a:tc>
                  <a:txBody>
                    <a:bodyPr/>
                    <a:lstStyle/>
                    <a:p>
                      <a:pPr algn="l" fontAlgn="b"/>
                      <a:r>
                        <a:rPr lang="en-IN" sz="1400" b="0" i="0" u="none" strike="noStrike">
                          <a:solidFill>
                            <a:srgbClr val="000000"/>
                          </a:solidFill>
                          <a:effectLst/>
                          <a:latin typeface="Calibri"/>
                        </a:rPr>
                        <a:t>steering</a:t>
                      </a:r>
                    </a:p>
                  </a:txBody>
                  <a:tcPr marL="9525" marR="9525" marT="9525" marB="0" anchor="b"/>
                </a:tc>
                <a:tc>
                  <a:txBody>
                    <a:bodyPr/>
                    <a:lstStyle/>
                    <a:p>
                      <a:pPr algn="l" fontAlgn="b"/>
                      <a:r>
                        <a:rPr lang="en-US" sz="1400" b="0" i="0" u="none" strike="noStrike" dirty="0">
                          <a:solidFill>
                            <a:srgbClr val="000000"/>
                          </a:solidFill>
                          <a:effectLst/>
                          <a:latin typeface="Calibri"/>
                        </a:rPr>
                        <a:t>Wheel + R&amp;P + Column + Joints + Tie rods + Hubs</a:t>
                      </a:r>
                    </a:p>
                  </a:txBody>
                  <a:tcPr marL="9525" marR="9525" marT="9525" marB="0" anchor="b"/>
                </a:tc>
                <a:tc>
                  <a:txBody>
                    <a:bodyPr/>
                    <a:lstStyle/>
                    <a:p>
                      <a:pPr algn="l" fontAlgn="b"/>
                      <a:r>
                        <a:rPr lang="en-IN" sz="1400" b="0" i="0" u="none" strike="noStrike" dirty="0" smtClean="0">
                          <a:solidFill>
                            <a:srgbClr val="000000"/>
                          </a:solidFill>
                          <a:effectLst/>
                          <a:latin typeface="Calibri"/>
                        </a:rPr>
                        <a:t>0.5+9+0.5+1.5+ 1.5+1.8=10,645</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0.4+1.2+1.5+1+0.5+0. 4= 5</a:t>
                      </a:r>
                    </a:p>
                  </a:txBody>
                  <a:tcPr marL="9525" marR="9525" marT="9525" marB="0" anchor="b"/>
                </a:tc>
              </a:tr>
              <a:tr h="370840">
                <a:tc>
                  <a:txBody>
                    <a:bodyPr/>
                    <a:lstStyle/>
                    <a:p>
                      <a:pPr algn="l" fontAlgn="b"/>
                      <a:r>
                        <a:rPr lang="en-IN" sz="1400" b="0" i="0" u="none" strike="noStrike">
                          <a:solidFill>
                            <a:srgbClr val="000000"/>
                          </a:solidFill>
                          <a:effectLst/>
                          <a:latin typeface="Calibri"/>
                        </a:rPr>
                        <a:t>frame</a:t>
                      </a:r>
                    </a:p>
                  </a:txBody>
                  <a:tcPr marL="9525" marR="9525" marT="9525" marB="0" anchor="b"/>
                </a:tc>
                <a:tc>
                  <a:txBody>
                    <a:bodyPr/>
                    <a:lstStyle/>
                    <a:p>
                      <a:pPr algn="l" fontAlgn="b"/>
                      <a:r>
                        <a:rPr lang="en-IN" sz="1400" b="0" i="0" u="none" strike="noStrike" dirty="0">
                          <a:solidFill>
                            <a:srgbClr val="000000"/>
                          </a:solidFill>
                          <a:effectLst/>
                          <a:latin typeface="Calibri"/>
                        </a:rPr>
                        <a:t>Tubes+ Padding+ Clamps+ Firewall+ Welds+ </a:t>
                      </a:r>
                      <a:r>
                        <a:rPr lang="en-IN" sz="1400" b="0" i="0" u="none" strike="noStrike" dirty="0" err="1">
                          <a:solidFill>
                            <a:srgbClr val="000000"/>
                          </a:solidFill>
                          <a:effectLst/>
                          <a:latin typeface="Calibri"/>
                        </a:rPr>
                        <a:t>Paneling</a:t>
                      </a:r>
                      <a:r>
                        <a:rPr lang="en-IN" sz="1400" b="0" i="0" u="none" strike="noStrike" dirty="0">
                          <a:solidFill>
                            <a:srgbClr val="000000"/>
                          </a:solidFill>
                          <a:effectLst/>
                          <a:latin typeface="Calibri"/>
                        </a:rPr>
                        <a:t> + Aesthetics</a:t>
                      </a:r>
                    </a:p>
                  </a:txBody>
                  <a:tcPr marL="9525" marR="9525" marT="9525" marB="0" anchor="b"/>
                </a:tc>
                <a:tc>
                  <a:txBody>
                    <a:bodyPr/>
                    <a:lstStyle/>
                    <a:p>
                      <a:pPr algn="l" fontAlgn="b"/>
                      <a:r>
                        <a:rPr lang="en-IN" sz="1400" b="0" i="0" u="none" strike="noStrike" dirty="0">
                          <a:solidFill>
                            <a:srgbClr val="000000"/>
                          </a:solidFill>
                          <a:effectLst/>
                          <a:latin typeface="Calibri"/>
                        </a:rPr>
                        <a:t>25+1+1.5+0.5+1+0.45+ </a:t>
                      </a:r>
                      <a:r>
                        <a:rPr lang="en-IN" sz="1400" b="0" i="0" u="none" strike="noStrike" dirty="0" smtClean="0">
                          <a:solidFill>
                            <a:srgbClr val="000000"/>
                          </a:solidFill>
                          <a:effectLst/>
                          <a:latin typeface="Calibri"/>
                        </a:rPr>
                        <a:t>0.5=30,247</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15 5+1+3+ 1.5+2+0.8+0.2=23.5</a:t>
                      </a:r>
                    </a:p>
                  </a:txBody>
                  <a:tcPr marL="9525" marR="9525" marT="9525" marB="0" anchor="b"/>
                </a:tc>
              </a:tr>
              <a:tr h="370840">
                <a:tc>
                  <a:txBody>
                    <a:bodyPr/>
                    <a:lstStyle/>
                    <a:p>
                      <a:pPr algn="l" fontAlgn="b"/>
                      <a:r>
                        <a:rPr lang="en-IN" sz="1400" b="0" i="0" u="none" strike="noStrike">
                          <a:solidFill>
                            <a:srgbClr val="000000"/>
                          </a:solidFill>
                          <a:effectLst/>
                          <a:latin typeface="Calibri"/>
                        </a:rPr>
                        <a:t>transmission</a:t>
                      </a:r>
                    </a:p>
                  </a:txBody>
                  <a:tcPr marL="9525" marR="9525" marT="9525" marB="0" anchor="b"/>
                </a:tc>
                <a:tc>
                  <a:txBody>
                    <a:bodyPr/>
                    <a:lstStyle/>
                    <a:p>
                      <a:pPr algn="l" fontAlgn="b"/>
                      <a:r>
                        <a:rPr lang="en-IN" sz="1400" b="0" i="0" u="none" strike="noStrike" dirty="0">
                          <a:solidFill>
                            <a:srgbClr val="000000"/>
                          </a:solidFill>
                          <a:effectLst/>
                          <a:latin typeface="Calibri"/>
                        </a:rPr>
                        <a:t>Engine+ CVT+ Shafts+ casing+ rear Gear box+ front gearbox+ </a:t>
                      </a:r>
                      <a:r>
                        <a:rPr lang="en-IN" sz="1400" b="0" i="0" u="none" strike="noStrike" dirty="0" smtClean="0">
                          <a:solidFill>
                            <a:srgbClr val="000000"/>
                          </a:solidFill>
                          <a:effectLst/>
                          <a:latin typeface="Calibri"/>
                        </a:rPr>
                        <a:t>propeller</a:t>
                      </a:r>
                      <a:r>
                        <a:rPr lang="en-IN" sz="1400" b="0" i="0" u="none" strike="noStrike" baseline="0" dirty="0" smtClean="0">
                          <a:solidFill>
                            <a:srgbClr val="000000"/>
                          </a:solidFill>
                          <a:effectLst/>
                          <a:latin typeface="Calibri"/>
                        </a:rPr>
                        <a:t> </a:t>
                      </a:r>
                      <a:r>
                        <a:rPr lang="en-IN" sz="1400" b="0" i="0" u="none" strike="noStrike" dirty="0" smtClean="0">
                          <a:solidFill>
                            <a:srgbClr val="000000"/>
                          </a:solidFill>
                          <a:effectLst/>
                          <a:latin typeface="Calibri"/>
                        </a:rPr>
                        <a:t>shaft</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dirty="0">
                          <a:solidFill>
                            <a:srgbClr val="000000"/>
                          </a:solidFill>
                          <a:effectLst/>
                          <a:latin typeface="Calibri"/>
                        </a:rPr>
                        <a:t>87+45+30+0.8+40+30+ 8= </a:t>
                      </a:r>
                      <a:r>
                        <a:rPr lang="en-IN" sz="1400" b="0" i="0" u="none" strike="noStrike" dirty="0" smtClean="0">
                          <a:solidFill>
                            <a:srgbClr val="000000"/>
                          </a:solidFill>
                          <a:effectLst/>
                          <a:latin typeface="Calibri"/>
                        </a:rPr>
                        <a:t>2,38,597</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26.3+10+4+0.5+6+2+ =49.8</a:t>
                      </a:r>
                    </a:p>
                  </a:txBody>
                  <a:tcPr marL="9525" marR="9525" marT="9525" marB="0" anchor="b"/>
                </a:tc>
              </a:tr>
              <a:tr h="370840">
                <a:tc>
                  <a:txBody>
                    <a:bodyPr/>
                    <a:lstStyle/>
                    <a:p>
                      <a:pPr algn="l" fontAlgn="b"/>
                      <a:r>
                        <a:rPr lang="en-IN" sz="1400" b="0" i="0" u="none" strike="noStrike">
                          <a:solidFill>
                            <a:srgbClr val="000000"/>
                          </a:solidFill>
                          <a:effectLst/>
                          <a:latin typeface="Calibri"/>
                        </a:rPr>
                        <a:t>wheels</a:t>
                      </a:r>
                    </a:p>
                  </a:txBody>
                  <a:tcPr marL="9525" marR="9525" marT="9525" marB="0" anchor="b"/>
                </a:tc>
                <a:tc>
                  <a:txBody>
                    <a:bodyPr/>
                    <a:lstStyle/>
                    <a:p>
                      <a:pPr algn="l" fontAlgn="b"/>
                      <a:r>
                        <a:rPr lang="en-IN" sz="1400" b="0" i="0" u="none" strike="noStrike" dirty="0">
                          <a:solidFill>
                            <a:srgbClr val="000000"/>
                          </a:solidFill>
                          <a:effectLst/>
                          <a:latin typeface="Calibri"/>
                        </a:rPr>
                        <a:t>Rims+ Tyre</a:t>
                      </a:r>
                    </a:p>
                  </a:txBody>
                  <a:tcPr marL="9525" marR="9525" marT="9525" marB="0" anchor="b"/>
                </a:tc>
                <a:tc>
                  <a:txBody>
                    <a:bodyPr/>
                    <a:lstStyle/>
                    <a:p>
                      <a:pPr algn="l" fontAlgn="b"/>
                      <a:r>
                        <a:rPr lang="en-IN" sz="1400" b="0" i="0" u="none" strike="noStrike" dirty="0" smtClean="0">
                          <a:solidFill>
                            <a:srgbClr val="000000"/>
                          </a:solidFill>
                          <a:effectLst/>
                          <a:latin typeface="Calibri"/>
                        </a:rPr>
                        <a:t>4+80=84800</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a:solidFill>
                            <a:srgbClr val="000000"/>
                          </a:solidFill>
                          <a:effectLst/>
                          <a:latin typeface="Calibri"/>
                        </a:rPr>
                        <a:t>8.4+14=22.4</a:t>
                      </a:r>
                    </a:p>
                  </a:txBody>
                  <a:tcPr marL="9525" marR="9525" marT="9525" marB="0" anchor="b"/>
                </a:tc>
              </a:tr>
              <a:tr h="370840">
                <a:tc>
                  <a:txBody>
                    <a:bodyPr/>
                    <a:lstStyle/>
                    <a:p>
                      <a:pPr algn="l" fontAlgn="b"/>
                      <a:r>
                        <a:rPr lang="en-IN" sz="1400" b="0" i="0" u="none" strike="noStrike" dirty="0">
                          <a:solidFill>
                            <a:srgbClr val="000000"/>
                          </a:solidFill>
                          <a:effectLst/>
                          <a:latin typeface="Calibri"/>
                        </a:rPr>
                        <a:t>miscellaneous</a:t>
                      </a:r>
                    </a:p>
                  </a:txBody>
                  <a:tcPr marL="9525" marR="9525" marT="9525" marB="0" anchor="b"/>
                </a:tc>
                <a:tc>
                  <a:txBody>
                    <a:bodyPr/>
                    <a:lstStyle/>
                    <a:p>
                      <a:pPr algn="l" fontAlgn="b"/>
                      <a:r>
                        <a:rPr lang="en-US" sz="1400" b="0" i="0" u="none" strike="noStrike">
                          <a:solidFill>
                            <a:srgbClr val="000000"/>
                          </a:solidFill>
                          <a:effectLst/>
                          <a:latin typeface="Calibri"/>
                        </a:rPr>
                        <a:t>Fasteners+ oils + electricals+ Battery+ Fuel tank +others</a:t>
                      </a:r>
                    </a:p>
                  </a:txBody>
                  <a:tcPr marL="9525" marR="9525" marT="9525" marB="0" anchor="b"/>
                </a:tc>
                <a:tc>
                  <a:txBody>
                    <a:bodyPr/>
                    <a:lstStyle/>
                    <a:p>
                      <a:pPr algn="l" fontAlgn="b"/>
                      <a:r>
                        <a:rPr lang="en-IN" sz="1400" b="0" i="0" u="none" strike="noStrike" dirty="0" smtClean="0">
                          <a:solidFill>
                            <a:srgbClr val="000000"/>
                          </a:solidFill>
                          <a:effectLst/>
                          <a:latin typeface="Calibri"/>
                        </a:rPr>
                        <a:t>3+1.3+9+3+4+5=1735</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dirty="0">
                          <a:solidFill>
                            <a:srgbClr val="000000"/>
                          </a:solidFill>
                          <a:effectLst/>
                          <a:latin typeface="Calibri"/>
                        </a:rPr>
                        <a:t>4+3+0.5+0.75+0.5=8. 75</a:t>
                      </a:r>
                    </a:p>
                  </a:txBody>
                  <a:tcPr marL="9525" marR="9525" marT="9525" marB="0" anchor="b"/>
                </a:tc>
              </a:tr>
              <a:tr h="370840">
                <a:tc>
                  <a:txBody>
                    <a:bodyPr/>
                    <a:lstStyle/>
                    <a:p>
                      <a:pPr algn="l" fontAlgn="b"/>
                      <a:r>
                        <a:rPr lang="en-IN" sz="1400" b="0" i="0" u="none" strike="noStrike">
                          <a:solidFill>
                            <a:srgbClr val="000000"/>
                          </a:solidFill>
                          <a:effectLst/>
                          <a:latin typeface="Calibri"/>
                        </a:rPr>
                        <a:t>total</a:t>
                      </a:r>
                    </a:p>
                  </a:txBody>
                  <a:tcPr marL="9525" marR="9525" marT="9525" marB="0" anchor="b"/>
                </a:tc>
                <a:tc>
                  <a:txBody>
                    <a:bodyPr/>
                    <a:lstStyle/>
                    <a:p>
                      <a:pPr algn="l" fontAlgn="b"/>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dirty="0" err="1">
                          <a:solidFill>
                            <a:srgbClr val="000000"/>
                          </a:solidFill>
                          <a:effectLst/>
                          <a:latin typeface="Calibri"/>
                        </a:rPr>
                        <a:t>Rs</a:t>
                      </a:r>
                      <a:r>
                        <a:rPr lang="en-IN" sz="1400" b="0" i="0" u="none" strike="noStrike" dirty="0">
                          <a:solidFill>
                            <a:srgbClr val="000000"/>
                          </a:solidFill>
                          <a:effectLst/>
                          <a:latin typeface="Calibri"/>
                        </a:rPr>
                        <a:t>: </a:t>
                      </a:r>
                      <a:r>
                        <a:rPr lang="en-IN" sz="1400" b="0" i="0" u="none" strike="noStrike" dirty="0" smtClean="0">
                          <a:solidFill>
                            <a:srgbClr val="000000"/>
                          </a:solidFill>
                          <a:effectLst/>
                          <a:latin typeface="Calibri"/>
                        </a:rPr>
                        <a:t>4,19,911.40</a:t>
                      </a:r>
                      <a:endParaRPr lang="en-IN" sz="1400" b="0" i="0" u="none" strike="noStrike" dirty="0">
                        <a:solidFill>
                          <a:srgbClr val="000000"/>
                        </a:solidFill>
                        <a:effectLst/>
                        <a:latin typeface="Calibri"/>
                      </a:endParaRPr>
                    </a:p>
                  </a:txBody>
                  <a:tcPr marL="9525" marR="9525" marT="9525" marB="0" anchor="b"/>
                </a:tc>
                <a:tc>
                  <a:txBody>
                    <a:bodyPr/>
                    <a:lstStyle/>
                    <a:p>
                      <a:pPr algn="l" fontAlgn="b"/>
                      <a:r>
                        <a:rPr lang="en-IN" sz="1400" b="0" i="0" u="none" strike="noStrike" dirty="0">
                          <a:solidFill>
                            <a:srgbClr val="000000"/>
                          </a:solidFill>
                          <a:effectLst/>
                          <a:latin typeface="Calibri"/>
                        </a:rPr>
                        <a:t>142.4kg</a:t>
                      </a:r>
                    </a:p>
                  </a:txBody>
                  <a:tcPr marL="9525" marR="9525" marT="9525" marB="0" anchor="b"/>
                </a:tc>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4515807"/>
            <a:ext cx="3240360" cy="242435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4475507"/>
            <a:ext cx="3312368" cy="2374675"/>
          </a:xfrm>
          <a:prstGeom prst="rect">
            <a:avLst/>
          </a:prstGeom>
        </p:spPr>
      </p:pic>
    </p:spTree>
    <p:extLst>
      <p:ext uri="{BB962C8B-B14F-4D97-AF65-F5344CB8AC3E}">
        <p14:creationId xmlns:p14="http://schemas.microsoft.com/office/powerpoint/2010/main" val="33934114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Project plan</a:t>
            </a:r>
            <a:endParaRPr lang="en-IN" b="1"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417" y="1268760"/>
            <a:ext cx="9052359" cy="5256584"/>
          </a:xfrm>
        </p:spPr>
      </p:pic>
    </p:spTree>
    <p:extLst>
      <p:ext uri="{BB962C8B-B14F-4D97-AF65-F5344CB8AC3E}">
        <p14:creationId xmlns:p14="http://schemas.microsoft.com/office/powerpoint/2010/main" val="12639050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object 9"/>
          <p:cNvGrpSpPr/>
          <p:nvPr/>
        </p:nvGrpSpPr>
        <p:grpSpPr>
          <a:xfrm>
            <a:off x="418434" y="1157186"/>
            <a:ext cx="1584325" cy="1355725"/>
            <a:chOff x="2522601" y="531876"/>
            <a:chExt cx="1584325" cy="1355725"/>
          </a:xfrm>
        </p:grpSpPr>
        <p:sp>
          <p:nvSpPr>
            <p:cNvPr id="32" name="object 10"/>
            <p:cNvSpPr/>
            <p:nvPr/>
          </p:nvSpPr>
          <p:spPr>
            <a:xfrm>
              <a:off x="2528951" y="538226"/>
              <a:ext cx="1571625" cy="1343025"/>
            </a:xfrm>
            <a:custGeom>
              <a:avLst/>
              <a:gdLst/>
              <a:ahLst/>
              <a:cxnLst/>
              <a:rect l="l" t="t" r="r" b="b"/>
              <a:pathLst>
                <a:path w="1571625" h="1343025">
                  <a:moveTo>
                    <a:pt x="1347724" y="0"/>
                  </a:moveTo>
                  <a:lnTo>
                    <a:pt x="223774" y="0"/>
                  </a:lnTo>
                  <a:lnTo>
                    <a:pt x="178680" y="4546"/>
                  </a:lnTo>
                  <a:lnTo>
                    <a:pt x="136677" y="17587"/>
                  </a:lnTo>
                  <a:lnTo>
                    <a:pt x="98666" y="38221"/>
                  </a:lnTo>
                  <a:lnTo>
                    <a:pt x="65547" y="65547"/>
                  </a:lnTo>
                  <a:lnTo>
                    <a:pt x="38221" y="98666"/>
                  </a:lnTo>
                  <a:lnTo>
                    <a:pt x="17587" y="136677"/>
                  </a:lnTo>
                  <a:lnTo>
                    <a:pt x="4546" y="178680"/>
                  </a:lnTo>
                  <a:lnTo>
                    <a:pt x="0" y="223774"/>
                  </a:lnTo>
                  <a:lnTo>
                    <a:pt x="0" y="1119124"/>
                  </a:lnTo>
                  <a:lnTo>
                    <a:pt x="4546" y="1164223"/>
                  </a:lnTo>
                  <a:lnTo>
                    <a:pt x="17587" y="1206240"/>
                  </a:lnTo>
                  <a:lnTo>
                    <a:pt x="38221" y="1244271"/>
                  </a:lnTo>
                  <a:lnTo>
                    <a:pt x="65547" y="1277413"/>
                  </a:lnTo>
                  <a:lnTo>
                    <a:pt x="98666" y="1304763"/>
                  </a:lnTo>
                  <a:lnTo>
                    <a:pt x="136677" y="1325417"/>
                  </a:lnTo>
                  <a:lnTo>
                    <a:pt x="178680" y="1338472"/>
                  </a:lnTo>
                  <a:lnTo>
                    <a:pt x="223774" y="1343025"/>
                  </a:lnTo>
                  <a:lnTo>
                    <a:pt x="1347724" y="1343025"/>
                  </a:lnTo>
                  <a:lnTo>
                    <a:pt x="1392823" y="1338472"/>
                  </a:lnTo>
                  <a:lnTo>
                    <a:pt x="1434840" y="1325417"/>
                  </a:lnTo>
                  <a:lnTo>
                    <a:pt x="1472871" y="1304763"/>
                  </a:lnTo>
                  <a:lnTo>
                    <a:pt x="1506013" y="1277413"/>
                  </a:lnTo>
                  <a:lnTo>
                    <a:pt x="1533363" y="1244271"/>
                  </a:lnTo>
                  <a:lnTo>
                    <a:pt x="1554017" y="1206240"/>
                  </a:lnTo>
                  <a:lnTo>
                    <a:pt x="1567072" y="1164223"/>
                  </a:lnTo>
                  <a:lnTo>
                    <a:pt x="1571625" y="1119124"/>
                  </a:lnTo>
                  <a:lnTo>
                    <a:pt x="1571625" y="223774"/>
                  </a:lnTo>
                  <a:lnTo>
                    <a:pt x="1567072" y="178680"/>
                  </a:lnTo>
                  <a:lnTo>
                    <a:pt x="1554017" y="136677"/>
                  </a:lnTo>
                  <a:lnTo>
                    <a:pt x="1533363" y="98666"/>
                  </a:lnTo>
                  <a:lnTo>
                    <a:pt x="1506013" y="65547"/>
                  </a:lnTo>
                  <a:lnTo>
                    <a:pt x="1472871" y="38221"/>
                  </a:lnTo>
                  <a:lnTo>
                    <a:pt x="1434840" y="17587"/>
                  </a:lnTo>
                  <a:lnTo>
                    <a:pt x="1392823" y="4546"/>
                  </a:lnTo>
                  <a:lnTo>
                    <a:pt x="1347724" y="0"/>
                  </a:lnTo>
                  <a:close/>
                </a:path>
              </a:pathLst>
            </a:custGeom>
            <a:solidFill>
              <a:srgbClr val="000000"/>
            </a:solidFill>
          </p:spPr>
          <p:txBody>
            <a:bodyPr wrap="square" lIns="0" tIns="0" rIns="0" bIns="0" rtlCol="0"/>
            <a:lstStyle/>
            <a:p>
              <a:endParaRPr>
                <a:latin typeface="10"/>
              </a:endParaRPr>
            </a:p>
          </p:txBody>
        </p:sp>
        <p:sp>
          <p:nvSpPr>
            <p:cNvPr id="33" name="object 11"/>
            <p:cNvSpPr/>
            <p:nvPr/>
          </p:nvSpPr>
          <p:spPr>
            <a:xfrm>
              <a:off x="2528951" y="538226"/>
              <a:ext cx="1571625" cy="1343025"/>
            </a:xfrm>
            <a:custGeom>
              <a:avLst/>
              <a:gdLst/>
              <a:ahLst/>
              <a:cxnLst/>
              <a:rect l="l" t="t" r="r" b="b"/>
              <a:pathLst>
                <a:path w="1571625" h="1343025">
                  <a:moveTo>
                    <a:pt x="0" y="223774"/>
                  </a:moveTo>
                  <a:lnTo>
                    <a:pt x="4546" y="178680"/>
                  </a:lnTo>
                  <a:lnTo>
                    <a:pt x="17587" y="136677"/>
                  </a:lnTo>
                  <a:lnTo>
                    <a:pt x="38221" y="98666"/>
                  </a:lnTo>
                  <a:lnTo>
                    <a:pt x="65547" y="65547"/>
                  </a:lnTo>
                  <a:lnTo>
                    <a:pt x="98666" y="38221"/>
                  </a:lnTo>
                  <a:lnTo>
                    <a:pt x="136677" y="17587"/>
                  </a:lnTo>
                  <a:lnTo>
                    <a:pt x="178680" y="4546"/>
                  </a:lnTo>
                  <a:lnTo>
                    <a:pt x="223774" y="0"/>
                  </a:lnTo>
                  <a:lnTo>
                    <a:pt x="1347724" y="0"/>
                  </a:lnTo>
                  <a:lnTo>
                    <a:pt x="1392823" y="4546"/>
                  </a:lnTo>
                  <a:lnTo>
                    <a:pt x="1434840" y="17587"/>
                  </a:lnTo>
                  <a:lnTo>
                    <a:pt x="1472871" y="38221"/>
                  </a:lnTo>
                  <a:lnTo>
                    <a:pt x="1506013" y="65547"/>
                  </a:lnTo>
                  <a:lnTo>
                    <a:pt x="1533363" y="98666"/>
                  </a:lnTo>
                  <a:lnTo>
                    <a:pt x="1554017" y="136677"/>
                  </a:lnTo>
                  <a:lnTo>
                    <a:pt x="1567072" y="178680"/>
                  </a:lnTo>
                  <a:lnTo>
                    <a:pt x="1571625" y="223774"/>
                  </a:lnTo>
                  <a:lnTo>
                    <a:pt x="1571625" y="1119124"/>
                  </a:lnTo>
                  <a:lnTo>
                    <a:pt x="1567072" y="1164223"/>
                  </a:lnTo>
                  <a:lnTo>
                    <a:pt x="1554017" y="1206240"/>
                  </a:lnTo>
                  <a:lnTo>
                    <a:pt x="1533363" y="1244271"/>
                  </a:lnTo>
                  <a:lnTo>
                    <a:pt x="1506013" y="1277413"/>
                  </a:lnTo>
                  <a:lnTo>
                    <a:pt x="1472871" y="1304763"/>
                  </a:lnTo>
                  <a:lnTo>
                    <a:pt x="1434840" y="1325417"/>
                  </a:lnTo>
                  <a:lnTo>
                    <a:pt x="1392823" y="1338472"/>
                  </a:lnTo>
                  <a:lnTo>
                    <a:pt x="1347724" y="1343025"/>
                  </a:lnTo>
                  <a:lnTo>
                    <a:pt x="223774" y="1343025"/>
                  </a:lnTo>
                  <a:lnTo>
                    <a:pt x="178680" y="1338472"/>
                  </a:lnTo>
                  <a:lnTo>
                    <a:pt x="136677" y="1325417"/>
                  </a:lnTo>
                  <a:lnTo>
                    <a:pt x="98666" y="1304763"/>
                  </a:lnTo>
                  <a:lnTo>
                    <a:pt x="65547" y="1277413"/>
                  </a:lnTo>
                  <a:lnTo>
                    <a:pt x="38221" y="1244271"/>
                  </a:lnTo>
                  <a:lnTo>
                    <a:pt x="17587" y="1206240"/>
                  </a:lnTo>
                  <a:lnTo>
                    <a:pt x="4546" y="1164223"/>
                  </a:lnTo>
                  <a:lnTo>
                    <a:pt x="0" y="1119124"/>
                  </a:lnTo>
                  <a:lnTo>
                    <a:pt x="0" y="223774"/>
                  </a:lnTo>
                  <a:close/>
                </a:path>
              </a:pathLst>
            </a:custGeom>
            <a:ln w="12700">
              <a:solidFill>
                <a:srgbClr val="2E528F"/>
              </a:solidFill>
            </a:ln>
          </p:spPr>
          <p:txBody>
            <a:bodyPr wrap="square" lIns="0" tIns="0" rIns="0" bIns="0" rtlCol="0"/>
            <a:lstStyle/>
            <a:p>
              <a:endParaRPr>
                <a:latin typeface="10"/>
              </a:endParaRPr>
            </a:p>
          </p:txBody>
        </p:sp>
      </p:grpSp>
      <p:sp>
        <p:nvSpPr>
          <p:cNvPr id="2" name="Title 1"/>
          <p:cNvSpPr>
            <a:spLocks noGrp="1"/>
          </p:cNvSpPr>
          <p:nvPr>
            <p:ph type="title"/>
          </p:nvPr>
        </p:nvSpPr>
        <p:spPr>
          <a:xfrm>
            <a:off x="571572" y="-40742"/>
            <a:ext cx="8229600" cy="1143000"/>
          </a:xfrm>
        </p:spPr>
        <p:txBody>
          <a:bodyPr>
            <a:normAutofit/>
          </a:bodyPr>
          <a:lstStyle/>
          <a:p>
            <a:r>
              <a:rPr lang="en-IN" sz="2800" b="1" spc="-5" dirty="0"/>
              <a:t>R</a:t>
            </a:r>
            <a:r>
              <a:rPr lang="en-IN" sz="2800" b="1" spc="40" dirty="0"/>
              <a:t>o</a:t>
            </a:r>
            <a:r>
              <a:rPr lang="en-IN" sz="2800" b="1" spc="30" dirty="0"/>
              <a:t>l</a:t>
            </a:r>
            <a:r>
              <a:rPr lang="en-IN" sz="2800" b="1" spc="5" dirty="0"/>
              <a:t>l</a:t>
            </a:r>
            <a:r>
              <a:rPr lang="en-IN" sz="2800" b="1" spc="-130" dirty="0"/>
              <a:t> </a:t>
            </a:r>
            <a:r>
              <a:rPr lang="en-IN" sz="2800" b="1" spc="-15" dirty="0"/>
              <a:t>C</a:t>
            </a:r>
            <a:r>
              <a:rPr lang="en-IN" sz="2800" b="1" spc="-20" dirty="0"/>
              <a:t>a</a:t>
            </a:r>
            <a:r>
              <a:rPr lang="en-IN" sz="2800" b="1" spc="20" dirty="0"/>
              <a:t>g</a:t>
            </a:r>
            <a:r>
              <a:rPr lang="en-IN" sz="2800" b="1" spc="10" dirty="0"/>
              <a:t>e</a:t>
            </a:r>
            <a:r>
              <a:rPr lang="en-IN" sz="2800" b="1" spc="-50" dirty="0"/>
              <a:t> </a:t>
            </a:r>
            <a:r>
              <a:rPr lang="en-IN" sz="2800" b="1" spc="10" dirty="0"/>
              <a:t>D</a:t>
            </a:r>
            <a:r>
              <a:rPr lang="en-IN" sz="2800" b="1" spc="35" dirty="0"/>
              <a:t>e</a:t>
            </a:r>
            <a:r>
              <a:rPr lang="en-IN" sz="2800" b="1" spc="20" dirty="0"/>
              <a:t>s</a:t>
            </a:r>
            <a:r>
              <a:rPr lang="en-IN" sz="2800" b="1" spc="30" dirty="0"/>
              <a:t>i</a:t>
            </a:r>
            <a:r>
              <a:rPr lang="en-IN" sz="2800" b="1" spc="20" dirty="0"/>
              <a:t>g</a:t>
            </a:r>
            <a:r>
              <a:rPr lang="en-IN" sz="2800" b="1" spc="10" dirty="0"/>
              <a:t>n</a:t>
            </a:r>
            <a:r>
              <a:rPr lang="en-IN" sz="2800" b="1" spc="-114" dirty="0"/>
              <a:t> </a:t>
            </a:r>
            <a:r>
              <a:rPr lang="en-IN" sz="2800" b="1" spc="-20" dirty="0"/>
              <a:t>P</a:t>
            </a:r>
            <a:r>
              <a:rPr lang="en-IN" sz="2800" b="1" spc="30" dirty="0"/>
              <a:t>r</a:t>
            </a:r>
            <a:r>
              <a:rPr lang="en-IN" sz="2800" b="1" spc="40" dirty="0"/>
              <a:t>o</a:t>
            </a:r>
            <a:r>
              <a:rPr lang="en-IN" sz="2800" b="1" spc="-15" dirty="0"/>
              <a:t>c</a:t>
            </a:r>
            <a:r>
              <a:rPr lang="en-IN" sz="2800" b="1" spc="35" dirty="0"/>
              <a:t>e</a:t>
            </a:r>
            <a:r>
              <a:rPr lang="en-IN" sz="2800" b="1" spc="20" dirty="0"/>
              <a:t>s</a:t>
            </a:r>
            <a:r>
              <a:rPr lang="en-IN" sz="2800" b="1" spc="60" dirty="0"/>
              <a:t>s</a:t>
            </a:r>
            <a:r>
              <a:rPr lang="en-IN" sz="2800" b="1" spc="-15" dirty="0"/>
              <a:t>-</a:t>
            </a:r>
            <a:r>
              <a:rPr lang="en-IN" sz="2800" b="1" spc="-5" dirty="0"/>
              <a:t>E</a:t>
            </a:r>
            <a:r>
              <a:rPr lang="en-IN" sz="2800" b="1" spc="30" dirty="0"/>
              <a:t>r</a:t>
            </a:r>
            <a:r>
              <a:rPr lang="en-IN" sz="2800" b="1" spc="-55" dirty="0"/>
              <a:t>g</a:t>
            </a:r>
            <a:r>
              <a:rPr lang="en-IN" sz="2800" b="1" spc="-30" dirty="0"/>
              <a:t>on</a:t>
            </a:r>
            <a:r>
              <a:rPr lang="en-IN" sz="2800" b="1" spc="45" dirty="0"/>
              <a:t>o</a:t>
            </a:r>
            <a:r>
              <a:rPr lang="en-IN" sz="2800" b="1" spc="15" dirty="0"/>
              <a:t>m</a:t>
            </a:r>
            <a:r>
              <a:rPr lang="en-IN" sz="2800" b="1" spc="-45" dirty="0"/>
              <a:t>i</a:t>
            </a:r>
            <a:r>
              <a:rPr lang="en-IN" sz="2800" b="1" spc="-15" dirty="0"/>
              <a:t>c</a:t>
            </a:r>
            <a:r>
              <a:rPr lang="en-IN" sz="2800" b="1" spc="10" dirty="0"/>
              <a:t>s</a:t>
            </a:r>
            <a:endParaRPr lang="en-IN" sz="2800" b="1" dirty="0">
              <a:latin typeface="10"/>
            </a:endParaRPr>
          </a:p>
        </p:txBody>
      </p:sp>
      <p:sp>
        <p:nvSpPr>
          <p:cNvPr id="5" name="object 8"/>
          <p:cNvSpPr txBox="1"/>
          <p:nvPr/>
        </p:nvSpPr>
        <p:spPr>
          <a:xfrm>
            <a:off x="424784" y="1224169"/>
            <a:ext cx="1468343" cy="1493358"/>
          </a:xfrm>
          <a:prstGeom prst="rect">
            <a:avLst/>
          </a:prstGeom>
        </p:spPr>
        <p:txBody>
          <a:bodyPr vert="horz" wrap="square" lIns="0" tIns="15875" rIns="0" bIns="0" rtlCol="0">
            <a:spAutoFit/>
          </a:bodyPr>
          <a:lstStyle/>
          <a:p>
            <a:pPr marL="12065" marR="5080" indent="-47625" algn="ctr">
              <a:lnSpc>
                <a:spcPct val="100099"/>
              </a:lnSpc>
              <a:spcBef>
                <a:spcPts val="125"/>
              </a:spcBef>
            </a:pPr>
            <a:r>
              <a:rPr sz="1600" spc="-5" dirty="0" smtClean="0">
                <a:solidFill>
                  <a:srgbClr val="FFFFFF"/>
                </a:solidFill>
                <a:latin typeface="10"/>
                <a:cs typeface="Calibri"/>
              </a:rPr>
              <a:t>Accepting </a:t>
            </a:r>
            <a:r>
              <a:rPr sz="1600" dirty="0" smtClean="0">
                <a:solidFill>
                  <a:srgbClr val="FFFFFF"/>
                </a:solidFill>
                <a:latin typeface="10"/>
                <a:cs typeface="Calibri"/>
              </a:rPr>
              <a:t> </a:t>
            </a:r>
            <a:r>
              <a:rPr sz="1600" spc="-5" dirty="0" smtClean="0">
                <a:solidFill>
                  <a:srgbClr val="FFFFFF"/>
                </a:solidFill>
                <a:latin typeface="10"/>
                <a:cs typeface="Calibri"/>
              </a:rPr>
              <a:t>clearances </a:t>
            </a:r>
            <a:r>
              <a:rPr sz="1600" spc="5" dirty="0" smtClean="0">
                <a:solidFill>
                  <a:srgbClr val="FFFFFF"/>
                </a:solidFill>
                <a:latin typeface="10"/>
                <a:cs typeface="Calibri"/>
              </a:rPr>
              <a:t>of </a:t>
            </a:r>
            <a:r>
              <a:rPr sz="1600" spc="10" dirty="0" smtClean="0">
                <a:solidFill>
                  <a:srgbClr val="FFFFFF"/>
                </a:solidFill>
                <a:latin typeface="10"/>
                <a:cs typeface="Calibri"/>
              </a:rPr>
              <a:t> </a:t>
            </a:r>
            <a:r>
              <a:rPr sz="1600" spc="-5" dirty="0" smtClean="0">
                <a:solidFill>
                  <a:srgbClr val="FFFFFF"/>
                </a:solidFill>
                <a:latin typeface="10"/>
                <a:cs typeface="Calibri"/>
              </a:rPr>
              <a:t>Rulebook</a:t>
            </a:r>
            <a:r>
              <a:rPr sz="1600" spc="-55" dirty="0" smtClean="0">
                <a:solidFill>
                  <a:srgbClr val="FFFFFF"/>
                </a:solidFill>
                <a:latin typeface="10"/>
                <a:cs typeface="Calibri"/>
              </a:rPr>
              <a:t> </a:t>
            </a:r>
            <a:r>
              <a:rPr sz="1600" dirty="0" smtClean="0">
                <a:solidFill>
                  <a:srgbClr val="FFFFFF"/>
                </a:solidFill>
                <a:latin typeface="10"/>
                <a:cs typeface="Calibri"/>
              </a:rPr>
              <a:t>with </a:t>
            </a:r>
            <a:r>
              <a:rPr sz="1600" spc="-300" dirty="0" smtClean="0">
                <a:solidFill>
                  <a:srgbClr val="FFFFFF"/>
                </a:solidFill>
                <a:latin typeface="10"/>
                <a:cs typeface="Calibri"/>
              </a:rPr>
              <a:t> </a:t>
            </a:r>
            <a:r>
              <a:rPr sz="1600" spc="10" dirty="0" smtClean="0">
                <a:solidFill>
                  <a:srgbClr val="FFFFFF"/>
                </a:solidFill>
                <a:latin typeface="10"/>
                <a:cs typeface="Calibri"/>
              </a:rPr>
              <a:t>driver’s </a:t>
            </a:r>
            <a:r>
              <a:rPr sz="1600" spc="15" dirty="0" smtClean="0">
                <a:solidFill>
                  <a:srgbClr val="FFFFFF"/>
                </a:solidFill>
                <a:latin typeface="10"/>
                <a:cs typeface="Calibri"/>
              </a:rPr>
              <a:t> </a:t>
            </a:r>
            <a:r>
              <a:rPr sz="1600" spc="5" dirty="0" smtClean="0">
                <a:solidFill>
                  <a:srgbClr val="FFFFFF"/>
                </a:solidFill>
                <a:latin typeface="10"/>
                <a:cs typeface="Calibri"/>
              </a:rPr>
              <a:t>comfort </a:t>
            </a:r>
            <a:r>
              <a:rPr sz="1600" spc="10" dirty="0" smtClean="0">
                <a:solidFill>
                  <a:srgbClr val="FFFFFF"/>
                </a:solidFill>
                <a:latin typeface="10"/>
                <a:cs typeface="Calibri"/>
              </a:rPr>
              <a:t> </a:t>
            </a:r>
            <a:r>
              <a:rPr sz="1600" dirty="0" smtClean="0">
                <a:solidFill>
                  <a:srgbClr val="FFFFFF"/>
                </a:solidFill>
                <a:latin typeface="10"/>
                <a:cs typeface="Calibri"/>
              </a:rPr>
              <a:t>positions</a:t>
            </a:r>
            <a:endParaRPr sz="1600" dirty="0">
              <a:latin typeface="10"/>
              <a:cs typeface="Calibri"/>
            </a:endParaRPr>
          </a:p>
        </p:txBody>
      </p:sp>
      <p:grpSp>
        <p:nvGrpSpPr>
          <p:cNvPr id="6" name="object 9"/>
          <p:cNvGrpSpPr/>
          <p:nvPr/>
        </p:nvGrpSpPr>
        <p:grpSpPr>
          <a:xfrm>
            <a:off x="2353625" y="1130614"/>
            <a:ext cx="1914365" cy="1361601"/>
            <a:chOff x="2522601" y="531876"/>
            <a:chExt cx="1584325" cy="1355725"/>
          </a:xfrm>
        </p:grpSpPr>
        <p:sp>
          <p:nvSpPr>
            <p:cNvPr id="7" name="object 10"/>
            <p:cNvSpPr/>
            <p:nvPr/>
          </p:nvSpPr>
          <p:spPr>
            <a:xfrm>
              <a:off x="2528951" y="538226"/>
              <a:ext cx="1571625" cy="1343025"/>
            </a:xfrm>
            <a:custGeom>
              <a:avLst/>
              <a:gdLst/>
              <a:ahLst/>
              <a:cxnLst/>
              <a:rect l="l" t="t" r="r" b="b"/>
              <a:pathLst>
                <a:path w="1571625" h="1343025">
                  <a:moveTo>
                    <a:pt x="1347724" y="0"/>
                  </a:moveTo>
                  <a:lnTo>
                    <a:pt x="223774" y="0"/>
                  </a:lnTo>
                  <a:lnTo>
                    <a:pt x="178680" y="4546"/>
                  </a:lnTo>
                  <a:lnTo>
                    <a:pt x="136677" y="17587"/>
                  </a:lnTo>
                  <a:lnTo>
                    <a:pt x="98666" y="38221"/>
                  </a:lnTo>
                  <a:lnTo>
                    <a:pt x="65547" y="65547"/>
                  </a:lnTo>
                  <a:lnTo>
                    <a:pt x="38221" y="98666"/>
                  </a:lnTo>
                  <a:lnTo>
                    <a:pt x="17587" y="136677"/>
                  </a:lnTo>
                  <a:lnTo>
                    <a:pt x="4546" y="178680"/>
                  </a:lnTo>
                  <a:lnTo>
                    <a:pt x="0" y="223774"/>
                  </a:lnTo>
                  <a:lnTo>
                    <a:pt x="0" y="1119124"/>
                  </a:lnTo>
                  <a:lnTo>
                    <a:pt x="4546" y="1164223"/>
                  </a:lnTo>
                  <a:lnTo>
                    <a:pt x="17587" y="1206240"/>
                  </a:lnTo>
                  <a:lnTo>
                    <a:pt x="38221" y="1244271"/>
                  </a:lnTo>
                  <a:lnTo>
                    <a:pt x="65547" y="1277413"/>
                  </a:lnTo>
                  <a:lnTo>
                    <a:pt x="98666" y="1304763"/>
                  </a:lnTo>
                  <a:lnTo>
                    <a:pt x="136677" y="1325417"/>
                  </a:lnTo>
                  <a:lnTo>
                    <a:pt x="178680" y="1338472"/>
                  </a:lnTo>
                  <a:lnTo>
                    <a:pt x="223774" y="1343025"/>
                  </a:lnTo>
                  <a:lnTo>
                    <a:pt x="1347724" y="1343025"/>
                  </a:lnTo>
                  <a:lnTo>
                    <a:pt x="1392823" y="1338472"/>
                  </a:lnTo>
                  <a:lnTo>
                    <a:pt x="1434840" y="1325417"/>
                  </a:lnTo>
                  <a:lnTo>
                    <a:pt x="1472871" y="1304763"/>
                  </a:lnTo>
                  <a:lnTo>
                    <a:pt x="1506013" y="1277413"/>
                  </a:lnTo>
                  <a:lnTo>
                    <a:pt x="1533363" y="1244271"/>
                  </a:lnTo>
                  <a:lnTo>
                    <a:pt x="1554017" y="1206240"/>
                  </a:lnTo>
                  <a:lnTo>
                    <a:pt x="1567072" y="1164223"/>
                  </a:lnTo>
                  <a:lnTo>
                    <a:pt x="1571625" y="1119124"/>
                  </a:lnTo>
                  <a:lnTo>
                    <a:pt x="1571625" y="223774"/>
                  </a:lnTo>
                  <a:lnTo>
                    <a:pt x="1567072" y="178680"/>
                  </a:lnTo>
                  <a:lnTo>
                    <a:pt x="1554017" y="136677"/>
                  </a:lnTo>
                  <a:lnTo>
                    <a:pt x="1533363" y="98666"/>
                  </a:lnTo>
                  <a:lnTo>
                    <a:pt x="1506013" y="65547"/>
                  </a:lnTo>
                  <a:lnTo>
                    <a:pt x="1472871" y="38221"/>
                  </a:lnTo>
                  <a:lnTo>
                    <a:pt x="1434840" y="17587"/>
                  </a:lnTo>
                  <a:lnTo>
                    <a:pt x="1392823" y="4546"/>
                  </a:lnTo>
                  <a:lnTo>
                    <a:pt x="1347724" y="0"/>
                  </a:lnTo>
                  <a:close/>
                </a:path>
              </a:pathLst>
            </a:custGeom>
            <a:solidFill>
              <a:srgbClr val="000000"/>
            </a:solidFill>
          </p:spPr>
          <p:txBody>
            <a:bodyPr wrap="square" lIns="0" tIns="0" rIns="0" bIns="0" rtlCol="0"/>
            <a:lstStyle/>
            <a:p>
              <a:endParaRPr>
                <a:latin typeface="10"/>
              </a:endParaRPr>
            </a:p>
          </p:txBody>
        </p:sp>
        <p:sp>
          <p:nvSpPr>
            <p:cNvPr id="8" name="object 11"/>
            <p:cNvSpPr/>
            <p:nvPr/>
          </p:nvSpPr>
          <p:spPr>
            <a:xfrm>
              <a:off x="2528951" y="538226"/>
              <a:ext cx="1571625" cy="1343025"/>
            </a:xfrm>
            <a:custGeom>
              <a:avLst/>
              <a:gdLst/>
              <a:ahLst/>
              <a:cxnLst/>
              <a:rect l="l" t="t" r="r" b="b"/>
              <a:pathLst>
                <a:path w="1571625" h="1343025">
                  <a:moveTo>
                    <a:pt x="0" y="223774"/>
                  </a:moveTo>
                  <a:lnTo>
                    <a:pt x="4546" y="178680"/>
                  </a:lnTo>
                  <a:lnTo>
                    <a:pt x="17587" y="136677"/>
                  </a:lnTo>
                  <a:lnTo>
                    <a:pt x="38221" y="98666"/>
                  </a:lnTo>
                  <a:lnTo>
                    <a:pt x="65547" y="65547"/>
                  </a:lnTo>
                  <a:lnTo>
                    <a:pt x="98666" y="38221"/>
                  </a:lnTo>
                  <a:lnTo>
                    <a:pt x="136677" y="17587"/>
                  </a:lnTo>
                  <a:lnTo>
                    <a:pt x="178680" y="4546"/>
                  </a:lnTo>
                  <a:lnTo>
                    <a:pt x="223774" y="0"/>
                  </a:lnTo>
                  <a:lnTo>
                    <a:pt x="1347724" y="0"/>
                  </a:lnTo>
                  <a:lnTo>
                    <a:pt x="1392823" y="4546"/>
                  </a:lnTo>
                  <a:lnTo>
                    <a:pt x="1434840" y="17587"/>
                  </a:lnTo>
                  <a:lnTo>
                    <a:pt x="1472871" y="38221"/>
                  </a:lnTo>
                  <a:lnTo>
                    <a:pt x="1506013" y="65547"/>
                  </a:lnTo>
                  <a:lnTo>
                    <a:pt x="1533363" y="98666"/>
                  </a:lnTo>
                  <a:lnTo>
                    <a:pt x="1554017" y="136677"/>
                  </a:lnTo>
                  <a:lnTo>
                    <a:pt x="1567072" y="178680"/>
                  </a:lnTo>
                  <a:lnTo>
                    <a:pt x="1571625" y="223774"/>
                  </a:lnTo>
                  <a:lnTo>
                    <a:pt x="1571625" y="1119124"/>
                  </a:lnTo>
                  <a:lnTo>
                    <a:pt x="1567072" y="1164223"/>
                  </a:lnTo>
                  <a:lnTo>
                    <a:pt x="1554017" y="1206240"/>
                  </a:lnTo>
                  <a:lnTo>
                    <a:pt x="1533363" y="1244271"/>
                  </a:lnTo>
                  <a:lnTo>
                    <a:pt x="1506013" y="1277413"/>
                  </a:lnTo>
                  <a:lnTo>
                    <a:pt x="1472871" y="1304763"/>
                  </a:lnTo>
                  <a:lnTo>
                    <a:pt x="1434840" y="1325417"/>
                  </a:lnTo>
                  <a:lnTo>
                    <a:pt x="1392823" y="1338472"/>
                  </a:lnTo>
                  <a:lnTo>
                    <a:pt x="1347724" y="1343025"/>
                  </a:lnTo>
                  <a:lnTo>
                    <a:pt x="223774" y="1343025"/>
                  </a:lnTo>
                  <a:lnTo>
                    <a:pt x="178680" y="1338472"/>
                  </a:lnTo>
                  <a:lnTo>
                    <a:pt x="136677" y="1325417"/>
                  </a:lnTo>
                  <a:lnTo>
                    <a:pt x="98666" y="1304763"/>
                  </a:lnTo>
                  <a:lnTo>
                    <a:pt x="65547" y="1277413"/>
                  </a:lnTo>
                  <a:lnTo>
                    <a:pt x="38221" y="1244271"/>
                  </a:lnTo>
                  <a:lnTo>
                    <a:pt x="17587" y="1206240"/>
                  </a:lnTo>
                  <a:lnTo>
                    <a:pt x="4546" y="1164223"/>
                  </a:lnTo>
                  <a:lnTo>
                    <a:pt x="0" y="1119124"/>
                  </a:lnTo>
                  <a:lnTo>
                    <a:pt x="0" y="223774"/>
                  </a:lnTo>
                  <a:close/>
                </a:path>
              </a:pathLst>
            </a:custGeom>
            <a:ln w="12700">
              <a:solidFill>
                <a:srgbClr val="2E528F"/>
              </a:solidFill>
            </a:ln>
          </p:spPr>
          <p:txBody>
            <a:bodyPr wrap="square" lIns="0" tIns="0" rIns="0" bIns="0" rtlCol="0"/>
            <a:lstStyle/>
            <a:p>
              <a:endParaRPr>
                <a:latin typeface="10"/>
              </a:endParaRPr>
            </a:p>
          </p:txBody>
        </p:sp>
      </p:grpSp>
      <p:sp>
        <p:nvSpPr>
          <p:cNvPr id="9" name="object 12"/>
          <p:cNvSpPr txBox="1"/>
          <p:nvPr/>
        </p:nvSpPr>
        <p:spPr>
          <a:xfrm>
            <a:off x="2474437" y="1197134"/>
            <a:ext cx="1672739" cy="1247136"/>
          </a:xfrm>
          <a:prstGeom prst="rect">
            <a:avLst/>
          </a:prstGeom>
        </p:spPr>
        <p:txBody>
          <a:bodyPr vert="horz" wrap="square" lIns="0" tIns="15875" rIns="0" bIns="0" rtlCol="0">
            <a:spAutoFit/>
          </a:bodyPr>
          <a:lstStyle/>
          <a:p>
            <a:pPr marL="12700" marR="5080" indent="1270" algn="ctr">
              <a:lnSpc>
                <a:spcPct val="100099"/>
              </a:lnSpc>
              <a:spcBef>
                <a:spcPts val="125"/>
              </a:spcBef>
            </a:pPr>
            <a:r>
              <a:rPr sz="1600" spc="-5" dirty="0">
                <a:solidFill>
                  <a:srgbClr val="FFFFFF"/>
                </a:solidFill>
                <a:latin typeface="10"/>
                <a:cs typeface="Calibri"/>
              </a:rPr>
              <a:t>C</a:t>
            </a:r>
            <a:r>
              <a:rPr sz="1600" spc="5" dirty="0">
                <a:solidFill>
                  <a:srgbClr val="FFFFFF"/>
                </a:solidFill>
                <a:latin typeface="10"/>
                <a:cs typeface="Calibri"/>
              </a:rPr>
              <a:t>on</a:t>
            </a:r>
            <a:r>
              <a:rPr sz="1600" spc="45" dirty="0">
                <a:solidFill>
                  <a:srgbClr val="FFFFFF"/>
                </a:solidFill>
                <a:latin typeface="10"/>
                <a:cs typeface="Calibri"/>
              </a:rPr>
              <a:t>s</a:t>
            </a:r>
            <a:r>
              <a:rPr sz="1600" spc="-25" dirty="0">
                <a:solidFill>
                  <a:srgbClr val="FFFFFF"/>
                </a:solidFill>
                <a:latin typeface="10"/>
                <a:cs typeface="Calibri"/>
              </a:rPr>
              <a:t>i</a:t>
            </a:r>
            <a:r>
              <a:rPr sz="1600" spc="5" dirty="0">
                <a:solidFill>
                  <a:srgbClr val="FFFFFF"/>
                </a:solidFill>
                <a:latin typeface="10"/>
                <a:cs typeface="Calibri"/>
              </a:rPr>
              <a:t>d</a:t>
            </a:r>
            <a:r>
              <a:rPr sz="1600" spc="-30" dirty="0">
                <a:solidFill>
                  <a:srgbClr val="FFFFFF"/>
                </a:solidFill>
                <a:latin typeface="10"/>
                <a:cs typeface="Calibri"/>
              </a:rPr>
              <a:t>e</a:t>
            </a:r>
            <a:r>
              <a:rPr sz="1600" spc="30" dirty="0">
                <a:solidFill>
                  <a:srgbClr val="FFFFFF"/>
                </a:solidFill>
                <a:latin typeface="10"/>
                <a:cs typeface="Calibri"/>
              </a:rPr>
              <a:t>r</a:t>
            </a:r>
            <a:r>
              <a:rPr sz="1600" spc="-25" dirty="0">
                <a:solidFill>
                  <a:srgbClr val="FFFFFF"/>
                </a:solidFill>
                <a:latin typeface="10"/>
                <a:cs typeface="Calibri"/>
              </a:rPr>
              <a:t>i</a:t>
            </a:r>
            <a:r>
              <a:rPr sz="1600" spc="5" dirty="0">
                <a:solidFill>
                  <a:srgbClr val="FFFFFF"/>
                </a:solidFill>
                <a:latin typeface="10"/>
                <a:cs typeface="Calibri"/>
              </a:rPr>
              <a:t>n</a:t>
            </a:r>
            <a:r>
              <a:rPr sz="1600" spc="10" dirty="0">
                <a:solidFill>
                  <a:srgbClr val="FFFFFF"/>
                </a:solidFill>
                <a:latin typeface="10"/>
                <a:cs typeface="Calibri"/>
              </a:rPr>
              <a:t>g</a:t>
            </a:r>
            <a:r>
              <a:rPr sz="1600" spc="-90" dirty="0">
                <a:solidFill>
                  <a:srgbClr val="FFFFFF"/>
                </a:solidFill>
                <a:latin typeface="10"/>
                <a:cs typeface="Calibri"/>
              </a:rPr>
              <a:t> </a:t>
            </a:r>
            <a:r>
              <a:rPr sz="1600" spc="-25" dirty="0">
                <a:solidFill>
                  <a:srgbClr val="FFFFFF"/>
                </a:solidFill>
                <a:latin typeface="10"/>
                <a:cs typeface="Calibri"/>
              </a:rPr>
              <a:t>t</a:t>
            </a:r>
            <a:r>
              <a:rPr sz="1600" spc="5" dirty="0">
                <a:solidFill>
                  <a:srgbClr val="FFFFFF"/>
                </a:solidFill>
                <a:latin typeface="10"/>
                <a:cs typeface="Calibri"/>
              </a:rPr>
              <a:t>he  p</a:t>
            </a:r>
            <a:r>
              <a:rPr sz="1600" spc="35" dirty="0">
                <a:solidFill>
                  <a:srgbClr val="FFFFFF"/>
                </a:solidFill>
                <a:latin typeface="10"/>
                <a:cs typeface="Calibri"/>
              </a:rPr>
              <a:t>r</a:t>
            </a:r>
            <a:r>
              <a:rPr sz="1600" spc="-25" dirty="0">
                <a:solidFill>
                  <a:srgbClr val="FFFFFF"/>
                </a:solidFill>
                <a:latin typeface="10"/>
                <a:cs typeface="Calibri"/>
              </a:rPr>
              <a:t>e</a:t>
            </a:r>
            <a:r>
              <a:rPr sz="1600" spc="40" dirty="0">
                <a:solidFill>
                  <a:srgbClr val="FFFFFF"/>
                </a:solidFill>
                <a:latin typeface="10"/>
                <a:cs typeface="Calibri"/>
              </a:rPr>
              <a:t>v</a:t>
            </a:r>
            <a:r>
              <a:rPr sz="1600" spc="-25" dirty="0">
                <a:solidFill>
                  <a:srgbClr val="FFFFFF"/>
                </a:solidFill>
                <a:latin typeface="10"/>
                <a:cs typeface="Calibri"/>
              </a:rPr>
              <a:t>i</a:t>
            </a:r>
            <a:r>
              <a:rPr sz="1600" spc="5" dirty="0">
                <a:solidFill>
                  <a:srgbClr val="FFFFFF"/>
                </a:solidFill>
                <a:latin typeface="10"/>
                <a:cs typeface="Calibri"/>
              </a:rPr>
              <a:t>ou</a:t>
            </a:r>
            <a:r>
              <a:rPr sz="1600" spc="10" dirty="0">
                <a:solidFill>
                  <a:srgbClr val="FFFFFF"/>
                </a:solidFill>
                <a:latin typeface="10"/>
                <a:cs typeface="Calibri"/>
              </a:rPr>
              <a:t>s</a:t>
            </a:r>
            <a:r>
              <a:rPr sz="1600" spc="-50" dirty="0">
                <a:solidFill>
                  <a:srgbClr val="FFFFFF"/>
                </a:solidFill>
                <a:latin typeface="10"/>
                <a:cs typeface="Calibri"/>
              </a:rPr>
              <a:t> </a:t>
            </a:r>
            <a:r>
              <a:rPr sz="1600" spc="-25" dirty="0">
                <a:solidFill>
                  <a:srgbClr val="FFFFFF"/>
                </a:solidFill>
                <a:latin typeface="10"/>
                <a:cs typeface="Calibri"/>
              </a:rPr>
              <a:t>te</a:t>
            </a:r>
            <a:r>
              <a:rPr sz="1600" dirty="0">
                <a:solidFill>
                  <a:srgbClr val="FFFFFF"/>
                </a:solidFill>
                <a:latin typeface="10"/>
                <a:cs typeface="Calibri"/>
              </a:rPr>
              <a:t>a</a:t>
            </a:r>
            <a:r>
              <a:rPr sz="1600" spc="5" dirty="0">
                <a:solidFill>
                  <a:srgbClr val="FFFFFF"/>
                </a:solidFill>
                <a:latin typeface="10"/>
                <a:cs typeface="Calibri"/>
              </a:rPr>
              <a:t>m</a:t>
            </a:r>
            <a:r>
              <a:rPr sz="1600" spc="-55" dirty="0">
                <a:solidFill>
                  <a:srgbClr val="FFFFFF"/>
                </a:solidFill>
                <a:latin typeface="10"/>
                <a:cs typeface="Calibri"/>
              </a:rPr>
              <a:t>’</a:t>
            </a:r>
            <a:r>
              <a:rPr sz="1600" spc="5" dirty="0">
                <a:solidFill>
                  <a:srgbClr val="FFFFFF"/>
                </a:solidFill>
                <a:latin typeface="10"/>
                <a:cs typeface="Calibri"/>
              </a:rPr>
              <a:t>s  design and </a:t>
            </a:r>
            <a:r>
              <a:rPr sz="1600" spc="10" dirty="0">
                <a:solidFill>
                  <a:srgbClr val="FFFFFF"/>
                </a:solidFill>
                <a:latin typeface="10"/>
                <a:cs typeface="Calibri"/>
              </a:rPr>
              <a:t> </a:t>
            </a:r>
            <a:r>
              <a:rPr sz="1600" dirty="0">
                <a:solidFill>
                  <a:srgbClr val="FFFFFF"/>
                </a:solidFill>
                <a:latin typeface="10"/>
                <a:cs typeface="Calibri"/>
              </a:rPr>
              <a:t>failures </a:t>
            </a:r>
            <a:r>
              <a:rPr sz="1600" spc="-5" dirty="0">
                <a:solidFill>
                  <a:srgbClr val="FFFFFF"/>
                </a:solidFill>
                <a:latin typeface="10"/>
                <a:cs typeface="Calibri"/>
              </a:rPr>
              <a:t>to </a:t>
            </a:r>
            <a:r>
              <a:rPr sz="1600" dirty="0">
                <a:solidFill>
                  <a:srgbClr val="FFFFFF"/>
                </a:solidFill>
                <a:latin typeface="10"/>
                <a:cs typeface="Calibri"/>
              </a:rPr>
              <a:t>fix </a:t>
            </a:r>
            <a:r>
              <a:rPr sz="1600" spc="5" dirty="0">
                <a:solidFill>
                  <a:srgbClr val="FFFFFF"/>
                </a:solidFill>
                <a:latin typeface="10"/>
                <a:cs typeface="Calibri"/>
              </a:rPr>
              <a:t> op</a:t>
            </a:r>
            <a:r>
              <a:rPr sz="1600" spc="-20" dirty="0">
                <a:solidFill>
                  <a:srgbClr val="FFFFFF"/>
                </a:solidFill>
                <a:latin typeface="10"/>
                <a:cs typeface="Calibri"/>
              </a:rPr>
              <a:t>t</a:t>
            </a:r>
            <a:r>
              <a:rPr sz="1600" spc="-25" dirty="0">
                <a:solidFill>
                  <a:srgbClr val="FFFFFF"/>
                </a:solidFill>
                <a:latin typeface="10"/>
                <a:cs typeface="Calibri"/>
              </a:rPr>
              <a:t>i</a:t>
            </a:r>
            <a:r>
              <a:rPr sz="1600" spc="5" dirty="0">
                <a:solidFill>
                  <a:srgbClr val="FFFFFF"/>
                </a:solidFill>
                <a:latin typeface="10"/>
                <a:cs typeface="Calibri"/>
              </a:rPr>
              <a:t>mu</a:t>
            </a:r>
            <a:r>
              <a:rPr sz="1600" spc="20" dirty="0">
                <a:solidFill>
                  <a:srgbClr val="FFFFFF"/>
                </a:solidFill>
                <a:latin typeface="10"/>
                <a:cs typeface="Calibri"/>
              </a:rPr>
              <a:t>m</a:t>
            </a:r>
            <a:r>
              <a:rPr sz="1600" spc="-30" dirty="0">
                <a:solidFill>
                  <a:srgbClr val="FFFFFF"/>
                </a:solidFill>
                <a:latin typeface="10"/>
                <a:cs typeface="Calibri"/>
              </a:rPr>
              <a:t> </a:t>
            </a:r>
            <a:r>
              <a:rPr sz="1600" spc="-25" dirty="0">
                <a:solidFill>
                  <a:srgbClr val="FFFFFF"/>
                </a:solidFill>
                <a:latin typeface="10"/>
                <a:cs typeface="Calibri"/>
              </a:rPr>
              <a:t>le</a:t>
            </a:r>
            <a:r>
              <a:rPr sz="1600" spc="5" dirty="0">
                <a:solidFill>
                  <a:srgbClr val="FFFFFF"/>
                </a:solidFill>
                <a:latin typeface="10"/>
                <a:cs typeface="Calibri"/>
              </a:rPr>
              <a:t>n</a:t>
            </a:r>
            <a:r>
              <a:rPr sz="1600" spc="15" dirty="0">
                <a:solidFill>
                  <a:srgbClr val="FFFFFF"/>
                </a:solidFill>
                <a:latin typeface="10"/>
                <a:cs typeface="Calibri"/>
              </a:rPr>
              <a:t>g</a:t>
            </a:r>
            <a:r>
              <a:rPr sz="1600" spc="-25" dirty="0">
                <a:solidFill>
                  <a:srgbClr val="FFFFFF"/>
                </a:solidFill>
                <a:latin typeface="10"/>
                <a:cs typeface="Calibri"/>
              </a:rPr>
              <a:t>t</a:t>
            </a:r>
            <a:r>
              <a:rPr sz="1600" spc="10" dirty="0">
                <a:solidFill>
                  <a:srgbClr val="FFFFFF"/>
                </a:solidFill>
                <a:latin typeface="10"/>
                <a:cs typeface="Calibri"/>
              </a:rPr>
              <a:t>h</a:t>
            </a:r>
            <a:endParaRPr sz="1600" dirty="0">
              <a:latin typeface="10"/>
              <a:cs typeface="Calibri"/>
            </a:endParaRPr>
          </a:p>
        </p:txBody>
      </p:sp>
      <p:grpSp>
        <p:nvGrpSpPr>
          <p:cNvPr id="10" name="object 13"/>
          <p:cNvGrpSpPr/>
          <p:nvPr/>
        </p:nvGrpSpPr>
        <p:grpSpPr>
          <a:xfrm>
            <a:off x="4565277" y="1142840"/>
            <a:ext cx="1584325" cy="1355725"/>
            <a:chOff x="4513326" y="531876"/>
            <a:chExt cx="1584325" cy="1355725"/>
          </a:xfrm>
        </p:grpSpPr>
        <p:sp>
          <p:nvSpPr>
            <p:cNvPr id="11" name="object 14"/>
            <p:cNvSpPr/>
            <p:nvPr/>
          </p:nvSpPr>
          <p:spPr>
            <a:xfrm>
              <a:off x="4519676" y="538226"/>
              <a:ext cx="1571625" cy="1343025"/>
            </a:xfrm>
            <a:custGeom>
              <a:avLst/>
              <a:gdLst/>
              <a:ahLst/>
              <a:cxnLst/>
              <a:rect l="l" t="t" r="r" b="b"/>
              <a:pathLst>
                <a:path w="1571625" h="1343025">
                  <a:moveTo>
                    <a:pt x="1347724" y="0"/>
                  </a:moveTo>
                  <a:lnTo>
                    <a:pt x="223774" y="0"/>
                  </a:lnTo>
                  <a:lnTo>
                    <a:pt x="178680" y="4546"/>
                  </a:lnTo>
                  <a:lnTo>
                    <a:pt x="136677" y="17587"/>
                  </a:lnTo>
                  <a:lnTo>
                    <a:pt x="98666" y="38221"/>
                  </a:lnTo>
                  <a:lnTo>
                    <a:pt x="65547" y="65547"/>
                  </a:lnTo>
                  <a:lnTo>
                    <a:pt x="38221" y="98666"/>
                  </a:lnTo>
                  <a:lnTo>
                    <a:pt x="17587" y="136677"/>
                  </a:lnTo>
                  <a:lnTo>
                    <a:pt x="4546" y="178680"/>
                  </a:lnTo>
                  <a:lnTo>
                    <a:pt x="0" y="223774"/>
                  </a:lnTo>
                  <a:lnTo>
                    <a:pt x="0" y="1119124"/>
                  </a:lnTo>
                  <a:lnTo>
                    <a:pt x="4546" y="1164223"/>
                  </a:lnTo>
                  <a:lnTo>
                    <a:pt x="17587" y="1206240"/>
                  </a:lnTo>
                  <a:lnTo>
                    <a:pt x="38221" y="1244271"/>
                  </a:lnTo>
                  <a:lnTo>
                    <a:pt x="65547" y="1277413"/>
                  </a:lnTo>
                  <a:lnTo>
                    <a:pt x="98666" y="1304763"/>
                  </a:lnTo>
                  <a:lnTo>
                    <a:pt x="136677" y="1325417"/>
                  </a:lnTo>
                  <a:lnTo>
                    <a:pt x="178680" y="1338472"/>
                  </a:lnTo>
                  <a:lnTo>
                    <a:pt x="223774" y="1343025"/>
                  </a:lnTo>
                  <a:lnTo>
                    <a:pt x="1347724" y="1343025"/>
                  </a:lnTo>
                  <a:lnTo>
                    <a:pt x="1392823" y="1338472"/>
                  </a:lnTo>
                  <a:lnTo>
                    <a:pt x="1434840" y="1325417"/>
                  </a:lnTo>
                  <a:lnTo>
                    <a:pt x="1472871" y="1304763"/>
                  </a:lnTo>
                  <a:lnTo>
                    <a:pt x="1506013" y="1277413"/>
                  </a:lnTo>
                  <a:lnTo>
                    <a:pt x="1533363" y="1244271"/>
                  </a:lnTo>
                  <a:lnTo>
                    <a:pt x="1554017" y="1206240"/>
                  </a:lnTo>
                  <a:lnTo>
                    <a:pt x="1567072" y="1164223"/>
                  </a:lnTo>
                  <a:lnTo>
                    <a:pt x="1571625" y="1119124"/>
                  </a:lnTo>
                  <a:lnTo>
                    <a:pt x="1571625" y="223774"/>
                  </a:lnTo>
                  <a:lnTo>
                    <a:pt x="1567072" y="178680"/>
                  </a:lnTo>
                  <a:lnTo>
                    <a:pt x="1554017" y="136677"/>
                  </a:lnTo>
                  <a:lnTo>
                    <a:pt x="1533363" y="98666"/>
                  </a:lnTo>
                  <a:lnTo>
                    <a:pt x="1506013" y="65547"/>
                  </a:lnTo>
                  <a:lnTo>
                    <a:pt x="1472871" y="38221"/>
                  </a:lnTo>
                  <a:lnTo>
                    <a:pt x="1434840" y="17587"/>
                  </a:lnTo>
                  <a:lnTo>
                    <a:pt x="1392823" y="4546"/>
                  </a:lnTo>
                  <a:lnTo>
                    <a:pt x="1347724" y="0"/>
                  </a:lnTo>
                  <a:close/>
                </a:path>
              </a:pathLst>
            </a:custGeom>
            <a:solidFill>
              <a:srgbClr val="000000"/>
            </a:solidFill>
          </p:spPr>
          <p:txBody>
            <a:bodyPr wrap="square" lIns="0" tIns="0" rIns="0" bIns="0" rtlCol="0"/>
            <a:lstStyle/>
            <a:p>
              <a:endParaRPr>
                <a:latin typeface="10"/>
              </a:endParaRPr>
            </a:p>
          </p:txBody>
        </p:sp>
        <p:sp>
          <p:nvSpPr>
            <p:cNvPr id="12" name="object 15"/>
            <p:cNvSpPr/>
            <p:nvPr/>
          </p:nvSpPr>
          <p:spPr>
            <a:xfrm>
              <a:off x="4519676" y="538226"/>
              <a:ext cx="1571625" cy="1343025"/>
            </a:xfrm>
            <a:custGeom>
              <a:avLst/>
              <a:gdLst/>
              <a:ahLst/>
              <a:cxnLst/>
              <a:rect l="l" t="t" r="r" b="b"/>
              <a:pathLst>
                <a:path w="1571625" h="1343025">
                  <a:moveTo>
                    <a:pt x="0" y="223774"/>
                  </a:moveTo>
                  <a:lnTo>
                    <a:pt x="4546" y="178680"/>
                  </a:lnTo>
                  <a:lnTo>
                    <a:pt x="17587" y="136677"/>
                  </a:lnTo>
                  <a:lnTo>
                    <a:pt x="38221" y="98666"/>
                  </a:lnTo>
                  <a:lnTo>
                    <a:pt x="65547" y="65547"/>
                  </a:lnTo>
                  <a:lnTo>
                    <a:pt x="98666" y="38221"/>
                  </a:lnTo>
                  <a:lnTo>
                    <a:pt x="136677" y="17587"/>
                  </a:lnTo>
                  <a:lnTo>
                    <a:pt x="178680" y="4546"/>
                  </a:lnTo>
                  <a:lnTo>
                    <a:pt x="223774" y="0"/>
                  </a:lnTo>
                  <a:lnTo>
                    <a:pt x="1347724" y="0"/>
                  </a:lnTo>
                  <a:lnTo>
                    <a:pt x="1392823" y="4546"/>
                  </a:lnTo>
                  <a:lnTo>
                    <a:pt x="1434840" y="17587"/>
                  </a:lnTo>
                  <a:lnTo>
                    <a:pt x="1472871" y="38221"/>
                  </a:lnTo>
                  <a:lnTo>
                    <a:pt x="1506013" y="65547"/>
                  </a:lnTo>
                  <a:lnTo>
                    <a:pt x="1533363" y="98666"/>
                  </a:lnTo>
                  <a:lnTo>
                    <a:pt x="1554017" y="136677"/>
                  </a:lnTo>
                  <a:lnTo>
                    <a:pt x="1567072" y="178680"/>
                  </a:lnTo>
                  <a:lnTo>
                    <a:pt x="1571625" y="223774"/>
                  </a:lnTo>
                  <a:lnTo>
                    <a:pt x="1571625" y="1119124"/>
                  </a:lnTo>
                  <a:lnTo>
                    <a:pt x="1567072" y="1164223"/>
                  </a:lnTo>
                  <a:lnTo>
                    <a:pt x="1554017" y="1206240"/>
                  </a:lnTo>
                  <a:lnTo>
                    <a:pt x="1533363" y="1244271"/>
                  </a:lnTo>
                  <a:lnTo>
                    <a:pt x="1506013" y="1277413"/>
                  </a:lnTo>
                  <a:lnTo>
                    <a:pt x="1472871" y="1304763"/>
                  </a:lnTo>
                  <a:lnTo>
                    <a:pt x="1434840" y="1325417"/>
                  </a:lnTo>
                  <a:lnTo>
                    <a:pt x="1392823" y="1338472"/>
                  </a:lnTo>
                  <a:lnTo>
                    <a:pt x="1347724" y="1343025"/>
                  </a:lnTo>
                  <a:lnTo>
                    <a:pt x="223774" y="1343025"/>
                  </a:lnTo>
                  <a:lnTo>
                    <a:pt x="178680" y="1338472"/>
                  </a:lnTo>
                  <a:lnTo>
                    <a:pt x="136677" y="1325417"/>
                  </a:lnTo>
                  <a:lnTo>
                    <a:pt x="98666" y="1304763"/>
                  </a:lnTo>
                  <a:lnTo>
                    <a:pt x="65547" y="1277413"/>
                  </a:lnTo>
                  <a:lnTo>
                    <a:pt x="38221" y="1244271"/>
                  </a:lnTo>
                  <a:lnTo>
                    <a:pt x="17587" y="1206240"/>
                  </a:lnTo>
                  <a:lnTo>
                    <a:pt x="4546" y="1164223"/>
                  </a:lnTo>
                  <a:lnTo>
                    <a:pt x="0" y="1119124"/>
                  </a:lnTo>
                  <a:lnTo>
                    <a:pt x="0" y="223774"/>
                  </a:lnTo>
                  <a:close/>
                </a:path>
              </a:pathLst>
            </a:custGeom>
            <a:ln w="12700">
              <a:solidFill>
                <a:srgbClr val="2E528F"/>
              </a:solidFill>
            </a:ln>
          </p:spPr>
          <p:txBody>
            <a:bodyPr wrap="square" lIns="0" tIns="0" rIns="0" bIns="0" rtlCol="0"/>
            <a:lstStyle/>
            <a:p>
              <a:endParaRPr>
                <a:latin typeface="10"/>
              </a:endParaRPr>
            </a:p>
          </p:txBody>
        </p:sp>
      </p:grpSp>
      <p:sp>
        <p:nvSpPr>
          <p:cNvPr id="13" name="object 16"/>
          <p:cNvSpPr txBox="1"/>
          <p:nvPr/>
        </p:nvSpPr>
        <p:spPr>
          <a:xfrm>
            <a:off x="4686372" y="1230930"/>
            <a:ext cx="1332138" cy="1133771"/>
          </a:xfrm>
          <a:prstGeom prst="rect">
            <a:avLst/>
          </a:prstGeom>
        </p:spPr>
        <p:txBody>
          <a:bodyPr vert="horz" wrap="square" lIns="0" tIns="14604" rIns="0" bIns="0" rtlCol="0">
            <a:spAutoFit/>
          </a:bodyPr>
          <a:lstStyle/>
          <a:p>
            <a:pPr marL="12700" marR="5080" algn="ctr">
              <a:lnSpc>
                <a:spcPct val="100600"/>
              </a:lnSpc>
              <a:spcBef>
                <a:spcPts val="114"/>
              </a:spcBef>
            </a:pPr>
            <a:r>
              <a:rPr spc="5" dirty="0">
                <a:solidFill>
                  <a:srgbClr val="FFFFFF"/>
                </a:solidFill>
                <a:latin typeface="10"/>
                <a:cs typeface="Calibri"/>
              </a:rPr>
              <a:t>Drafting </a:t>
            </a:r>
            <a:r>
              <a:rPr spc="10" dirty="0">
                <a:solidFill>
                  <a:srgbClr val="FFFFFF"/>
                </a:solidFill>
                <a:latin typeface="10"/>
                <a:cs typeface="Calibri"/>
              </a:rPr>
              <a:t>CAD </a:t>
            </a:r>
            <a:r>
              <a:rPr spc="-305" dirty="0">
                <a:solidFill>
                  <a:srgbClr val="FFFFFF"/>
                </a:solidFill>
                <a:latin typeface="10"/>
                <a:cs typeface="Calibri"/>
              </a:rPr>
              <a:t> </a:t>
            </a:r>
            <a:r>
              <a:rPr dirty="0">
                <a:solidFill>
                  <a:srgbClr val="FFFFFF"/>
                </a:solidFill>
                <a:latin typeface="10"/>
                <a:cs typeface="Calibri"/>
              </a:rPr>
              <a:t>model</a:t>
            </a:r>
            <a:r>
              <a:rPr spc="-80" dirty="0">
                <a:solidFill>
                  <a:srgbClr val="FFFFFF"/>
                </a:solidFill>
                <a:latin typeface="10"/>
                <a:cs typeface="Calibri"/>
              </a:rPr>
              <a:t> </a:t>
            </a:r>
            <a:r>
              <a:rPr spc="5" dirty="0" smtClean="0">
                <a:solidFill>
                  <a:srgbClr val="FFFFFF"/>
                </a:solidFill>
                <a:latin typeface="10"/>
                <a:cs typeface="Calibri"/>
              </a:rPr>
              <a:t>and</a:t>
            </a:r>
            <a:r>
              <a:rPr lang="en-US" spc="-50" dirty="0">
                <a:solidFill>
                  <a:srgbClr val="FFFFFF"/>
                </a:solidFill>
                <a:latin typeface="10"/>
                <a:cs typeface="Calibri"/>
              </a:rPr>
              <a:t> </a:t>
            </a:r>
            <a:r>
              <a:rPr spc="-15" dirty="0" smtClean="0">
                <a:solidFill>
                  <a:srgbClr val="FFFFFF"/>
                </a:solidFill>
                <a:latin typeface="10"/>
                <a:cs typeface="Calibri"/>
              </a:rPr>
              <a:t>its </a:t>
            </a:r>
            <a:r>
              <a:rPr spc="-305" dirty="0" smtClean="0">
                <a:solidFill>
                  <a:srgbClr val="FFFFFF"/>
                </a:solidFill>
                <a:latin typeface="10"/>
                <a:cs typeface="Calibri"/>
              </a:rPr>
              <a:t> </a:t>
            </a:r>
            <a:r>
              <a:rPr dirty="0">
                <a:solidFill>
                  <a:srgbClr val="FFFFFF"/>
                </a:solidFill>
                <a:latin typeface="10"/>
                <a:cs typeface="Calibri"/>
              </a:rPr>
              <a:t>verification</a:t>
            </a:r>
            <a:endParaRPr dirty="0">
              <a:latin typeface="10"/>
              <a:cs typeface="Calibri"/>
            </a:endParaRPr>
          </a:p>
        </p:txBody>
      </p:sp>
      <p:grpSp>
        <p:nvGrpSpPr>
          <p:cNvPr id="14" name="object 17"/>
          <p:cNvGrpSpPr/>
          <p:nvPr/>
        </p:nvGrpSpPr>
        <p:grpSpPr>
          <a:xfrm>
            <a:off x="6609655" y="1119953"/>
            <a:ext cx="1584325" cy="1355725"/>
            <a:chOff x="6437376" y="522351"/>
            <a:chExt cx="1584325" cy="1355725"/>
          </a:xfrm>
        </p:grpSpPr>
        <p:sp>
          <p:nvSpPr>
            <p:cNvPr id="15" name="object 18"/>
            <p:cNvSpPr/>
            <p:nvPr/>
          </p:nvSpPr>
          <p:spPr>
            <a:xfrm>
              <a:off x="6443726" y="528701"/>
              <a:ext cx="1571625" cy="1343025"/>
            </a:xfrm>
            <a:custGeom>
              <a:avLst/>
              <a:gdLst/>
              <a:ahLst/>
              <a:cxnLst/>
              <a:rect l="l" t="t" r="r" b="b"/>
              <a:pathLst>
                <a:path w="1571625" h="1343025">
                  <a:moveTo>
                    <a:pt x="1347724" y="0"/>
                  </a:moveTo>
                  <a:lnTo>
                    <a:pt x="223774" y="0"/>
                  </a:lnTo>
                  <a:lnTo>
                    <a:pt x="178680" y="4546"/>
                  </a:lnTo>
                  <a:lnTo>
                    <a:pt x="136677" y="17587"/>
                  </a:lnTo>
                  <a:lnTo>
                    <a:pt x="98666" y="38221"/>
                  </a:lnTo>
                  <a:lnTo>
                    <a:pt x="65547" y="65547"/>
                  </a:lnTo>
                  <a:lnTo>
                    <a:pt x="38221" y="98666"/>
                  </a:lnTo>
                  <a:lnTo>
                    <a:pt x="17587" y="136677"/>
                  </a:lnTo>
                  <a:lnTo>
                    <a:pt x="4546" y="178680"/>
                  </a:lnTo>
                  <a:lnTo>
                    <a:pt x="0" y="223774"/>
                  </a:lnTo>
                  <a:lnTo>
                    <a:pt x="0" y="1119124"/>
                  </a:lnTo>
                  <a:lnTo>
                    <a:pt x="4546" y="1164223"/>
                  </a:lnTo>
                  <a:lnTo>
                    <a:pt x="17587" y="1206240"/>
                  </a:lnTo>
                  <a:lnTo>
                    <a:pt x="38221" y="1244271"/>
                  </a:lnTo>
                  <a:lnTo>
                    <a:pt x="65547" y="1277413"/>
                  </a:lnTo>
                  <a:lnTo>
                    <a:pt x="98666" y="1304763"/>
                  </a:lnTo>
                  <a:lnTo>
                    <a:pt x="136677" y="1325417"/>
                  </a:lnTo>
                  <a:lnTo>
                    <a:pt x="178680" y="1338472"/>
                  </a:lnTo>
                  <a:lnTo>
                    <a:pt x="223774" y="1343025"/>
                  </a:lnTo>
                  <a:lnTo>
                    <a:pt x="1347724" y="1343025"/>
                  </a:lnTo>
                  <a:lnTo>
                    <a:pt x="1392823" y="1338472"/>
                  </a:lnTo>
                  <a:lnTo>
                    <a:pt x="1434840" y="1325417"/>
                  </a:lnTo>
                  <a:lnTo>
                    <a:pt x="1472871" y="1304763"/>
                  </a:lnTo>
                  <a:lnTo>
                    <a:pt x="1506013" y="1277413"/>
                  </a:lnTo>
                  <a:lnTo>
                    <a:pt x="1533363" y="1244271"/>
                  </a:lnTo>
                  <a:lnTo>
                    <a:pt x="1554017" y="1206240"/>
                  </a:lnTo>
                  <a:lnTo>
                    <a:pt x="1567072" y="1164223"/>
                  </a:lnTo>
                  <a:lnTo>
                    <a:pt x="1571625" y="1119124"/>
                  </a:lnTo>
                  <a:lnTo>
                    <a:pt x="1571625" y="223774"/>
                  </a:lnTo>
                  <a:lnTo>
                    <a:pt x="1567072" y="178680"/>
                  </a:lnTo>
                  <a:lnTo>
                    <a:pt x="1554017" y="136677"/>
                  </a:lnTo>
                  <a:lnTo>
                    <a:pt x="1533363" y="98666"/>
                  </a:lnTo>
                  <a:lnTo>
                    <a:pt x="1506013" y="65547"/>
                  </a:lnTo>
                  <a:lnTo>
                    <a:pt x="1472871" y="38221"/>
                  </a:lnTo>
                  <a:lnTo>
                    <a:pt x="1434840" y="17587"/>
                  </a:lnTo>
                  <a:lnTo>
                    <a:pt x="1392823" y="4546"/>
                  </a:lnTo>
                  <a:lnTo>
                    <a:pt x="1347724" y="0"/>
                  </a:lnTo>
                  <a:close/>
                </a:path>
              </a:pathLst>
            </a:custGeom>
            <a:solidFill>
              <a:srgbClr val="000000"/>
            </a:solidFill>
          </p:spPr>
          <p:txBody>
            <a:bodyPr wrap="square" lIns="0" tIns="0" rIns="0" bIns="0" rtlCol="0"/>
            <a:lstStyle/>
            <a:p>
              <a:endParaRPr>
                <a:latin typeface="10"/>
              </a:endParaRPr>
            </a:p>
          </p:txBody>
        </p:sp>
        <p:sp>
          <p:nvSpPr>
            <p:cNvPr id="16" name="object 19"/>
            <p:cNvSpPr/>
            <p:nvPr/>
          </p:nvSpPr>
          <p:spPr>
            <a:xfrm>
              <a:off x="6443726" y="528701"/>
              <a:ext cx="1571625" cy="1343025"/>
            </a:xfrm>
            <a:custGeom>
              <a:avLst/>
              <a:gdLst/>
              <a:ahLst/>
              <a:cxnLst/>
              <a:rect l="l" t="t" r="r" b="b"/>
              <a:pathLst>
                <a:path w="1571625" h="1343025">
                  <a:moveTo>
                    <a:pt x="0" y="223774"/>
                  </a:moveTo>
                  <a:lnTo>
                    <a:pt x="4546" y="178680"/>
                  </a:lnTo>
                  <a:lnTo>
                    <a:pt x="17587" y="136677"/>
                  </a:lnTo>
                  <a:lnTo>
                    <a:pt x="38221" y="98666"/>
                  </a:lnTo>
                  <a:lnTo>
                    <a:pt x="65547" y="65547"/>
                  </a:lnTo>
                  <a:lnTo>
                    <a:pt x="98666" y="38221"/>
                  </a:lnTo>
                  <a:lnTo>
                    <a:pt x="136677" y="17587"/>
                  </a:lnTo>
                  <a:lnTo>
                    <a:pt x="178680" y="4546"/>
                  </a:lnTo>
                  <a:lnTo>
                    <a:pt x="223774" y="0"/>
                  </a:lnTo>
                  <a:lnTo>
                    <a:pt x="1347724" y="0"/>
                  </a:lnTo>
                  <a:lnTo>
                    <a:pt x="1392823" y="4546"/>
                  </a:lnTo>
                  <a:lnTo>
                    <a:pt x="1434840" y="17587"/>
                  </a:lnTo>
                  <a:lnTo>
                    <a:pt x="1472871" y="38221"/>
                  </a:lnTo>
                  <a:lnTo>
                    <a:pt x="1506013" y="65547"/>
                  </a:lnTo>
                  <a:lnTo>
                    <a:pt x="1533363" y="98666"/>
                  </a:lnTo>
                  <a:lnTo>
                    <a:pt x="1554017" y="136677"/>
                  </a:lnTo>
                  <a:lnTo>
                    <a:pt x="1567072" y="178680"/>
                  </a:lnTo>
                  <a:lnTo>
                    <a:pt x="1571625" y="223774"/>
                  </a:lnTo>
                  <a:lnTo>
                    <a:pt x="1571625" y="1119124"/>
                  </a:lnTo>
                  <a:lnTo>
                    <a:pt x="1567072" y="1164223"/>
                  </a:lnTo>
                  <a:lnTo>
                    <a:pt x="1554017" y="1206240"/>
                  </a:lnTo>
                  <a:lnTo>
                    <a:pt x="1533363" y="1244271"/>
                  </a:lnTo>
                  <a:lnTo>
                    <a:pt x="1506013" y="1277413"/>
                  </a:lnTo>
                  <a:lnTo>
                    <a:pt x="1472871" y="1304763"/>
                  </a:lnTo>
                  <a:lnTo>
                    <a:pt x="1434840" y="1325417"/>
                  </a:lnTo>
                  <a:lnTo>
                    <a:pt x="1392823" y="1338472"/>
                  </a:lnTo>
                  <a:lnTo>
                    <a:pt x="1347724" y="1343025"/>
                  </a:lnTo>
                  <a:lnTo>
                    <a:pt x="223774" y="1343025"/>
                  </a:lnTo>
                  <a:lnTo>
                    <a:pt x="178680" y="1338472"/>
                  </a:lnTo>
                  <a:lnTo>
                    <a:pt x="136677" y="1325417"/>
                  </a:lnTo>
                  <a:lnTo>
                    <a:pt x="98666" y="1304763"/>
                  </a:lnTo>
                  <a:lnTo>
                    <a:pt x="65547" y="1277413"/>
                  </a:lnTo>
                  <a:lnTo>
                    <a:pt x="38221" y="1244271"/>
                  </a:lnTo>
                  <a:lnTo>
                    <a:pt x="17587" y="1206240"/>
                  </a:lnTo>
                  <a:lnTo>
                    <a:pt x="4546" y="1164223"/>
                  </a:lnTo>
                  <a:lnTo>
                    <a:pt x="0" y="1119124"/>
                  </a:lnTo>
                  <a:lnTo>
                    <a:pt x="0" y="223774"/>
                  </a:lnTo>
                  <a:close/>
                </a:path>
              </a:pathLst>
            </a:custGeom>
            <a:ln w="12700">
              <a:solidFill>
                <a:srgbClr val="2E528F"/>
              </a:solidFill>
            </a:ln>
          </p:spPr>
          <p:txBody>
            <a:bodyPr wrap="square" lIns="0" tIns="0" rIns="0" bIns="0" rtlCol="0"/>
            <a:lstStyle/>
            <a:p>
              <a:endParaRPr>
                <a:latin typeface="10"/>
              </a:endParaRPr>
            </a:p>
          </p:txBody>
        </p:sp>
      </p:grpSp>
      <p:sp>
        <p:nvSpPr>
          <p:cNvPr id="17" name="object 20"/>
          <p:cNvSpPr txBox="1"/>
          <p:nvPr/>
        </p:nvSpPr>
        <p:spPr>
          <a:xfrm>
            <a:off x="6483830" y="1342243"/>
            <a:ext cx="1731106" cy="911146"/>
          </a:xfrm>
          <a:prstGeom prst="rect">
            <a:avLst/>
          </a:prstGeom>
        </p:spPr>
        <p:txBody>
          <a:bodyPr vert="horz" wrap="square" lIns="0" tIns="26034" rIns="0" bIns="0" rtlCol="0">
            <a:spAutoFit/>
          </a:bodyPr>
          <a:lstStyle/>
          <a:p>
            <a:pPr marL="155575" marR="140335" algn="ctr">
              <a:lnSpc>
                <a:spcPts val="1650"/>
              </a:lnSpc>
              <a:spcBef>
                <a:spcPts val="204"/>
              </a:spcBef>
            </a:pPr>
            <a:r>
              <a:rPr dirty="0">
                <a:solidFill>
                  <a:srgbClr val="FFFFFF"/>
                </a:solidFill>
                <a:latin typeface="10"/>
                <a:cs typeface="Calibri"/>
              </a:rPr>
              <a:t>C</a:t>
            </a:r>
            <a:r>
              <a:rPr spc="5" dirty="0">
                <a:solidFill>
                  <a:srgbClr val="FFFFFF"/>
                </a:solidFill>
                <a:latin typeface="10"/>
                <a:cs typeface="Calibri"/>
              </a:rPr>
              <a:t>on</a:t>
            </a:r>
            <a:r>
              <a:rPr spc="55" dirty="0">
                <a:solidFill>
                  <a:srgbClr val="FFFFFF"/>
                </a:solidFill>
                <a:latin typeface="10"/>
                <a:cs typeface="Calibri"/>
              </a:rPr>
              <a:t>s</a:t>
            </a:r>
            <a:r>
              <a:rPr spc="-25" dirty="0">
                <a:solidFill>
                  <a:srgbClr val="FFFFFF"/>
                </a:solidFill>
                <a:latin typeface="10"/>
                <a:cs typeface="Calibri"/>
              </a:rPr>
              <a:t>t</a:t>
            </a:r>
            <a:r>
              <a:rPr spc="30" dirty="0">
                <a:solidFill>
                  <a:srgbClr val="FFFFFF"/>
                </a:solidFill>
                <a:latin typeface="10"/>
                <a:cs typeface="Calibri"/>
              </a:rPr>
              <a:t>r</a:t>
            </a:r>
            <a:r>
              <a:rPr spc="5" dirty="0">
                <a:solidFill>
                  <a:srgbClr val="FFFFFF"/>
                </a:solidFill>
                <a:latin typeface="10"/>
                <a:cs typeface="Calibri"/>
              </a:rPr>
              <a:t>uc</a:t>
            </a:r>
            <a:r>
              <a:rPr spc="-20" dirty="0">
                <a:solidFill>
                  <a:srgbClr val="FFFFFF"/>
                </a:solidFill>
                <a:latin typeface="10"/>
                <a:cs typeface="Calibri"/>
              </a:rPr>
              <a:t>ti</a:t>
            </a:r>
            <a:r>
              <a:rPr spc="5" dirty="0">
                <a:solidFill>
                  <a:srgbClr val="FFFFFF"/>
                </a:solidFill>
                <a:latin typeface="10"/>
                <a:cs typeface="Calibri"/>
              </a:rPr>
              <a:t>ng  </a:t>
            </a:r>
            <a:r>
              <a:rPr spc="20" dirty="0">
                <a:solidFill>
                  <a:srgbClr val="FFFFFF"/>
                </a:solidFill>
                <a:latin typeface="10"/>
                <a:cs typeface="Calibri"/>
              </a:rPr>
              <a:t>PVC</a:t>
            </a:r>
            <a:r>
              <a:rPr spc="165" dirty="0">
                <a:solidFill>
                  <a:srgbClr val="FFFFFF"/>
                </a:solidFill>
                <a:latin typeface="10"/>
                <a:cs typeface="Calibri"/>
              </a:rPr>
              <a:t> </a:t>
            </a:r>
            <a:r>
              <a:rPr spc="10" dirty="0" smtClean="0">
                <a:solidFill>
                  <a:srgbClr val="FFFFFF"/>
                </a:solidFill>
                <a:latin typeface="10"/>
                <a:cs typeface="Calibri"/>
              </a:rPr>
              <a:t>Mock-</a:t>
            </a:r>
            <a:r>
              <a:rPr lang="en-US" spc="5" dirty="0" smtClean="0">
                <a:solidFill>
                  <a:srgbClr val="FFFFFF"/>
                </a:solidFill>
                <a:latin typeface="10"/>
                <a:cs typeface="Calibri"/>
              </a:rPr>
              <a:t>u</a:t>
            </a:r>
            <a:r>
              <a:rPr spc="5" dirty="0" smtClean="0">
                <a:solidFill>
                  <a:srgbClr val="FFFFFF"/>
                </a:solidFill>
                <a:latin typeface="10"/>
                <a:cs typeface="Calibri"/>
              </a:rPr>
              <a:t>p  </a:t>
            </a:r>
            <a:r>
              <a:rPr spc="-5" dirty="0">
                <a:solidFill>
                  <a:srgbClr val="FFFFFF"/>
                </a:solidFill>
                <a:latin typeface="10"/>
                <a:cs typeface="Calibri"/>
              </a:rPr>
              <a:t>to </a:t>
            </a:r>
            <a:r>
              <a:rPr dirty="0">
                <a:solidFill>
                  <a:srgbClr val="FFFFFF"/>
                </a:solidFill>
                <a:latin typeface="10"/>
                <a:cs typeface="Calibri"/>
              </a:rPr>
              <a:t> </a:t>
            </a:r>
            <a:r>
              <a:rPr spc="35" dirty="0">
                <a:solidFill>
                  <a:srgbClr val="FFFFFF"/>
                </a:solidFill>
                <a:latin typeface="10"/>
                <a:cs typeface="Calibri"/>
              </a:rPr>
              <a:t>v</a:t>
            </a:r>
            <a:r>
              <a:rPr spc="-30" dirty="0">
                <a:solidFill>
                  <a:srgbClr val="FFFFFF"/>
                </a:solidFill>
                <a:latin typeface="10"/>
                <a:cs typeface="Calibri"/>
              </a:rPr>
              <a:t>e</a:t>
            </a:r>
            <a:r>
              <a:rPr spc="30" dirty="0">
                <a:solidFill>
                  <a:srgbClr val="FFFFFF"/>
                </a:solidFill>
                <a:latin typeface="10"/>
                <a:cs typeface="Calibri"/>
              </a:rPr>
              <a:t>r</a:t>
            </a:r>
            <a:r>
              <a:rPr spc="-25" dirty="0">
                <a:solidFill>
                  <a:srgbClr val="FFFFFF"/>
                </a:solidFill>
                <a:latin typeface="10"/>
                <a:cs typeface="Calibri"/>
              </a:rPr>
              <a:t>i</a:t>
            </a:r>
            <a:r>
              <a:rPr spc="15" dirty="0">
                <a:solidFill>
                  <a:srgbClr val="FFFFFF"/>
                </a:solidFill>
                <a:latin typeface="10"/>
                <a:cs typeface="Calibri"/>
              </a:rPr>
              <a:t>f</a:t>
            </a:r>
            <a:r>
              <a:rPr spc="10" dirty="0">
                <a:solidFill>
                  <a:srgbClr val="FFFFFF"/>
                </a:solidFill>
                <a:latin typeface="10"/>
                <a:cs typeface="Calibri"/>
              </a:rPr>
              <a:t>y</a:t>
            </a:r>
            <a:r>
              <a:rPr spc="-60" dirty="0">
                <a:solidFill>
                  <a:srgbClr val="FFFFFF"/>
                </a:solidFill>
                <a:latin typeface="10"/>
                <a:cs typeface="Calibri"/>
              </a:rPr>
              <a:t> </a:t>
            </a:r>
            <a:r>
              <a:rPr spc="10" dirty="0">
                <a:solidFill>
                  <a:srgbClr val="FFFFFF"/>
                </a:solidFill>
                <a:latin typeface="10"/>
                <a:cs typeface="Calibri"/>
              </a:rPr>
              <a:t>c</a:t>
            </a:r>
            <a:r>
              <a:rPr spc="-30" dirty="0">
                <a:solidFill>
                  <a:srgbClr val="FFFFFF"/>
                </a:solidFill>
                <a:latin typeface="10"/>
                <a:cs typeface="Calibri"/>
              </a:rPr>
              <a:t>le</a:t>
            </a:r>
            <a:r>
              <a:rPr dirty="0">
                <a:solidFill>
                  <a:srgbClr val="FFFFFF"/>
                </a:solidFill>
                <a:latin typeface="10"/>
                <a:cs typeface="Calibri"/>
              </a:rPr>
              <a:t>a</a:t>
            </a:r>
            <a:r>
              <a:rPr spc="30" dirty="0">
                <a:solidFill>
                  <a:srgbClr val="FFFFFF"/>
                </a:solidFill>
                <a:latin typeface="10"/>
                <a:cs typeface="Calibri"/>
              </a:rPr>
              <a:t>r</a:t>
            </a:r>
            <a:r>
              <a:rPr dirty="0">
                <a:solidFill>
                  <a:srgbClr val="FFFFFF"/>
                </a:solidFill>
                <a:latin typeface="10"/>
                <a:cs typeface="Calibri"/>
              </a:rPr>
              <a:t>a</a:t>
            </a:r>
            <a:r>
              <a:rPr spc="5" dirty="0">
                <a:solidFill>
                  <a:srgbClr val="FFFFFF"/>
                </a:solidFill>
                <a:latin typeface="10"/>
                <a:cs typeface="Calibri"/>
              </a:rPr>
              <a:t>nc</a:t>
            </a:r>
            <a:r>
              <a:rPr spc="-30" dirty="0">
                <a:solidFill>
                  <a:srgbClr val="FFFFFF"/>
                </a:solidFill>
                <a:latin typeface="10"/>
                <a:cs typeface="Calibri"/>
              </a:rPr>
              <a:t>e</a:t>
            </a:r>
            <a:r>
              <a:rPr spc="10" dirty="0">
                <a:solidFill>
                  <a:srgbClr val="FFFFFF"/>
                </a:solidFill>
                <a:latin typeface="10"/>
                <a:cs typeface="Calibri"/>
              </a:rPr>
              <a:t>s</a:t>
            </a:r>
            <a:endParaRPr dirty="0">
              <a:latin typeface="10"/>
              <a:cs typeface="Calibri"/>
            </a:endParaRPr>
          </a:p>
        </p:txBody>
      </p:sp>
      <p:grpSp>
        <p:nvGrpSpPr>
          <p:cNvPr id="18" name="object 21"/>
          <p:cNvGrpSpPr/>
          <p:nvPr/>
        </p:nvGrpSpPr>
        <p:grpSpPr>
          <a:xfrm>
            <a:off x="6548256" y="2810723"/>
            <a:ext cx="1574800" cy="1365250"/>
            <a:chOff x="8409051" y="522351"/>
            <a:chExt cx="1574800" cy="1365250"/>
          </a:xfrm>
        </p:grpSpPr>
        <p:sp>
          <p:nvSpPr>
            <p:cNvPr id="19" name="object 22"/>
            <p:cNvSpPr/>
            <p:nvPr/>
          </p:nvSpPr>
          <p:spPr>
            <a:xfrm>
              <a:off x="8415401" y="528701"/>
              <a:ext cx="1562100" cy="1352550"/>
            </a:xfrm>
            <a:custGeom>
              <a:avLst/>
              <a:gdLst/>
              <a:ahLst/>
              <a:cxnLst/>
              <a:rect l="l" t="t" r="r" b="b"/>
              <a:pathLst>
                <a:path w="1562100" h="1352550">
                  <a:moveTo>
                    <a:pt x="1336548" y="0"/>
                  </a:moveTo>
                  <a:lnTo>
                    <a:pt x="225425" y="0"/>
                  </a:lnTo>
                  <a:lnTo>
                    <a:pt x="179968" y="4576"/>
                  </a:lnTo>
                  <a:lnTo>
                    <a:pt x="137642" y="17702"/>
                  </a:lnTo>
                  <a:lnTo>
                    <a:pt x="99348" y="38475"/>
                  </a:lnTo>
                  <a:lnTo>
                    <a:pt x="65992" y="65992"/>
                  </a:lnTo>
                  <a:lnTo>
                    <a:pt x="38475" y="99348"/>
                  </a:lnTo>
                  <a:lnTo>
                    <a:pt x="17702" y="137642"/>
                  </a:lnTo>
                  <a:lnTo>
                    <a:pt x="4576" y="179968"/>
                  </a:lnTo>
                  <a:lnTo>
                    <a:pt x="0" y="225425"/>
                  </a:lnTo>
                  <a:lnTo>
                    <a:pt x="0" y="1126998"/>
                  </a:lnTo>
                  <a:lnTo>
                    <a:pt x="4576" y="1172459"/>
                  </a:lnTo>
                  <a:lnTo>
                    <a:pt x="17702" y="1214800"/>
                  </a:lnTo>
                  <a:lnTo>
                    <a:pt x="38475" y="1253114"/>
                  </a:lnTo>
                  <a:lnTo>
                    <a:pt x="65992" y="1286494"/>
                  </a:lnTo>
                  <a:lnTo>
                    <a:pt x="99348" y="1314034"/>
                  </a:lnTo>
                  <a:lnTo>
                    <a:pt x="137642" y="1334827"/>
                  </a:lnTo>
                  <a:lnTo>
                    <a:pt x="179968" y="1347968"/>
                  </a:lnTo>
                  <a:lnTo>
                    <a:pt x="225425" y="1352550"/>
                  </a:lnTo>
                  <a:lnTo>
                    <a:pt x="1336548" y="1352550"/>
                  </a:lnTo>
                  <a:lnTo>
                    <a:pt x="1382009" y="1347968"/>
                  </a:lnTo>
                  <a:lnTo>
                    <a:pt x="1424350" y="1334827"/>
                  </a:lnTo>
                  <a:lnTo>
                    <a:pt x="1462664" y="1314034"/>
                  </a:lnTo>
                  <a:lnTo>
                    <a:pt x="1496044" y="1286494"/>
                  </a:lnTo>
                  <a:lnTo>
                    <a:pt x="1523584" y="1253114"/>
                  </a:lnTo>
                  <a:lnTo>
                    <a:pt x="1544377" y="1214800"/>
                  </a:lnTo>
                  <a:lnTo>
                    <a:pt x="1557518" y="1172459"/>
                  </a:lnTo>
                  <a:lnTo>
                    <a:pt x="1562100" y="1126998"/>
                  </a:lnTo>
                  <a:lnTo>
                    <a:pt x="1562100" y="225425"/>
                  </a:lnTo>
                  <a:lnTo>
                    <a:pt x="1557518" y="179968"/>
                  </a:lnTo>
                  <a:lnTo>
                    <a:pt x="1544377" y="137642"/>
                  </a:lnTo>
                  <a:lnTo>
                    <a:pt x="1523584" y="99348"/>
                  </a:lnTo>
                  <a:lnTo>
                    <a:pt x="1496044" y="65992"/>
                  </a:lnTo>
                  <a:lnTo>
                    <a:pt x="1462664" y="38475"/>
                  </a:lnTo>
                  <a:lnTo>
                    <a:pt x="1424350" y="17702"/>
                  </a:lnTo>
                  <a:lnTo>
                    <a:pt x="1382009" y="4576"/>
                  </a:lnTo>
                  <a:lnTo>
                    <a:pt x="1336548" y="0"/>
                  </a:lnTo>
                  <a:close/>
                </a:path>
              </a:pathLst>
            </a:custGeom>
            <a:solidFill>
              <a:srgbClr val="000000"/>
            </a:solidFill>
          </p:spPr>
          <p:txBody>
            <a:bodyPr wrap="square" lIns="0" tIns="0" rIns="0" bIns="0" rtlCol="0"/>
            <a:lstStyle/>
            <a:p>
              <a:endParaRPr>
                <a:latin typeface="10"/>
              </a:endParaRPr>
            </a:p>
          </p:txBody>
        </p:sp>
        <p:sp>
          <p:nvSpPr>
            <p:cNvPr id="20" name="object 23"/>
            <p:cNvSpPr/>
            <p:nvPr/>
          </p:nvSpPr>
          <p:spPr>
            <a:xfrm>
              <a:off x="8415401" y="528701"/>
              <a:ext cx="1562100" cy="1352550"/>
            </a:xfrm>
            <a:custGeom>
              <a:avLst/>
              <a:gdLst/>
              <a:ahLst/>
              <a:cxnLst/>
              <a:rect l="l" t="t" r="r" b="b"/>
              <a:pathLst>
                <a:path w="1562100" h="1352550">
                  <a:moveTo>
                    <a:pt x="0" y="225425"/>
                  </a:moveTo>
                  <a:lnTo>
                    <a:pt x="4576" y="179968"/>
                  </a:lnTo>
                  <a:lnTo>
                    <a:pt x="17702" y="137642"/>
                  </a:lnTo>
                  <a:lnTo>
                    <a:pt x="38475" y="99348"/>
                  </a:lnTo>
                  <a:lnTo>
                    <a:pt x="65992" y="65992"/>
                  </a:lnTo>
                  <a:lnTo>
                    <a:pt x="99348" y="38475"/>
                  </a:lnTo>
                  <a:lnTo>
                    <a:pt x="137642" y="17702"/>
                  </a:lnTo>
                  <a:lnTo>
                    <a:pt x="179968" y="4576"/>
                  </a:lnTo>
                  <a:lnTo>
                    <a:pt x="225425" y="0"/>
                  </a:lnTo>
                  <a:lnTo>
                    <a:pt x="1336548" y="0"/>
                  </a:lnTo>
                  <a:lnTo>
                    <a:pt x="1382009" y="4576"/>
                  </a:lnTo>
                  <a:lnTo>
                    <a:pt x="1424350" y="17702"/>
                  </a:lnTo>
                  <a:lnTo>
                    <a:pt x="1462664" y="38475"/>
                  </a:lnTo>
                  <a:lnTo>
                    <a:pt x="1496044" y="65992"/>
                  </a:lnTo>
                  <a:lnTo>
                    <a:pt x="1523584" y="99348"/>
                  </a:lnTo>
                  <a:lnTo>
                    <a:pt x="1544377" y="137642"/>
                  </a:lnTo>
                  <a:lnTo>
                    <a:pt x="1557518" y="179968"/>
                  </a:lnTo>
                  <a:lnTo>
                    <a:pt x="1562100" y="225425"/>
                  </a:lnTo>
                  <a:lnTo>
                    <a:pt x="1562100" y="1126998"/>
                  </a:lnTo>
                  <a:lnTo>
                    <a:pt x="1557518" y="1172459"/>
                  </a:lnTo>
                  <a:lnTo>
                    <a:pt x="1544377" y="1214800"/>
                  </a:lnTo>
                  <a:lnTo>
                    <a:pt x="1523584" y="1253114"/>
                  </a:lnTo>
                  <a:lnTo>
                    <a:pt x="1496044" y="1286494"/>
                  </a:lnTo>
                  <a:lnTo>
                    <a:pt x="1462664" y="1314034"/>
                  </a:lnTo>
                  <a:lnTo>
                    <a:pt x="1424350" y="1334827"/>
                  </a:lnTo>
                  <a:lnTo>
                    <a:pt x="1382009" y="1347968"/>
                  </a:lnTo>
                  <a:lnTo>
                    <a:pt x="1336548" y="1352550"/>
                  </a:lnTo>
                  <a:lnTo>
                    <a:pt x="225425" y="1352550"/>
                  </a:lnTo>
                  <a:lnTo>
                    <a:pt x="179968" y="1347968"/>
                  </a:lnTo>
                  <a:lnTo>
                    <a:pt x="137642" y="1334827"/>
                  </a:lnTo>
                  <a:lnTo>
                    <a:pt x="99348" y="1314034"/>
                  </a:lnTo>
                  <a:lnTo>
                    <a:pt x="65992" y="1286494"/>
                  </a:lnTo>
                  <a:lnTo>
                    <a:pt x="38475" y="1253114"/>
                  </a:lnTo>
                  <a:lnTo>
                    <a:pt x="17702" y="1214800"/>
                  </a:lnTo>
                  <a:lnTo>
                    <a:pt x="4576" y="1172459"/>
                  </a:lnTo>
                  <a:lnTo>
                    <a:pt x="0" y="1126998"/>
                  </a:lnTo>
                  <a:lnTo>
                    <a:pt x="0" y="225425"/>
                  </a:lnTo>
                  <a:close/>
                </a:path>
              </a:pathLst>
            </a:custGeom>
            <a:ln w="12700">
              <a:solidFill>
                <a:srgbClr val="2E528F"/>
              </a:solidFill>
            </a:ln>
          </p:spPr>
          <p:txBody>
            <a:bodyPr wrap="square" lIns="0" tIns="0" rIns="0" bIns="0" rtlCol="0"/>
            <a:lstStyle/>
            <a:p>
              <a:endParaRPr>
                <a:latin typeface="10"/>
              </a:endParaRPr>
            </a:p>
          </p:txBody>
        </p:sp>
      </p:grpSp>
      <p:sp>
        <p:nvSpPr>
          <p:cNvPr id="21" name="object 24"/>
          <p:cNvSpPr txBox="1"/>
          <p:nvPr/>
        </p:nvSpPr>
        <p:spPr>
          <a:xfrm>
            <a:off x="6678358" y="3119554"/>
            <a:ext cx="1301333" cy="670055"/>
          </a:xfrm>
          <a:prstGeom prst="rect">
            <a:avLst/>
          </a:prstGeom>
        </p:spPr>
        <p:txBody>
          <a:bodyPr vert="horz" wrap="square" lIns="0" tIns="15875" rIns="0" bIns="0" rtlCol="0">
            <a:spAutoFit/>
          </a:bodyPr>
          <a:lstStyle/>
          <a:p>
            <a:pPr marL="31750" algn="ctr">
              <a:lnSpc>
                <a:spcPts val="1664"/>
              </a:lnSpc>
              <a:spcBef>
                <a:spcPts val="125"/>
              </a:spcBef>
            </a:pPr>
            <a:r>
              <a:rPr spc="15" dirty="0">
                <a:solidFill>
                  <a:srgbClr val="FFFFFF"/>
                </a:solidFill>
                <a:latin typeface="10"/>
                <a:cs typeface="Calibri"/>
              </a:rPr>
              <a:t>An</a:t>
            </a:r>
            <a:r>
              <a:rPr dirty="0">
                <a:solidFill>
                  <a:srgbClr val="FFFFFF"/>
                </a:solidFill>
                <a:latin typeface="10"/>
                <a:cs typeface="Calibri"/>
              </a:rPr>
              <a:t>a</a:t>
            </a:r>
            <a:r>
              <a:rPr spc="-25" dirty="0">
                <a:solidFill>
                  <a:srgbClr val="FFFFFF"/>
                </a:solidFill>
                <a:latin typeface="10"/>
                <a:cs typeface="Calibri"/>
              </a:rPr>
              <a:t>l</a:t>
            </a:r>
            <a:r>
              <a:rPr spc="35" dirty="0">
                <a:solidFill>
                  <a:srgbClr val="FFFFFF"/>
                </a:solidFill>
                <a:latin typeface="10"/>
                <a:cs typeface="Calibri"/>
              </a:rPr>
              <a:t>y</a:t>
            </a:r>
            <a:r>
              <a:rPr spc="45" dirty="0">
                <a:solidFill>
                  <a:srgbClr val="FFFFFF"/>
                </a:solidFill>
                <a:latin typeface="10"/>
                <a:cs typeface="Calibri"/>
              </a:rPr>
              <a:t>s</a:t>
            </a:r>
            <a:r>
              <a:rPr spc="-25" dirty="0">
                <a:solidFill>
                  <a:srgbClr val="FFFFFF"/>
                </a:solidFill>
                <a:latin typeface="10"/>
                <a:cs typeface="Calibri"/>
              </a:rPr>
              <a:t>i</a:t>
            </a:r>
            <a:r>
              <a:rPr spc="10" dirty="0">
                <a:solidFill>
                  <a:srgbClr val="FFFFFF"/>
                </a:solidFill>
                <a:latin typeface="10"/>
                <a:cs typeface="Calibri"/>
              </a:rPr>
              <a:t>s</a:t>
            </a:r>
            <a:r>
              <a:rPr spc="-55" dirty="0">
                <a:solidFill>
                  <a:srgbClr val="FFFFFF"/>
                </a:solidFill>
                <a:latin typeface="10"/>
                <a:cs typeface="Calibri"/>
              </a:rPr>
              <a:t> </a:t>
            </a:r>
            <a:r>
              <a:rPr dirty="0">
                <a:solidFill>
                  <a:srgbClr val="FFFFFF"/>
                </a:solidFill>
                <a:latin typeface="10"/>
                <a:cs typeface="Calibri"/>
              </a:rPr>
              <a:t>a</a:t>
            </a:r>
            <a:r>
              <a:rPr spc="5" dirty="0">
                <a:solidFill>
                  <a:srgbClr val="FFFFFF"/>
                </a:solidFill>
                <a:latin typeface="10"/>
                <a:cs typeface="Calibri"/>
              </a:rPr>
              <a:t>nd</a:t>
            </a:r>
            <a:endParaRPr dirty="0">
              <a:latin typeface="10"/>
              <a:cs typeface="Calibri"/>
            </a:endParaRPr>
          </a:p>
          <a:p>
            <a:pPr marL="12700" algn="ctr">
              <a:lnSpc>
                <a:spcPts val="1664"/>
              </a:lnSpc>
            </a:pPr>
            <a:r>
              <a:rPr spc="40" dirty="0">
                <a:solidFill>
                  <a:srgbClr val="FFFFFF"/>
                </a:solidFill>
                <a:latin typeface="10"/>
                <a:cs typeface="Calibri"/>
              </a:rPr>
              <a:t>O</a:t>
            </a:r>
            <a:r>
              <a:rPr spc="5" dirty="0">
                <a:solidFill>
                  <a:srgbClr val="FFFFFF"/>
                </a:solidFill>
                <a:latin typeface="10"/>
                <a:cs typeface="Calibri"/>
              </a:rPr>
              <a:t>p</a:t>
            </a:r>
            <a:r>
              <a:rPr spc="-25" dirty="0">
                <a:solidFill>
                  <a:srgbClr val="FFFFFF"/>
                </a:solidFill>
                <a:latin typeface="10"/>
                <a:cs typeface="Calibri"/>
              </a:rPr>
              <a:t>ti</a:t>
            </a:r>
            <a:r>
              <a:rPr spc="5" dirty="0">
                <a:solidFill>
                  <a:srgbClr val="FFFFFF"/>
                </a:solidFill>
                <a:latin typeface="10"/>
                <a:cs typeface="Calibri"/>
              </a:rPr>
              <a:t>m</a:t>
            </a:r>
            <a:r>
              <a:rPr spc="-25" dirty="0">
                <a:solidFill>
                  <a:srgbClr val="FFFFFF"/>
                </a:solidFill>
                <a:latin typeface="10"/>
                <a:cs typeface="Calibri"/>
              </a:rPr>
              <a:t>i</a:t>
            </a:r>
            <a:r>
              <a:rPr spc="40" dirty="0">
                <a:solidFill>
                  <a:srgbClr val="FFFFFF"/>
                </a:solidFill>
                <a:latin typeface="10"/>
                <a:cs typeface="Calibri"/>
              </a:rPr>
              <a:t>z</a:t>
            </a:r>
            <a:r>
              <a:rPr dirty="0">
                <a:solidFill>
                  <a:srgbClr val="FFFFFF"/>
                </a:solidFill>
                <a:latin typeface="10"/>
                <a:cs typeface="Calibri"/>
              </a:rPr>
              <a:t>a</a:t>
            </a:r>
            <a:r>
              <a:rPr spc="-25" dirty="0">
                <a:solidFill>
                  <a:srgbClr val="FFFFFF"/>
                </a:solidFill>
                <a:latin typeface="10"/>
                <a:cs typeface="Calibri"/>
              </a:rPr>
              <a:t>ti</a:t>
            </a:r>
            <a:r>
              <a:rPr spc="5" dirty="0">
                <a:solidFill>
                  <a:srgbClr val="FFFFFF"/>
                </a:solidFill>
                <a:latin typeface="10"/>
                <a:cs typeface="Calibri"/>
              </a:rPr>
              <a:t>on</a:t>
            </a:r>
            <a:endParaRPr dirty="0">
              <a:latin typeface="10"/>
              <a:cs typeface="Calibri"/>
            </a:endParaRPr>
          </a:p>
        </p:txBody>
      </p:sp>
      <p:grpSp>
        <p:nvGrpSpPr>
          <p:cNvPr id="22" name="object 25"/>
          <p:cNvGrpSpPr/>
          <p:nvPr/>
        </p:nvGrpSpPr>
        <p:grpSpPr>
          <a:xfrm>
            <a:off x="4549402" y="2848085"/>
            <a:ext cx="1593850" cy="1346200"/>
            <a:chOff x="10361676" y="531876"/>
            <a:chExt cx="1593850" cy="1346200"/>
          </a:xfrm>
        </p:grpSpPr>
        <p:sp>
          <p:nvSpPr>
            <p:cNvPr id="23" name="object 26"/>
            <p:cNvSpPr/>
            <p:nvPr/>
          </p:nvSpPr>
          <p:spPr>
            <a:xfrm>
              <a:off x="10368026" y="538226"/>
              <a:ext cx="1581150" cy="1333500"/>
            </a:xfrm>
            <a:custGeom>
              <a:avLst/>
              <a:gdLst/>
              <a:ahLst/>
              <a:cxnLst/>
              <a:rect l="l" t="t" r="r" b="b"/>
              <a:pathLst>
                <a:path w="1581150" h="1333500">
                  <a:moveTo>
                    <a:pt x="1358773" y="0"/>
                  </a:moveTo>
                  <a:lnTo>
                    <a:pt x="222250" y="0"/>
                  </a:lnTo>
                  <a:lnTo>
                    <a:pt x="177440" y="4512"/>
                  </a:lnTo>
                  <a:lnTo>
                    <a:pt x="135713" y="17456"/>
                  </a:lnTo>
                  <a:lnTo>
                    <a:pt x="97959" y="37940"/>
                  </a:lnTo>
                  <a:lnTo>
                    <a:pt x="65071" y="65071"/>
                  </a:lnTo>
                  <a:lnTo>
                    <a:pt x="37940" y="97959"/>
                  </a:lnTo>
                  <a:lnTo>
                    <a:pt x="17456" y="135713"/>
                  </a:lnTo>
                  <a:lnTo>
                    <a:pt x="4512" y="177440"/>
                  </a:lnTo>
                  <a:lnTo>
                    <a:pt x="0" y="222250"/>
                  </a:lnTo>
                  <a:lnTo>
                    <a:pt x="0" y="1111123"/>
                  </a:lnTo>
                  <a:lnTo>
                    <a:pt x="4512" y="1155937"/>
                  </a:lnTo>
                  <a:lnTo>
                    <a:pt x="17456" y="1197679"/>
                  </a:lnTo>
                  <a:lnTo>
                    <a:pt x="37940" y="1235453"/>
                  </a:lnTo>
                  <a:lnTo>
                    <a:pt x="65071" y="1268364"/>
                  </a:lnTo>
                  <a:lnTo>
                    <a:pt x="97959" y="1295519"/>
                  </a:lnTo>
                  <a:lnTo>
                    <a:pt x="135713" y="1316023"/>
                  </a:lnTo>
                  <a:lnTo>
                    <a:pt x="177440" y="1328981"/>
                  </a:lnTo>
                  <a:lnTo>
                    <a:pt x="222250" y="1333500"/>
                  </a:lnTo>
                  <a:lnTo>
                    <a:pt x="1358773" y="1333500"/>
                  </a:lnTo>
                  <a:lnTo>
                    <a:pt x="1403587" y="1328981"/>
                  </a:lnTo>
                  <a:lnTo>
                    <a:pt x="1445329" y="1316023"/>
                  </a:lnTo>
                  <a:lnTo>
                    <a:pt x="1483103" y="1295519"/>
                  </a:lnTo>
                  <a:lnTo>
                    <a:pt x="1516014" y="1268364"/>
                  </a:lnTo>
                  <a:lnTo>
                    <a:pt x="1543169" y="1235453"/>
                  </a:lnTo>
                  <a:lnTo>
                    <a:pt x="1563673" y="1197679"/>
                  </a:lnTo>
                  <a:lnTo>
                    <a:pt x="1576631" y="1155937"/>
                  </a:lnTo>
                  <a:lnTo>
                    <a:pt x="1581150" y="1111123"/>
                  </a:lnTo>
                  <a:lnTo>
                    <a:pt x="1581150" y="222250"/>
                  </a:lnTo>
                  <a:lnTo>
                    <a:pt x="1576631" y="177440"/>
                  </a:lnTo>
                  <a:lnTo>
                    <a:pt x="1563673" y="135713"/>
                  </a:lnTo>
                  <a:lnTo>
                    <a:pt x="1543169" y="97959"/>
                  </a:lnTo>
                  <a:lnTo>
                    <a:pt x="1516014" y="65071"/>
                  </a:lnTo>
                  <a:lnTo>
                    <a:pt x="1483103" y="37940"/>
                  </a:lnTo>
                  <a:lnTo>
                    <a:pt x="1445329" y="17456"/>
                  </a:lnTo>
                  <a:lnTo>
                    <a:pt x="1403587" y="4512"/>
                  </a:lnTo>
                  <a:lnTo>
                    <a:pt x="1358773" y="0"/>
                  </a:lnTo>
                  <a:close/>
                </a:path>
              </a:pathLst>
            </a:custGeom>
            <a:solidFill>
              <a:srgbClr val="000000"/>
            </a:solidFill>
          </p:spPr>
          <p:txBody>
            <a:bodyPr wrap="square" lIns="0" tIns="0" rIns="0" bIns="0" rtlCol="0"/>
            <a:lstStyle/>
            <a:p>
              <a:endParaRPr>
                <a:latin typeface="10"/>
              </a:endParaRPr>
            </a:p>
          </p:txBody>
        </p:sp>
        <p:sp>
          <p:nvSpPr>
            <p:cNvPr id="24" name="object 27"/>
            <p:cNvSpPr/>
            <p:nvPr/>
          </p:nvSpPr>
          <p:spPr>
            <a:xfrm>
              <a:off x="10368026" y="538226"/>
              <a:ext cx="1581150" cy="1333500"/>
            </a:xfrm>
            <a:custGeom>
              <a:avLst/>
              <a:gdLst/>
              <a:ahLst/>
              <a:cxnLst/>
              <a:rect l="l" t="t" r="r" b="b"/>
              <a:pathLst>
                <a:path w="1581150" h="1333500">
                  <a:moveTo>
                    <a:pt x="0" y="222250"/>
                  </a:moveTo>
                  <a:lnTo>
                    <a:pt x="4512" y="177440"/>
                  </a:lnTo>
                  <a:lnTo>
                    <a:pt x="17456" y="135713"/>
                  </a:lnTo>
                  <a:lnTo>
                    <a:pt x="37940" y="97959"/>
                  </a:lnTo>
                  <a:lnTo>
                    <a:pt x="65071" y="65071"/>
                  </a:lnTo>
                  <a:lnTo>
                    <a:pt x="97959" y="37940"/>
                  </a:lnTo>
                  <a:lnTo>
                    <a:pt x="135713" y="17456"/>
                  </a:lnTo>
                  <a:lnTo>
                    <a:pt x="177440" y="4512"/>
                  </a:lnTo>
                  <a:lnTo>
                    <a:pt x="222250" y="0"/>
                  </a:lnTo>
                  <a:lnTo>
                    <a:pt x="1358773" y="0"/>
                  </a:lnTo>
                  <a:lnTo>
                    <a:pt x="1403587" y="4512"/>
                  </a:lnTo>
                  <a:lnTo>
                    <a:pt x="1445329" y="17456"/>
                  </a:lnTo>
                  <a:lnTo>
                    <a:pt x="1483103" y="37940"/>
                  </a:lnTo>
                  <a:lnTo>
                    <a:pt x="1516014" y="65071"/>
                  </a:lnTo>
                  <a:lnTo>
                    <a:pt x="1543169" y="97959"/>
                  </a:lnTo>
                  <a:lnTo>
                    <a:pt x="1563673" y="135713"/>
                  </a:lnTo>
                  <a:lnTo>
                    <a:pt x="1576631" y="177440"/>
                  </a:lnTo>
                  <a:lnTo>
                    <a:pt x="1581150" y="222250"/>
                  </a:lnTo>
                  <a:lnTo>
                    <a:pt x="1581150" y="1111123"/>
                  </a:lnTo>
                  <a:lnTo>
                    <a:pt x="1576631" y="1155937"/>
                  </a:lnTo>
                  <a:lnTo>
                    <a:pt x="1563673" y="1197679"/>
                  </a:lnTo>
                  <a:lnTo>
                    <a:pt x="1543169" y="1235453"/>
                  </a:lnTo>
                  <a:lnTo>
                    <a:pt x="1516014" y="1268364"/>
                  </a:lnTo>
                  <a:lnTo>
                    <a:pt x="1483103" y="1295519"/>
                  </a:lnTo>
                  <a:lnTo>
                    <a:pt x="1445329" y="1316023"/>
                  </a:lnTo>
                  <a:lnTo>
                    <a:pt x="1403587" y="1328981"/>
                  </a:lnTo>
                  <a:lnTo>
                    <a:pt x="1358773" y="1333500"/>
                  </a:lnTo>
                  <a:lnTo>
                    <a:pt x="222250" y="1333500"/>
                  </a:lnTo>
                  <a:lnTo>
                    <a:pt x="177440" y="1328981"/>
                  </a:lnTo>
                  <a:lnTo>
                    <a:pt x="135713" y="1316023"/>
                  </a:lnTo>
                  <a:lnTo>
                    <a:pt x="97959" y="1295519"/>
                  </a:lnTo>
                  <a:lnTo>
                    <a:pt x="65071" y="1268364"/>
                  </a:lnTo>
                  <a:lnTo>
                    <a:pt x="37940" y="1235453"/>
                  </a:lnTo>
                  <a:lnTo>
                    <a:pt x="17456" y="1197679"/>
                  </a:lnTo>
                  <a:lnTo>
                    <a:pt x="4512" y="1155937"/>
                  </a:lnTo>
                  <a:lnTo>
                    <a:pt x="0" y="1111123"/>
                  </a:lnTo>
                  <a:lnTo>
                    <a:pt x="0" y="222250"/>
                  </a:lnTo>
                  <a:close/>
                </a:path>
              </a:pathLst>
            </a:custGeom>
            <a:ln w="12700">
              <a:solidFill>
                <a:srgbClr val="2E528F"/>
              </a:solidFill>
            </a:ln>
          </p:spPr>
          <p:txBody>
            <a:bodyPr wrap="square" lIns="0" tIns="0" rIns="0" bIns="0" rtlCol="0"/>
            <a:lstStyle/>
            <a:p>
              <a:endParaRPr>
                <a:latin typeface="10"/>
              </a:endParaRPr>
            </a:p>
          </p:txBody>
        </p:sp>
      </p:grpSp>
      <p:sp>
        <p:nvSpPr>
          <p:cNvPr id="25" name="object 28"/>
          <p:cNvSpPr txBox="1"/>
          <p:nvPr/>
        </p:nvSpPr>
        <p:spPr>
          <a:xfrm>
            <a:off x="4686372" y="3192910"/>
            <a:ext cx="1273175" cy="570028"/>
          </a:xfrm>
          <a:prstGeom prst="rect">
            <a:avLst/>
          </a:prstGeom>
        </p:spPr>
        <p:txBody>
          <a:bodyPr vert="horz" wrap="square" lIns="0" tIns="15875" rIns="0" bIns="0" rtlCol="0">
            <a:spAutoFit/>
          </a:bodyPr>
          <a:lstStyle/>
          <a:p>
            <a:pPr marL="12700" algn="ctr">
              <a:lnSpc>
                <a:spcPct val="100000"/>
              </a:lnSpc>
              <a:spcBef>
                <a:spcPts val="125"/>
              </a:spcBef>
            </a:pPr>
            <a:r>
              <a:rPr spc="35" dirty="0">
                <a:solidFill>
                  <a:srgbClr val="FFFFFF"/>
                </a:solidFill>
                <a:latin typeface="10"/>
                <a:cs typeface="Calibri"/>
              </a:rPr>
              <a:t>D</a:t>
            </a:r>
            <a:r>
              <a:rPr spc="-25" dirty="0">
                <a:solidFill>
                  <a:srgbClr val="FFFFFF"/>
                </a:solidFill>
                <a:latin typeface="10"/>
                <a:cs typeface="Calibri"/>
              </a:rPr>
              <a:t>e</a:t>
            </a:r>
            <a:r>
              <a:rPr spc="45" dirty="0">
                <a:solidFill>
                  <a:srgbClr val="FFFFFF"/>
                </a:solidFill>
                <a:latin typeface="10"/>
                <a:cs typeface="Calibri"/>
              </a:rPr>
              <a:t>s</a:t>
            </a:r>
            <a:r>
              <a:rPr spc="-25" dirty="0">
                <a:solidFill>
                  <a:srgbClr val="FFFFFF"/>
                </a:solidFill>
                <a:latin typeface="10"/>
                <a:cs typeface="Calibri"/>
              </a:rPr>
              <a:t>i</a:t>
            </a:r>
            <a:r>
              <a:rPr spc="10" dirty="0">
                <a:solidFill>
                  <a:srgbClr val="FFFFFF"/>
                </a:solidFill>
                <a:latin typeface="10"/>
                <a:cs typeface="Calibri"/>
              </a:rPr>
              <a:t>gn</a:t>
            </a:r>
            <a:r>
              <a:rPr spc="-90" dirty="0">
                <a:solidFill>
                  <a:srgbClr val="FFFFFF"/>
                </a:solidFill>
                <a:latin typeface="10"/>
                <a:cs typeface="Calibri"/>
              </a:rPr>
              <a:t> </a:t>
            </a:r>
            <a:r>
              <a:rPr spc="-50" dirty="0">
                <a:solidFill>
                  <a:srgbClr val="FFFFFF"/>
                </a:solidFill>
                <a:latin typeface="10"/>
                <a:cs typeface="Calibri"/>
              </a:rPr>
              <a:t>V</a:t>
            </a:r>
            <a:r>
              <a:rPr dirty="0">
                <a:solidFill>
                  <a:srgbClr val="FFFFFF"/>
                </a:solidFill>
                <a:latin typeface="10"/>
                <a:cs typeface="Calibri"/>
              </a:rPr>
              <a:t>a</a:t>
            </a:r>
            <a:r>
              <a:rPr spc="-25" dirty="0">
                <a:solidFill>
                  <a:srgbClr val="FFFFFF"/>
                </a:solidFill>
                <a:latin typeface="10"/>
                <a:cs typeface="Calibri"/>
              </a:rPr>
              <a:t>li</a:t>
            </a:r>
            <a:r>
              <a:rPr spc="5" dirty="0">
                <a:solidFill>
                  <a:srgbClr val="FFFFFF"/>
                </a:solidFill>
                <a:latin typeface="10"/>
                <a:cs typeface="Calibri"/>
              </a:rPr>
              <a:t>d</a:t>
            </a:r>
            <a:r>
              <a:rPr dirty="0">
                <a:solidFill>
                  <a:srgbClr val="FFFFFF"/>
                </a:solidFill>
                <a:latin typeface="10"/>
                <a:cs typeface="Calibri"/>
              </a:rPr>
              <a:t>a</a:t>
            </a:r>
            <a:r>
              <a:rPr spc="-25" dirty="0">
                <a:solidFill>
                  <a:srgbClr val="FFFFFF"/>
                </a:solidFill>
                <a:latin typeface="10"/>
                <a:cs typeface="Calibri"/>
              </a:rPr>
              <a:t>ti</a:t>
            </a:r>
            <a:r>
              <a:rPr spc="5" dirty="0">
                <a:solidFill>
                  <a:srgbClr val="FFFFFF"/>
                </a:solidFill>
                <a:latin typeface="10"/>
                <a:cs typeface="Calibri"/>
              </a:rPr>
              <a:t>on</a:t>
            </a:r>
            <a:endParaRPr dirty="0">
              <a:latin typeface="10"/>
              <a:cs typeface="Calibri"/>
            </a:endParaRPr>
          </a:p>
        </p:txBody>
      </p:sp>
      <p:sp>
        <p:nvSpPr>
          <p:cNvPr id="36" name="Right Arrow 35"/>
          <p:cNvSpPr/>
          <p:nvPr/>
        </p:nvSpPr>
        <p:spPr>
          <a:xfrm>
            <a:off x="2022905" y="1634564"/>
            <a:ext cx="364889" cy="3265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ight Arrow 36"/>
          <p:cNvSpPr/>
          <p:nvPr/>
        </p:nvSpPr>
        <p:spPr>
          <a:xfrm>
            <a:off x="4283968" y="1661889"/>
            <a:ext cx="311310" cy="2990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ight Arrow 37"/>
          <p:cNvSpPr/>
          <p:nvPr/>
        </p:nvSpPr>
        <p:spPr>
          <a:xfrm>
            <a:off x="6207967" y="1671797"/>
            <a:ext cx="364889" cy="3265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ight Arrow 38"/>
          <p:cNvSpPr/>
          <p:nvPr/>
        </p:nvSpPr>
        <p:spPr>
          <a:xfrm rot="5400000">
            <a:off x="7219372" y="2488522"/>
            <a:ext cx="364889" cy="3265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ight Arrow 39"/>
          <p:cNvSpPr/>
          <p:nvPr/>
        </p:nvSpPr>
        <p:spPr>
          <a:xfrm rot="10800000">
            <a:off x="6193899" y="3314673"/>
            <a:ext cx="364889" cy="3265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2" name="Content Placeholder 4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69088" y="4439687"/>
            <a:ext cx="2541070" cy="20234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62026" y="4531693"/>
            <a:ext cx="2574714" cy="19684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5" name="Picture 4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925" y="3176392"/>
            <a:ext cx="2230860" cy="31091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5059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72" y="-40742"/>
            <a:ext cx="8229600" cy="1143000"/>
          </a:xfrm>
        </p:spPr>
        <p:txBody>
          <a:bodyPr>
            <a:normAutofit/>
          </a:bodyPr>
          <a:lstStyle/>
          <a:p>
            <a:r>
              <a:rPr lang="en-IN" sz="2800" b="1" spc="-5" dirty="0"/>
              <a:t>R</a:t>
            </a:r>
            <a:r>
              <a:rPr lang="en-IN" sz="2800" b="1" spc="40" dirty="0"/>
              <a:t>o</a:t>
            </a:r>
            <a:r>
              <a:rPr lang="en-IN" sz="2800" b="1" spc="30" dirty="0"/>
              <a:t>l</a:t>
            </a:r>
            <a:r>
              <a:rPr lang="en-IN" sz="2800" b="1" spc="5" dirty="0"/>
              <a:t>l</a:t>
            </a:r>
            <a:r>
              <a:rPr lang="en-IN" sz="2800" b="1" spc="-130" dirty="0"/>
              <a:t> </a:t>
            </a:r>
            <a:r>
              <a:rPr lang="en-IN" sz="2800" b="1" spc="-15" dirty="0"/>
              <a:t>C</a:t>
            </a:r>
            <a:r>
              <a:rPr lang="en-IN" sz="2800" b="1" spc="-20" dirty="0"/>
              <a:t>a</a:t>
            </a:r>
            <a:r>
              <a:rPr lang="en-IN" sz="2800" b="1" spc="20" dirty="0"/>
              <a:t>g</a:t>
            </a:r>
            <a:r>
              <a:rPr lang="en-IN" sz="2800" b="1" spc="10" dirty="0"/>
              <a:t>e</a:t>
            </a:r>
            <a:r>
              <a:rPr lang="en-IN" sz="2800" b="1" spc="-50" dirty="0"/>
              <a:t> </a:t>
            </a:r>
            <a:r>
              <a:rPr lang="en-IN" sz="2800" b="1" spc="10" dirty="0"/>
              <a:t>D</a:t>
            </a:r>
            <a:r>
              <a:rPr lang="en-IN" sz="2800" b="1" spc="35" dirty="0"/>
              <a:t>e</a:t>
            </a:r>
            <a:r>
              <a:rPr lang="en-IN" sz="2800" b="1" spc="20" dirty="0"/>
              <a:t>s</a:t>
            </a:r>
            <a:r>
              <a:rPr lang="en-IN" sz="2800" b="1" spc="30" dirty="0"/>
              <a:t>i</a:t>
            </a:r>
            <a:r>
              <a:rPr lang="en-IN" sz="2800" b="1" spc="20" dirty="0"/>
              <a:t>g</a:t>
            </a:r>
            <a:r>
              <a:rPr lang="en-IN" sz="2800" b="1" spc="10" dirty="0"/>
              <a:t>n</a:t>
            </a:r>
            <a:r>
              <a:rPr lang="en-IN" sz="2800" b="1" spc="-114" dirty="0"/>
              <a:t> </a:t>
            </a:r>
            <a:r>
              <a:rPr lang="en-IN" sz="2800" b="1" spc="-20" dirty="0"/>
              <a:t>P</a:t>
            </a:r>
            <a:r>
              <a:rPr lang="en-IN" sz="2800" b="1" spc="30" dirty="0"/>
              <a:t>r</a:t>
            </a:r>
            <a:r>
              <a:rPr lang="en-IN" sz="2800" b="1" spc="40" dirty="0"/>
              <a:t>o</a:t>
            </a:r>
            <a:r>
              <a:rPr lang="en-IN" sz="2800" b="1" spc="-15" dirty="0"/>
              <a:t>c</a:t>
            </a:r>
            <a:r>
              <a:rPr lang="en-IN" sz="2800" b="1" spc="35" dirty="0"/>
              <a:t>e</a:t>
            </a:r>
            <a:r>
              <a:rPr lang="en-IN" sz="2800" b="1" spc="20" dirty="0"/>
              <a:t>s</a:t>
            </a:r>
            <a:r>
              <a:rPr lang="en-IN" sz="2800" b="1" spc="60" dirty="0"/>
              <a:t>s</a:t>
            </a:r>
            <a:r>
              <a:rPr lang="en-IN" sz="2800" b="1" spc="-15" dirty="0"/>
              <a:t>-</a:t>
            </a:r>
            <a:r>
              <a:rPr lang="en-IN" sz="2800" b="1" spc="-5" dirty="0"/>
              <a:t>E</a:t>
            </a:r>
            <a:r>
              <a:rPr lang="en-IN" sz="2800" b="1" spc="30" dirty="0"/>
              <a:t>r</a:t>
            </a:r>
            <a:r>
              <a:rPr lang="en-IN" sz="2800" b="1" spc="-55" dirty="0"/>
              <a:t>g</a:t>
            </a:r>
            <a:r>
              <a:rPr lang="en-IN" sz="2800" b="1" spc="-30" dirty="0"/>
              <a:t>on</a:t>
            </a:r>
            <a:r>
              <a:rPr lang="en-IN" sz="2800" b="1" spc="45" dirty="0"/>
              <a:t>o</a:t>
            </a:r>
            <a:r>
              <a:rPr lang="en-IN" sz="2800" b="1" spc="15" dirty="0"/>
              <a:t>m</a:t>
            </a:r>
            <a:r>
              <a:rPr lang="en-IN" sz="2800" b="1" spc="-45" dirty="0"/>
              <a:t>i</a:t>
            </a:r>
            <a:r>
              <a:rPr lang="en-IN" sz="2800" b="1" spc="-15" dirty="0"/>
              <a:t>c</a:t>
            </a:r>
            <a:r>
              <a:rPr lang="en-IN" sz="2800" b="1" spc="10" dirty="0"/>
              <a:t>s</a:t>
            </a:r>
            <a:endParaRPr lang="en-IN" sz="2800" b="1" dirty="0">
              <a:latin typeface="10"/>
            </a:endParaRPr>
          </a:p>
        </p:txBody>
      </p:sp>
      <p:sp>
        <p:nvSpPr>
          <p:cNvPr id="3" name="Content Placeholder 2"/>
          <p:cNvSpPr>
            <a:spLocks noGrp="1"/>
          </p:cNvSpPr>
          <p:nvPr>
            <p:ph idx="1"/>
          </p:nvPr>
        </p:nvSpPr>
        <p:spPr>
          <a:xfrm>
            <a:off x="457200" y="980728"/>
            <a:ext cx="8229600" cy="5256584"/>
          </a:xfrm>
        </p:spPr>
        <p:txBody>
          <a:bodyPr>
            <a:normAutofit fontScale="70000" lnSpcReduction="20000"/>
          </a:bodyPr>
          <a:lstStyle/>
          <a:p>
            <a:pPr marL="870585" indent="0">
              <a:lnSpc>
                <a:spcPct val="100000"/>
              </a:lnSpc>
              <a:spcBef>
                <a:spcPts val="260"/>
              </a:spcBef>
              <a:buNone/>
            </a:pPr>
            <a:r>
              <a:rPr lang="en-US" b="1" u="sng" dirty="0"/>
              <a:t>CONSIDERATIONS</a:t>
            </a:r>
            <a:r>
              <a:rPr lang="en-US" b="1" u="sng" dirty="0" smtClean="0"/>
              <a:t>:</a:t>
            </a:r>
          </a:p>
          <a:p>
            <a:pPr marL="870585" indent="0">
              <a:lnSpc>
                <a:spcPct val="100000"/>
              </a:lnSpc>
              <a:spcBef>
                <a:spcPts val="260"/>
              </a:spcBef>
              <a:buNone/>
            </a:pPr>
            <a:endParaRPr lang="en-US" b="1" u="sng" dirty="0"/>
          </a:p>
          <a:p>
            <a:pPr marL="298450" indent="-286385">
              <a:spcBef>
                <a:spcPts val="165"/>
              </a:spcBef>
              <a:buFont typeface="Arial MT"/>
              <a:buChar char="•"/>
              <a:tabLst>
                <a:tab pos="298450" algn="l"/>
                <a:tab pos="299085" algn="l"/>
              </a:tabLst>
            </a:pPr>
            <a:r>
              <a:rPr lang="en-US" spc="-5" dirty="0">
                <a:cs typeface="Calibri"/>
              </a:rPr>
              <a:t>Driver</a:t>
            </a:r>
            <a:r>
              <a:rPr lang="en-US" spc="135" dirty="0">
                <a:cs typeface="Calibri"/>
              </a:rPr>
              <a:t> </a:t>
            </a:r>
            <a:r>
              <a:rPr lang="en-US" spc="-5" dirty="0">
                <a:cs typeface="Calibri"/>
              </a:rPr>
              <a:t>oriented</a:t>
            </a:r>
            <a:r>
              <a:rPr lang="en-US" spc="150" dirty="0">
                <a:cs typeface="Calibri"/>
              </a:rPr>
              <a:t> </a:t>
            </a:r>
            <a:r>
              <a:rPr lang="en-US" dirty="0">
                <a:cs typeface="Calibri"/>
              </a:rPr>
              <a:t>Roll</a:t>
            </a:r>
            <a:r>
              <a:rPr lang="en-US" spc="30" dirty="0">
                <a:cs typeface="Calibri"/>
              </a:rPr>
              <a:t> </a:t>
            </a:r>
            <a:r>
              <a:rPr lang="en-US" spc="5" dirty="0">
                <a:cs typeface="Calibri"/>
              </a:rPr>
              <a:t>Cage</a:t>
            </a:r>
            <a:r>
              <a:rPr lang="en-US" spc="50" dirty="0">
                <a:cs typeface="Calibri"/>
              </a:rPr>
              <a:t> </a:t>
            </a:r>
            <a:r>
              <a:rPr lang="en-US" dirty="0">
                <a:cs typeface="Calibri"/>
              </a:rPr>
              <a:t>design</a:t>
            </a:r>
          </a:p>
          <a:p>
            <a:pPr marL="298450" indent="-286385">
              <a:spcBef>
                <a:spcPts val="20"/>
              </a:spcBef>
              <a:buFont typeface="Arial MT"/>
              <a:buChar char="•"/>
              <a:tabLst>
                <a:tab pos="298450" algn="l"/>
                <a:tab pos="299085" algn="l"/>
              </a:tabLst>
            </a:pPr>
            <a:r>
              <a:rPr lang="en-US" spc="5" dirty="0">
                <a:cs typeface="Calibri"/>
              </a:rPr>
              <a:t>All</a:t>
            </a:r>
            <a:r>
              <a:rPr lang="en-US" spc="35" dirty="0">
                <a:cs typeface="Calibri"/>
              </a:rPr>
              <a:t> </a:t>
            </a:r>
            <a:r>
              <a:rPr lang="en-US" spc="5" dirty="0">
                <a:cs typeface="Calibri"/>
              </a:rPr>
              <a:t>the</a:t>
            </a:r>
            <a:r>
              <a:rPr lang="en-US" spc="65" dirty="0">
                <a:cs typeface="Calibri"/>
              </a:rPr>
              <a:t> </a:t>
            </a:r>
            <a:r>
              <a:rPr lang="en-US" dirty="0">
                <a:cs typeface="Calibri"/>
              </a:rPr>
              <a:t>rule</a:t>
            </a:r>
            <a:r>
              <a:rPr lang="en-US" spc="60" dirty="0">
                <a:cs typeface="Calibri"/>
              </a:rPr>
              <a:t> </a:t>
            </a:r>
            <a:r>
              <a:rPr lang="en-US" spc="5" dirty="0">
                <a:cs typeface="Calibri"/>
              </a:rPr>
              <a:t>book</a:t>
            </a:r>
            <a:r>
              <a:rPr lang="en-US" spc="55" dirty="0">
                <a:cs typeface="Calibri"/>
              </a:rPr>
              <a:t> </a:t>
            </a:r>
            <a:r>
              <a:rPr lang="en-US" spc="5" dirty="0">
                <a:cs typeface="Calibri"/>
              </a:rPr>
              <a:t>conditions</a:t>
            </a:r>
            <a:r>
              <a:rPr lang="en-US" spc="80" dirty="0">
                <a:cs typeface="Calibri"/>
              </a:rPr>
              <a:t> </a:t>
            </a:r>
            <a:r>
              <a:rPr lang="en-US" dirty="0">
                <a:cs typeface="Calibri"/>
              </a:rPr>
              <a:t>are</a:t>
            </a:r>
            <a:r>
              <a:rPr lang="en-US" spc="60" dirty="0">
                <a:cs typeface="Calibri"/>
              </a:rPr>
              <a:t> </a:t>
            </a:r>
            <a:r>
              <a:rPr lang="en-US" spc="-5" dirty="0">
                <a:cs typeface="Calibri"/>
              </a:rPr>
              <a:t>satisfied</a:t>
            </a:r>
          </a:p>
          <a:p>
            <a:pPr marL="298450" indent="-286385">
              <a:spcBef>
                <a:spcPts val="90"/>
              </a:spcBef>
              <a:buFont typeface="Arial MT"/>
              <a:buChar char="•"/>
              <a:tabLst>
                <a:tab pos="298450" algn="l"/>
                <a:tab pos="299085" algn="l"/>
              </a:tabLst>
            </a:pPr>
            <a:r>
              <a:rPr lang="en-US" spc="10" dirty="0">
                <a:cs typeface="Calibri"/>
              </a:rPr>
              <a:t>Polar</a:t>
            </a:r>
            <a:r>
              <a:rPr lang="en-US" spc="-15" dirty="0">
                <a:cs typeface="Calibri"/>
              </a:rPr>
              <a:t> </a:t>
            </a:r>
            <a:r>
              <a:rPr lang="en-US" spc="10" dirty="0">
                <a:cs typeface="Calibri"/>
              </a:rPr>
              <a:t>moment</a:t>
            </a:r>
            <a:r>
              <a:rPr lang="en-US" spc="85" dirty="0">
                <a:cs typeface="Calibri"/>
              </a:rPr>
              <a:t> </a:t>
            </a:r>
            <a:r>
              <a:rPr lang="en-US" spc="5" dirty="0">
                <a:cs typeface="Calibri"/>
              </a:rPr>
              <a:t>of</a:t>
            </a:r>
            <a:r>
              <a:rPr lang="en-US" spc="55" dirty="0">
                <a:cs typeface="Calibri"/>
              </a:rPr>
              <a:t> </a:t>
            </a:r>
            <a:r>
              <a:rPr lang="en-US" dirty="0">
                <a:cs typeface="Calibri"/>
              </a:rPr>
              <a:t>inertia</a:t>
            </a:r>
            <a:r>
              <a:rPr lang="en-US" spc="85" dirty="0">
                <a:cs typeface="Calibri"/>
              </a:rPr>
              <a:t> </a:t>
            </a:r>
            <a:r>
              <a:rPr lang="en-US" spc="10" dirty="0">
                <a:cs typeface="Calibri"/>
              </a:rPr>
              <a:t>is</a:t>
            </a:r>
            <a:r>
              <a:rPr lang="en-US" dirty="0">
                <a:cs typeface="Calibri"/>
              </a:rPr>
              <a:t> </a:t>
            </a:r>
            <a:r>
              <a:rPr lang="en-US" spc="5" dirty="0">
                <a:cs typeface="Calibri"/>
              </a:rPr>
              <a:t>maximized</a:t>
            </a:r>
          </a:p>
          <a:p>
            <a:pPr marL="298450" marR="129539" indent="-286385">
              <a:lnSpc>
                <a:spcPct val="101000"/>
              </a:lnSpc>
              <a:spcBef>
                <a:spcPts val="75"/>
              </a:spcBef>
              <a:buFont typeface="Arial MT"/>
              <a:buChar char="•"/>
              <a:tabLst>
                <a:tab pos="298450" algn="l"/>
                <a:tab pos="299085" algn="l"/>
              </a:tabLst>
            </a:pPr>
            <a:r>
              <a:rPr lang="en-US" spc="10" dirty="0">
                <a:cs typeface="Calibri"/>
              </a:rPr>
              <a:t>FBM</a:t>
            </a:r>
            <a:r>
              <a:rPr lang="en-US" spc="15" dirty="0">
                <a:cs typeface="Calibri"/>
              </a:rPr>
              <a:t> </a:t>
            </a:r>
            <a:r>
              <a:rPr lang="en-US" dirty="0">
                <a:cs typeface="Calibri"/>
              </a:rPr>
              <a:t>are</a:t>
            </a:r>
            <a:r>
              <a:rPr lang="en-US" spc="55" dirty="0">
                <a:cs typeface="Calibri"/>
              </a:rPr>
              <a:t> </a:t>
            </a:r>
            <a:r>
              <a:rPr lang="en-US" dirty="0">
                <a:cs typeface="Calibri"/>
              </a:rPr>
              <a:t>adjusted</a:t>
            </a:r>
            <a:r>
              <a:rPr lang="en-US" spc="155" dirty="0">
                <a:cs typeface="Calibri"/>
              </a:rPr>
              <a:t> </a:t>
            </a:r>
            <a:r>
              <a:rPr lang="en-US" dirty="0">
                <a:cs typeface="Calibri"/>
              </a:rPr>
              <a:t>wider</a:t>
            </a:r>
            <a:r>
              <a:rPr lang="en-US" spc="65" dirty="0">
                <a:cs typeface="Calibri"/>
              </a:rPr>
              <a:t> </a:t>
            </a:r>
            <a:r>
              <a:rPr lang="en-US" spc="-5" dirty="0">
                <a:cs typeface="Calibri"/>
              </a:rPr>
              <a:t>for</a:t>
            </a:r>
            <a:r>
              <a:rPr lang="en-US" spc="65" dirty="0">
                <a:cs typeface="Calibri"/>
              </a:rPr>
              <a:t> </a:t>
            </a:r>
            <a:r>
              <a:rPr lang="en-US" dirty="0">
                <a:cs typeface="Calibri"/>
              </a:rPr>
              <a:t>Ensuring</a:t>
            </a:r>
            <a:r>
              <a:rPr lang="en-US" spc="90" dirty="0">
                <a:cs typeface="Calibri"/>
              </a:rPr>
              <a:t> </a:t>
            </a:r>
            <a:r>
              <a:rPr lang="en-US" dirty="0">
                <a:cs typeface="Calibri"/>
              </a:rPr>
              <a:t>Good </a:t>
            </a:r>
            <a:r>
              <a:rPr lang="en-US" spc="-335" dirty="0">
                <a:cs typeface="Calibri"/>
              </a:rPr>
              <a:t> </a:t>
            </a:r>
            <a:r>
              <a:rPr lang="en-US" spc="10" dirty="0">
                <a:cs typeface="Calibri"/>
              </a:rPr>
              <a:t>Visibility</a:t>
            </a:r>
          </a:p>
          <a:p>
            <a:pPr marL="298450" marR="175895" indent="-286385">
              <a:lnSpc>
                <a:spcPct val="100899"/>
              </a:lnSpc>
              <a:spcBef>
                <a:spcPts val="75"/>
              </a:spcBef>
              <a:buFont typeface="Arial MT"/>
              <a:buChar char="•"/>
              <a:tabLst>
                <a:tab pos="298450" algn="l"/>
                <a:tab pos="299085" algn="l"/>
              </a:tabLst>
            </a:pPr>
            <a:r>
              <a:rPr lang="en-US" dirty="0">
                <a:cs typeface="Calibri"/>
              </a:rPr>
              <a:t>Roll</a:t>
            </a:r>
            <a:r>
              <a:rPr lang="en-US" spc="30" dirty="0">
                <a:cs typeface="Calibri"/>
              </a:rPr>
              <a:t> </a:t>
            </a:r>
            <a:r>
              <a:rPr lang="en-US" spc="10" dirty="0">
                <a:cs typeface="Calibri"/>
              </a:rPr>
              <a:t>cage</a:t>
            </a:r>
            <a:r>
              <a:rPr lang="en-US" spc="-20" dirty="0">
                <a:cs typeface="Calibri"/>
              </a:rPr>
              <a:t> </a:t>
            </a:r>
            <a:r>
              <a:rPr lang="en-US" spc="10" dirty="0">
                <a:cs typeface="Calibri"/>
              </a:rPr>
              <a:t>is</a:t>
            </a:r>
            <a:r>
              <a:rPr lang="en-US" spc="5" dirty="0">
                <a:cs typeface="Calibri"/>
              </a:rPr>
              <a:t> </a:t>
            </a:r>
            <a:r>
              <a:rPr lang="en-US" spc="10" dirty="0">
                <a:cs typeface="Calibri"/>
              </a:rPr>
              <a:t>made</a:t>
            </a:r>
            <a:r>
              <a:rPr lang="en-US" spc="50" dirty="0">
                <a:cs typeface="Calibri"/>
              </a:rPr>
              <a:t> </a:t>
            </a:r>
            <a:r>
              <a:rPr lang="en-US" spc="-5" dirty="0">
                <a:cs typeface="Calibri"/>
              </a:rPr>
              <a:t>for</a:t>
            </a:r>
            <a:r>
              <a:rPr lang="en-US" spc="65" dirty="0">
                <a:cs typeface="Calibri"/>
              </a:rPr>
              <a:t> </a:t>
            </a:r>
            <a:r>
              <a:rPr lang="en-US" spc="-5" dirty="0">
                <a:cs typeface="Calibri"/>
              </a:rPr>
              <a:t>better</a:t>
            </a:r>
            <a:r>
              <a:rPr lang="en-US" spc="70" dirty="0">
                <a:cs typeface="Calibri"/>
              </a:rPr>
              <a:t> </a:t>
            </a:r>
            <a:r>
              <a:rPr lang="en-US" spc="5" dirty="0">
                <a:cs typeface="Calibri"/>
              </a:rPr>
              <a:t>turning</a:t>
            </a:r>
            <a:r>
              <a:rPr lang="en-US" spc="95" dirty="0">
                <a:cs typeface="Calibri"/>
              </a:rPr>
              <a:t> </a:t>
            </a:r>
            <a:r>
              <a:rPr lang="en-US" dirty="0">
                <a:cs typeface="Calibri"/>
              </a:rPr>
              <a:t>radius </a:t>
            </a:r>
            <a:r>
              <a:rPr lang="en-US" spc="-335" dirty="0">
                <a:cs typeface="Calibri"/>
              </a:rPr>
              <a:t> </a:t>
            </a:r>
            <a:r>
              <a:rPr lang="en-US" spc="5" dirty="0">
                <a:cs typeface="Calibri"/>
              </a:rPr>
              <a:t>and</a:t>
            </a:r>
            <a:r>
              <a:rPr lang="en-US" spc="10" dirty="0">
                <a:cs typeface="Calibri"/>
              </a:rPr>
              <a:t> </a:t>
            </a:r>
            <a:r>
              <a:rPr lang="en-US" dirty="0">
                <a:cs typeface="Calibri"/>
              </a:rPr>
              <a:t>vehicle</a:t>
            </a:r>
            <a:r>
              <a:rPr lang="en-US" spc="135" dirty="0">
                <a:cs typeface="Calibri"/>
              </a:rPr>
              <a:t> </a:t>
            </a:r>
            <a:r>
              <a:rPr lang="en-US" dirty="0">
                <a:cs typeface="Calibri"/>
              </a:rPr>
              <a:t>aesthetics</a:t>
            </a:r>
          </a:p>
          <a:p>
            <a:pPr marL="298450" marR="211454" indent="-286385">
              <a:lnSpc>
                <a:spcPct val="105000"/>
              </a:lnSpc>
              <a:buFont typeface="Arial MT"/>
              <a:buChar char="•"/>
              <a:tabLst>
                <a:tab pos="298450" algn="l"/>
                <a:tab pos="299085" algn="l"/>
              </a:tabLst>
            </a:pPr>
            <a:r>
              <a:rPr lang="en-US" spc="-5" dirty="0">
                <a:cs typeface="Calibri"/>
              </a:rPr>
              <a:t>Easy</a:t>
            </a:r>
            <a:r>
              <a:rPr lang="en-US" spc="50" dirty="0">
                <a:cs typeface="Calibri"/>
              </a:rPr>
              <a:t> </a:t>
            </a:r>
            <a:r>
              <a:rPr lang="en-US" spc="-5" dirty="0">
                <a:cs typeface="Calibri"/>
              </a:rPr>
              <a:t>for</a:t>
            </a:r>
            <a:r>
              <a:rPr lang="en-US" spc="-10" dirty="0">
                <a:cs typeface="Calibri"/>
              </a:rPr>
              <a:t> egress</a:t>
            </a:r>
            <a:r>
              <a:rPr lang="en-US" spc="220" dirty="0">
                <a:cs typeface="Calibri"/>
              </a:rPr>
              <a:t> </a:t>
            </a:r>
            <a:r>
              <a:rPr lang="en-US" spc="-5" dirty="0">
                <a:cs typeface="Calibri"/>
              </a:rPr>
              <a:t>test</a:t>
            </a:r>
            <a:r>
              <a:rPr lang="en-US" spc="15" dirty="0">
                <a:cs typeface="Calibri"/>
              </a:rPr>
              <a:t> </a:t>
            </a:r>
            <a:r>
              <a:rPr lang="en-US" spc="5" dirty="0">
                <a:cs typeface="Calibri"/>
              </a:rPr>
              <a:t>and</a:t>
            </a:r>
            <a:r>
              <a:rPr lang="en-US" spc="90" dirty="0">
                <a:cs typeface="Calibri"/>
              </a:rPr>
              <a:t> </a:t>
            </a:r>
            <a:r>
              <a:rPr lang="en-US" spc="-10" dirty="0">
                <a:cs typeface="Calibri"/>
              </a:rPr>
              <a:t>driver</a:t>
            </a:r>
            <a:r>
              <a:rPr lang="en-US" spc="140" dirty="0">
                <a:cs typeface="Calibri"/>
              </a:rPr>
              <a:t> </a:t>
            </a:r>
            <a:r>
              <a:rPr lang="en-US" spc="10" dirty="0">
                <a:cs typeface="Calibri"/>
              </a:rPr>
              <a:t>can </a:t>
            </a:r>
            <a:r>
              <a:rPr lang="en-US" dirty="0">
                <a:cs typeface="Calibri"/>
              </a:rPr>
              <a:t>escape </a:t>
            </a:r>
            <a:r>
              <a:rPr lang="en-US" spc="-335" dirty="0">
                <a:cs typeface="Calibri"/>
              </a:rPr>
              <a:t> </a:t>
            </a:r>
            <a:r>
              <a:rPr lang="en-US" dirty="0">
                <a:cs typeface="Calibri"/>
              </a:rPr>
              <a:t>easily</a:t>
            </a:r>
            <a:r>
              <a:rPr lang="en-US" spc="50" dirty="0">
                <a:cs typeface="Calibri"/>
              </a:rPr>
              <a:t> </a:t>
            </a:r>
            <a:r>
              <a:rPr lang="en-US" spc="15" dirty="0">
                <a:cs typeface="Calibri"/>
              </a:rPr>
              <a:t>in </a:t>
            </a:r>
            <a:r>
              <a:rPr lang="en-US" spc="5" dirty="0">
                <a:cs typeface="Calibri"/>
              </a:rPr>
              <a:t>case</a:t>
            </a:r>
            <a:r>
              <a:rPr lang="en-US" spc="60" dirty="0">
                <a:cs typeface="Calibri"/>
              </a:rPr>
              <a:t> </a:t>
            </a:r>
            <a:r>
              <a:rPr lang="en-US" spc="5" dirty="0">
                <a:cs typeface="Calibri"/>
              </a:rPr>
              <a:t>of</a:t>
            </a:r>
            <a:r>
              <a:rPr lang="en-US" spc="60" dirty="0">
                <a:cs typeface="Calibri"/>
              </a:rPr>
              <a:t> </a:t>
            </a:r>
            <a:r>
              <a:rPr lang="en-US" spc="5" dirty="0">
                <a:cs typeface="Calibri"/>
              </a:rPr>
              <a:t>any</a:t>
            </a:r>
            <a:r>
              <a:rPr lang="en-US" spc="-25" dirty="0">
                <a:cs typeface="Calibri"/>
              </a:rPr>
              <a:t> </a:t>
            </a:r>
            <a:r>
              <a:rPr lang="en-US" spc="-5" dirty="0">
                <a:cs typeface="Calibri"/>
              </a:rPr>
              <a:t>dangers</a:t>
            </a:r>
          </a:p>
          <a:p>
            <a:pPr marL="298450" indent="-286385">
              <a:spcBef>
                <a:spcPts val="20"/>
              </a:spcBef>
              <a:buFont typeface="Arial MT"/>
              <a:buChar char="•"/>
              <a:tabLst>
                <a:tab pos="298450" algn="l"/>
                <a:tab pos="299085" algn="l"/>
              </a:tabLst>
            </a:pPr>
            <a:r>
              <a:rPr lang="en-US" spc="5" dirty="0">
                <a:cs typeface="Calibri"/>
              </a:rPr>
              <a:t>All</a:t>
            </a:r>
            <a:r>
              <a:rPr lang="en-US" spc="30" dirty="0">
                <a:cs typeface="Calibri"/>
              </a:rPr>
              <a:t> </a:t>
            </a:r>
            <a:r>
              <a:rPr lang="en-US" spc="5" dirty="0">
                <a:cs typeface="Calibri"/>
              </a:rPr>
              <a:t>controls</a:t>
            </a:r>
            <a:r>
              <a:rPr lang="en-US" spc="75" dirty="0">
                <a:cs typeface="Calibri"/>
              </a:rPr>
              <a:t> </a:t>
            </a:r>
            <a:r>
              <a:rPr lang="en-US" dirty="0">
                <a:cs typeface="Calibri"/>
              </a:rPr>
              <a:t>are</a:t>
            </a:r>
            <a:r>
              <a:rPr lang="en-US" spc="-15" dirty="0">
                <a:cs typeface="Calibri"/>
              </a:rPr>
              <a:t> </a:t>
            </a:r>
            <a:r>
              <a:rPr lang="en-US" spc="10" dirty="0">
                <a:cs typeface="Calibri"/>
              </a:rPr>
              <a:t>within</a:t>
            </a:r>
            <a:r>
              <a:rPr lang="en-US" spc="85" dirty="0">
                <a:cs typeface="Calibri"/>
              </a:rPr>
              <a:t> </a:t>
            </a:r>
            <a:r>
              <a:rPr lang="en-US" spc="5" dirty="0">
                <a:cs typeface="Calibri"/>
              </a:rPr>
              <a:t>the</a:t>
            </a:r>
            <a:r>
              <a:rPr lang="en-US" spc="60" dirty="0">
                <a:cs typeface="Calibri"/>
              </a:rPr>
              <a:t> </a:t>
            </a:r>
            <a:r>
              <a:rPr lang="en-US" spc="-5" dirty="0">
                <a:cs typeface="Calibri"/>
              </a:rPr>
              <a:t>reach</a:t>
            </a:r>
            <a:r>
              <a:rPr lang="en-US" spc="85" dirty="0">
                <a:cs typeface="Calibri"/>
              </a:rPr>
              <a:t> </a:t>
            </a:r>
            <a:r>
              <a:rPr lang="en-US" spc="5" dirty="0">
                <a:cs typeface="Calibri"/>
              </a:rPr>
              <a:t>of</a:t>
            </a:r>
            <a:r>
              <a:rPr lang="en-US" spc="-10" dirty="0">
                <a:cs typeface="Calibri"/>
              </a:rPr>
              <a:t> </a:t>
            </a:r>
            <a:r>
              <a:rPr lang="en-US" spc="5" dirty="0">
                <a:cs typeface="Calibri"/>
              </a:rPr>
              <a:t>the</a:t>
            </a:r>
          </a:p>
          <a:p>
            <a:pPr marL="298450">
              <a:lnSpc>
                <a:spcPct val="100000"/>
              </a:lnSpc>
              <a:spcBef>
                <a:spcPts val="95"/>
              </a:spcBef>
            </a:pPr>
            <a:r>
              <a:rPr lang="en-US" spc="-10" dirty="0">
                <a:cs typeface="Calibri"/>
              </a:rPr>
              <a:t>driver</a:t>
            </a:r>
            <a:r>
              <a:rPr lang="en-US" spc="130" dirty="0">
                <a:cs typeface="Calibri"/>
              </a:rPr>
              <a:t> </a:t>
            </a:r>
            <a:r>
              <a:rPr lang="en-US" dirty="0">
                <a:cs typeface="Calibri"/>
              </a:rPr>
              <a:t>comfortably</a:t>
            </a:r>
          </a:p>
          <a:p>
            <a:pPr marL="298450" indent="-286385">
              <a:spcBef>
                <a:spcPts val="15"/>
              </a:spcBef>
              <a:buFont typeface="Arial MT"/>
              <a:buChar char="•"/>
              <a:tabLst>
                <a:tab pos="298450" algn="l"/>
                <a:tab pos="299085" algn="l"/>
              </a:tabLst>
            </a:pPr>
            <a:r>
              <a:rPr lang="en-US" dirty="0">
                <a:cs typeface="Calibri"/>
              </a:rPr>
              <a:t>Providing</a:t>
            </a:r>
            <a:r>
              <a:rPr lang="en-US" spc="100" dirty="0">
                <a:cs typeface="Calibri"/>
              </a:rPr>
              <a:t> </a:t>
            </a:r>
            <a:r>
              <a:rPr lang="en-US" spc="-5" dirty="0">
                <a:cs typeface="Calibri"/>
              </a:rPr>
              <a:t>Necessary</a:t>
            </a:r>
            <a:r>
              <a:rPr lang="en-US" spc="215" dirty="0">
                <a:cs typeface="Calibri"/>
              </a:rPr>
              <a:t> </a:t>
            </a:r>
            <a:r>
              <a:rPr lang="en-US" spc="-5" dirty="0">
                <a:cs typeface="Calibri"/>
              </a:rPr>
              <a:t>Reinforcements</a:t>
            </a:r>
          </a:p>
          <a:p>
            <a:pPr marL="298450" marR="235585" indent="-286385">
              <a:lnSpc>
                <a:spcPts val="1950"/>
              </a:lnSpc>
              <a:spcBef>
                <a:spcPts val="85"/>
              </a:spcBef>
              <a:buFont typeface="Arial MT"/>
              <a:buChar char="•"/>
              <a:tabLst>
                <a:tab pos="298450" algn="l"/>
                <a:tab pos="299085" algn="l"/>
              </a:tabLst>
            </a:pPr>
            <a:r>
              <a:rPr lang="en-US" spc="-10" dirty="0">
                <a:cs typeface="Calibri"/>
              </a:rPr>
              <a:t>After </a:t>
            </a:r>
            <a:r>
              <a:rPr lang="en-US" spc="-35" dirty="0">
                <a:cs typeface="Calibri"/>
              </a:rPr>
              <a:t>safety,</a:t>
            </a:r>
            <a:r>
              <a:rPr lang="en-US" spc="-30" dirty="0">
                <a:cs typeface="Calibri"/>
              </a:rPr>
              <a:t> </a:t>
            </a:r>
            <a:r>
              <a:rPr lang="en-US" spc="5" dirty="0">
                <a:cs typeface="Calibri"/>
              </a:rPr>
              <a:t>weight </a:t>
            </a:r>
            <a:r>
              <a:rPr lang="en-US" spc="10" dirty="0">
                <a:cs typeface="Calibri"/>
              </a:rPr>
              <a:t>is </a:t>
            </a:r>
            <a:r>
              <a:rPr lang="en-US" spc="-10" dirty="0">
                <a:cs typeface="Calibri"/>
              </a:rPr>
              <a:t>decreased</a:t>
            </a:r>
            <a:r>
              <a:rPr lang="en-US" spc="-5" dirty="0">
                <a:cs typeface="Calibri"/>
              </a:rPr>
              <a:t> </a:t>
            </a:r>
            <a:r>
              <a:rPr lang="en-US" spc="10" dirty="0">
                <a:cs typeface="Calibri"/>
              </a:rPr>
              <a:t>by </a:t>
            </a:r>
            <a:r>
              <a:rPr lang="en-US" spc="5" dirty="0">
                <a:cs typeface="Calibri"/>
              </a:rPr>
              <a:t>using </a:t>
            </a:r>
            <a:r>
              <a:rPr lang="en-US" spc="-340" dirty="0">
                <a:cs typeface="Calibri"/>
              </a:rPr>
              <a:t> </a:t>
            </a:r>
            <a:r>
              <a:rPr lang="en-US" spc="5" dirty="0">
                <a:cs typeface="Calibri"/>
              </a:rPr>
              <a:t>primary</a:t>
            </a:r>
            <a:r>
              <a:rPr lang="en-US" spc="125" dirty="0">
                <a:cs typeface="Calibri"/>
              </a:rPr>
              <a:t> </a:t>
            </a:r>
            <a:r>
              <a:rPr lang="en-US" spc="15" dirty="0">
                <a:cs typeface="Calibri"/>
              </a:rPr>
              <a:t>&amp;</a:t>
            </a:r>
            <a:r>
              <a:rPr lang="en-US" spc="-10" dirty="0">
                <a:cs typeface="Calibri"/>
              </a:rPr>
              <a:t> </a:t>
            </a:r>
            <a:r>
              <a:rPr lang="en-US" dirty="0">
                <a:cs typeface="Calibri"/>
              </a:rPr>
              <a:t>secondary</a:t>
            </a:r>
            <a:r>
              <a:rPr lang="en-US" spc="200" dirty="0">
                <a:cs typeface="Calibri"/>
              </a:rPr>
              <a:t> </a:t>
            </a:r>
            <a:r>
              <a:rPr lang="en-US" dirty="0">
                <a:cs typeface="Calibri"/>
              </a:rPr>
              <a:t>members</a:t>
            </a:r>
          </a:p>
          <a:p>
            <a:pPr marL="298450" indent="-286385">
              <a:lnSpc>
                <a:spcPts val="1800"/>
              </a:lnSpc>
              <a:buFont typeface="Arial MT"/>
              <a:buChar char="•"/>
              <a:tabLst>
                <a:tab pos="298450" algn="l"/>
                <a:tab pos="299085" algn="l"/>
              </a:tabLst>
            </a:pPr>
            <a:r>
              <a:rPr lang="en-US" dirty="0">
                <a:cs typeface="Calibri"/>
              </a:rPr>
              <a:t>Material</a:t>
            </a:r>
            <a:r>
              <a:rPr lang="en-US" spc="100" dirty="0">
                <a:cs typeface="Calibri"/>
              </a:rPr>
              <a:t> </a:t>
            </a:r>
            <a:r>
              <a:rPr lang="en-US" spc="10" dirty="0">
                <a:cs typeface="Calibri"/>
              </a:rPr>
              <a:t>is</a:t>
            </a:r>
            <a:r>
              <a:rPr lang="en-US" dirty="0">
                <a:cs typeface="Calibri"/>
              </a:rPr>
              <a:t> </a:t>
            </a:r>
            <a:r>
              <a:rPr lang="en-US" spc="-10" dirty="0">
                <a:cs typeface="Calibri"/>
              </a:rPr>
              <a:t>kept</a:t>
            </a:r>
            <a:r>
              <a:rPr lang="en-US" spc="90" dirty="0">
                <a:cs typeface="Calibri"/>
              </a:rPr>
              <a:t> </a:t>
            </a:r>
            <a:r>
              <a:rPr lang="en-US" spc="-10" dirty="0">
                <a:cs typeface="Calibri"/>
              </a:rPr>
              <a:t>farther</a:t>
            </a:r>
            <a:r>
              <a:rPr lang="en-US" spc="140" dirty="0">
                <a:cs typeface="Calibri"/>
              </a:rPr>
              <a:t> </a:t>
            </a:r>
            <a:r>
              <a:rPr lang="en-US" spc="-5" dirty="0">
                <a:cs typeface="Calibri"/>
              </a:rPr>
              <a:t>from</a:t>
            </a:r>
            <a:r>
              <a:rPr lang="en-US" spc="110" dirty="0">
                <a:cs typeface="Calibri"/>
              </a:rPr>
              <a:t> </a:t>
            </a:r>
            <a:r>
              <a:rPr lang="en-US" spc="5" dirty="0">
                <a:cs typeface="Calibri"/>
              </a:rPr>
              <a:t>rotating</a:t>
            </a:r>
            <a:r>
              <a:rPr lang="en-US" spc="20" dirty="0">
                <a:cs typeface="Calibri"/>
              </a:rPr>
              <a:t> </a:t>
            </a:r>
            <a:r>
              <a:rPr lang="en-US" spc="5" dirty="0">
                <a:cs typeface="Calibri"/>
              </a:rPr>
              <a:t>axis </a:t>
            </a:r>
            <a:r>
              <a:rPr lang="en-US" spc="10" dirty="0">
                <a:cs typeface="Calibri"/>
              </a:rPr>
              <a:t>to</a:t>
            </a:r>
          </a:p>
          <a:p>
            <a:pPr marL="298450">
              <a:lnSpc>
                <a:spcPct val="100000"/>
              </a:lnSpc>
              <a:spcBef>
                <a:spcPts val="90"/>
              </a:spcBef>
            </a:pPr>
            <a:r>
              <a:rPr lang="en-US" spc="-5" dirty="0">
                <a:cs typeface="Calibri"/>
              </a:rPr>
              <a:t>increase</a:t>
            </a:r>
            <a:r>
              <a:rPr lang="en-US" spc="135" dirty="0">
                <a:cs typeface="Calibri"/>
              </a:rPr>
              <a:t> </a:t>
            </a:r>
            <a:r>
              <a:rPr lang="en-US" spc="-20" dirty="0">
                <a:cs typeface="Calibri"/>
              </a:rPr>
              <a:t>Torsional</a:t>
            </a:r>
            <a:r>
              <a:rPr lang="en-US" spc="110" dirty="0">
                <a:cs typeface="Calibri"/>
              </a:rPr>
              <a:t> </a:t>
            </a:r>
            <a:r>
              <a:rPr lang="en-US" spc="5" dirty="0">
                <a:cs typeface="Calibri"/>
              </a:rPr>
              <a:t>rigidity</a:t>
            </a:r>
          </a:p>
          <a:p>
            <a:pPr marL="298450" indent="-286385">
              <a:spcBef>
                <a:spcPts val="20"/>
              </a:spcBef>
              <a:buFont typeface="Arial MT"/>
              <a:buChar char="•"/>
              <a:tabLst>
                <a:tab pos="298450" algn="l"/>
                <a:tab pos="299085" algn="l"/>
              </a:tabLst>
            </a:pPr>
            <a:r>
              <a:rPr lang="en-US" dirty="0">
                <a:cs typeface="Calibri"/>
              </a:rPr>
              <a:t>Strength</a:t>
            </a:r>
            <a:r>
              <a:rPr lang="en-US" spc="85" dirty="0">
                <a:cs typeface="Calibri"/>
              </a:rPr>
              <a:t> </a:t>
            </a:r>
            <a:r>
              <a:rPr lang="en-US" spc="10" dirty="0">
                <a:cs typeface="Calibri"/>
              </a:rPr>
              <a:t>to </a:t>
            </a:r>
            <a:r>
              <a:rPr lang="en-US" spc="5" dirty="0">
                <a:cs typeface="Calibri"/>
              </a:rPr>
              <a:t>weight</a:t>
            </a:r>
            <a:r>
              <a:rPr lang="en-US" spc="90" dirty="0">
                <a:cs typeface="Calibri"/>
              </a:rPr>
              <a:t> </a:t>
            </a:r>
            <a:r>
              <a:rPr lang="en-US" dirty="0">
                <a:cs typeface="Calibri"/>
              </a:rPr>
              <a:t>ratio</a:t>
            </a:r>
            <a:r>
              <a:rPr lang="en-US" spc="15" dirty="0">
                <a:cs typeface="Calibri"/>
              </a:rPr>
              <a:t> </a:t>
            </a:r>
            <a:r>
              <a:rPr lang="en-US" spc="10" dirty="0">
                <a:cs typeface="Calibri"/>
              </a:rPr>
              <a:t>is</a:t>
            </a:r>
            <a:r>
              <a:rPr lang="en-US" dirty="0">
                <a:cs typeface="Calibri"/>
              </a:rPr>
              <a:t> </a:t>
            </a:r>
            <a:r>
              <a:rPr lang="en-US" spc="10" dirty="0">
                <a:cs typeface="Calibri"/>
              </a:rPr>
              <a:t>to be</a:t>
            </a:r>
            <a:r>
              <a:rPr lang="en-US" spc="55" dirty="0">
                <a:cs typeface="Calibri"/>
              </a:rPr>
              <a:t> </a:t>
            </a:r>
            <a:r>
              <a:rPr lang="en-US" dirty="0">
                <a:cs typeface="Calibri"/>
              </a:rPr>
              <a:t>improved</a:t>
            </a:r>
          </a:p>
          <a:p>
            <a:endParaRPr lang="en-IN" dirty="0"/>
          </a:p>
        </p:txBody>
      </p:sp>
    </p:spTree>
    <p:extLst>
      <p:ext uri="{BB962C8B-B14F-4D97-AF65-F5344CB8AC3E}">
        <p14:creationId xmlns:p14="http://schemas.microsoft.com/office/powerpoint/2010/main" val="1975398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of Roll cage</a:t>
            </a:r>
            <a:endParaRPr lang="en-IN" b="1" dirty="0"/>
          </a:p>
        </p:txBody>
      </p:sp>
      <p:pic>
        <p:nvPicPr>
          <p:cNvPr id="33" name="Content Placeholder 3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24" y="1628800"/>
            <a:ext cx="6715125" cy="4305300"/>
          </a:xfrm>
        </p:spPr>
      </p:pic>
      <p:sp>
        <p:nvSpPr>
          <p:cNvPr id="34" name="TextBox 33"/>
          <p:cNvSpPr txBox="1"/>
          <p:nvPr/>
        </p:nvSpPr>
        <p:spPr>
          <a:xfrm>
            <a:off x="3779912" y="6144671"/>
            <a:ext cx="1436740" cy="461665"/>
          </a:xfrm>
          <a:prstGeom prst="rect">
            <a:avLst/>
          </a:prstGeom>
          <a:noFill/>
        </p:spPr>
        <p:txBody>
          <a:bodyPr wrap="none" rtlCol="0">
            <a:spAutoFit/>
          </a:bodyPr>
          <a:lstStyle/>
          <a:p>
            <a:r>
              <a:rPr lang="en-US" sz="2400" b="1" dirty="0" smtClean="0"/>
              <a:t>Side View</a:t>
            </a:r>
            <a:endParaRPr lang="en-IN" sz="2400" b="1" dirty="0"/>
          </a:p>
        </p:txBody>
      </p:sp>
    </p:spTree>
    <p:extLst>
      <p:ext uri="{BB962C8B-B14F-4D97-AF65-F5344CB8AC3E}">
        <p14:creationId xmlns:p14="http://schemas.microsoft.com/office/powerpoint/2010/main" val="395274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of Roll cage</a:t>
            </a:r>
            <a:endParaRPr lang="en-IN" b="1" dirty="0"/>
          </a:p>
        </p:txBody>
      </p:sp>
      <p:sp>
        <p:nvSpPr>
          <p:cNvPr id="34" name="TextBox 33"/>
          <p:cNvSpPr txBox="1"/>
          <p:nvPr/>
        </p:nvSpPr>
        <p:spPr>
          <a:xfrm>
            <a:off x="3779912" y="6144670"/>
            <a:ext cx="2082237" cy="461665"/>
          </a:xfrm>
          <a:prstGeom prst="rect">
            <a:avLst/>
          </a:prstGeom>
          <a:noFill/>
        </p:spPr>
        <p:txBody>
          <a:bodyPr wrap="none" rtlCol="0">
            <a:spAutoFit/>
          </a:bodyPr>
          <a:lstStyle/>
          <a:p>
            <a:r>
              <a:rPr lang="en-US" sz="2400" b="1" dirty="0"/>
              <a:t>I</a:t>
            </a:r>
            <a:r>
              <a:rPr lang="en-US" sz="2400" b="1" dirty="0" smtClean="0"/>
              <a:t>sometric View</a:t>
            </a:r>
            <a:endParaRPr lang="en-IN" sz="24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9122" y="1600200"/>
            <a:ext cx="6845755" cy="4525963"/>
          </a:xfrm>
        </p:spPr>
      </p:pic>
    </p:spTree>
    <p:extLst>
      <p:ext uri="{BB962C8B-B14F-4D97-AF65-F5344CB8AC3E}">
        <p14:creationId xmlns:p14="http://schemas.microsoft.com/office/powerpoint/2010/main" val="1077139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of Roll cage</a:t>
            </a:r>
            <a:endParaRPr lang="en-IN" b="1" dirty="0"/>
          </a:p>
        </p:txBody>
      </p:sp>
      <p:sp>
        <p:nvSpPr>
          <p:cNvPr id="34" name="TextBox 33"/>
          <p:cNvSpPr txBox="1"/>
          <p:nvPr/>
        </p:nvSpPr>
        <p:spPr>
          <a:xfrm>
            <a:off x="3779912" y="6144670"/>
            <a:ext cx="1575944" cy="461665"/>
          </a:xfrm>
          <a:prstGeom prst="rect">
            <a:avLst/>
          </a:prstGeom>
          <a:noFill/>
        </p:spPr>
        <p:txBody>
          <a:bodyPr wrap="none" rtlCol="0">
            <a:spAutoFit/>
          </a:bodyPr>
          <a:lstStyle/>
          <a:p>
            <a:r>
              <a:rPr lang="en-US" sz="2400" b="1" dirty="0" smtClean="0"/>
              <a:t>Front View</a:t>
            </a:r>
            <a:endParaRPr lang="en-IN" sz="24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6050" y="1729581"/>
            <a:ext cx="3771900" cy="4267200"/>
          </a:xfrm>
        </p:spPr>
      </p:pic>
    </p:spTree>
    <p:extLst>
      <p:ext uri="{BB962C8B-B14F-4D97-AF65-F5344CB8AC3E}">
        <p14:creationId xmlns:p14="http://schemas.microsoft.com/office/powerpoint/2010/main" val="183761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of Roll cage</a:t>
            </a:r>
            <a:endParaRPr lang="en-IN" b="1" dirty="0"/>
          </a:p>
        </p:txBody>
      </p:sp>
      <p:sp>
        <p:nvSpPr>
          <p:cNvPr id="34" name="TextBox 33"/>
          <p:cNvSpPr txBox="1"/>
          <p:nvPr/>
        </p:nvSpPr>
        <p:spPr>
          <a:xfrm>
            <a:off x="3779912" y="6144670"/>
            <a:ext cx="1350819" cy="461665"/>
          </a:xfrm>
          <a:prstGeom prst="rect">
            <a:avLst/>
          </a:prstGeom>
          <a:noFill/>
        </p:spPr>
        <p:txBody>
          <a:bodyPr wrap="none" rtlCol="0">
            <a:spAutoFit/>
          </a:bodyPr>
          <a:lstStyle/>
          <a:p>
            <a:r>
              <a:rPr lang="en-US" sz="2400" b="1" dirty="0" smtClean="0"/>
              <a:t>Top View</a:t>
            </a:r>
            <a:endParaRPr lang="en-IN" sz="24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9450" y="1643856"/>
            <a:ext cx="2705100" cy="4438650"/>
          </a:xfrm>
        </p:spPr>
      </p:pic>
    </p:spTree>
    <p:extLst>
      <p:ext uri="{BB962C8B-B14F-4D97-AF65-F5344CB8AC3E}">
        <p14:creationId xmlns:p14="http://schemas.microsoft.com/office/powerpoint/2010/main" val="3873081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CAE Analysis of Roll cage</a:t>
            </a:r>
            <a:endParaRPr lang="en-IN" b="1" dirty="0"/>
          </a:p>
        </p:txBody>
      </p:sp>
      <p:sp>
        <p:nvSpPr>
          <p:cNvPr id="3" name="Content Placeholder 2"/>
          <p:cNvSpPr>
            <a:spLocks noGrp="1"/>
          </p:cNvSpPr>
          <p:nvPr>
            <p:ph idx="1"/>
          </p:nvPr>
        </p:nvSpPr>
        <p:spPr/>
        <p:txBody>
          <a:bodyPr/>
          <a:lstStyle/>
          <a:p>
            <a:endParaRPr lang="en-IN" dirty="0"/>
          </a:p>
        </p:txBody>
      </p:sp>
      <p:graphicFrame>
        <p:nvGraphicFramePr>
          <p:cNvPr id="26" name="object 8"/>
          <p:cNvGraphicFramePr>
            <a:graphicFrameLocks noGrp="1"/>
          </p:cNvGraphicFramePr>
          <p:nvPr>
            <p:extLst>
              <p:ext uri="{D42A27DB-BD31-4B8C-83A1-F6EECF244321}">
                <p14:modId xmlns:p14="http://schemas.microsoft.com/office/powerpoint/2010/main" val="1349013452"/>
              </p:ext>
            </p:extLst>
          </p:nvPr>
        </p:nvGraphicFramePr>
        <p:xfrm>
          <a:off x="5292080" y="4157154"/>
          <a:ext cx="2787820" cy="2085155"/>
        </p:xfrm>
        <a:graphic>
          <a:graphicData uri="http://schemas.openxmlformats.org/drawingml/2006/table">
            <a:tbl>
              <a:tblPr firstRow="1" bandRow="1">
                <a:tableStyleId>{2D5ABB26-0587-4C30-8999-92F81FD0307C}</a:tableStyleId>
              </a:tblPr>
              <a:tblGrid>
                <a:gridCol w="1402535">
                  <a:extLst>
                    <a:ext uri="{9D8B030D-6E8A-4147-A177-3AD203B41FA5}">
                      <a16:colId xmlns:a16="http://schemas.microsoft.com/office/drawing/2014/main" xmlns="" val="20000"/>
                    </a:ext>
                  </a:extLst>
                </a:gridCol>
                <a:gridCol w="1385285">
                  <a:extLst>
                    <a:ext uri="{9D8B030D-6E8A-4147-A177-3AD203B41FA5}">
                      <a16:colId xmlns:a16="http://schemas.microsoft.com/office/drawing/2014/main" xmlns="" val="20001"/>
                    </a:ext>
                  </a:extLst>
                </a:gridCol>
              </a:tblGrid>
              <a:tr h="417031">
                <a:tc>
                  <a:txBody>
                    <a:bodyPr/>
                    <a:lstStyle/>
                    <a:p>
                      <a:pPr marL="93980">
                        <a:lnSpc>
                          <a:spcPct val="100000"/>
                        </a:lnSpc>
                        <a:spcBef>
                          <a:spcPts val="254"/>
                        </a:spcBef>
                      </a:pPr>
                      <a:r>
                        <a:rPr sz="1400" spc="15" dirty="0">
                          <a:latin typeface="Calibri"/>
                          <a:cs typeface="Calibri"/>
                        </a:rPr>
                        <a:t>Force</a:t>
                      </a:r>
                      <a:endParaRPr sz="1400" dirty="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4615">
                        <a:lnSpc>
                          <a:spcPct val="100000"/>
                        </a:lnSpc>
                        <a:spcBef>
                          <a:spcPts val="254"/>
                        </a:spcBef>
                      </a:pPr>
                      <a:r>
                        <a:rPr sz="1400" spc="25" dirty="0">
                          <a:latin typeface="Calibri"/>
                          <a:cs typeface="Calibri"/>
                        </a:rPr>
                        <a:t>3G</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417031">
                <a:tc>
                  <a:txBody>
                    <a:bodyPr/>
                    <a:lstStyle/>
                    <a:p>
                      <a:pPr marL="93980">
                        <a:lnSpc>
                          <a:spcPct val="100000"/>
                        </a:lnSpc>
                        <a:spcBef>
                          <a:spcPts val="260"/>
                        </a:spcBef>
                      </a:pPr>
                      <a:r>
                        <a:rPr sz="1400" spc="10" dirty="0">
                          <a:latin typeface="Calibri"/>
                          <a:cs typeface="Calibri"/>
                        </a:rPr>
                        <a:t>Stress</a:t>
                      </a:r>
                      <a:endParaRPr sz="1400">
                        <a:latin typeface="Calibri"/>
                        <a:cs typeface="Calibri"/>
                      </a:endParaRPr>
                    </a:p>
                  </a:txBody>
                  <a:tcPr marL="0" marR="0" marT="3302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60"/>
                        </a:spcBef>
                      </a:pPr>
                      <a:r>
                        <a:rPr sz="1400" spc="25" dirty="0">
                          <a:latin typeface="Calibri"/>
                          <a:cs typeface="Calibri"/>
                        </a:rPr>
                        <a:t>328.57Mpa</a:t>
                      </a:r>
                      <a:endParaRPr sz="1400">
                        <a:latin typeface="Calibri"/>
                        <a:cs typeface="Calibri"/>
                      </a:endParaRPr>
                    </a:p>
                  </a:txBody>
                  <a:tcPr marL="0" marR="0" marT="3302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17031">
                <a:tc>
                  <a:txBody>
                    <a:bodyPr/>
                    <a:lstStyle/>
                    <a:p>
                      <a:pPr marL="93980">
                        <a:lnSpc>
                          <a:spcPct val="100000"/>
                        </a:lnSpc>
                        <a:spcBef>
                          <a:spcPts val="265"/>
                        </a:spcBef>
                      </a:pPr>
                      <a:r>
                        <a:rPr sz="1400" dirty="0">
                          <a:latin typeface="Calibri"/>
                          <a:cs typeface="Calibri"/>
                        </a:rPr>
                        <a:t>Deformation</a:t>
                      </a:r>
                      <a:endParaRPr sz="140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65"/>
                        </a:spcBef>
                      </a:pPr>
                      <a:r>
                        <a:rPr sz="1400" spc="25" dirty="0">
                          <a:latin typeface="Calibri"/>
                          <a:cs typeface="Calibri"/>
                        </a:rPr>
                        <a:t>10.355mm</a:t>
                      </a:r>
                      <a:endParaRPr sz="140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17031">
                <a:tc>
                  <a:txBody>
                    <a:bodyPr/>
                    <a:lstStyle/>
                    <a:p>
                      <a:pPr marL="93980">
                        <a:lnSpc>
                          <a:spcPct val="100000"/>
                        </a:lnSpc>
                        <a:spcBef>
                          <a:spcPts val="265"/>
                        </a:spcBef>
                      </a:pPr>
                      <a:r>
                        <a:rPr sz="1400" spc="85" dirty="0">
                          <a:latin typeface="Calibri"/>
                          <a:cs typeface="Calibri"/>
                        </a:rPr>
                        <a:t>I</a:t>
                      </a:r>
                      <a:r>
                        <a:rPr sz="1400" spc="-20"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30"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65"/>
                        </a:spcBef>
                      </a:pPr>
                      <a:r>
                        <a:rPr sz="1400" spc="20" dirty="0">
                          <a:latin typeface="Calibri"/>
                          <a:cs typeface="Calibri"/>
                        </a:rPr>
                        <a:t>0.3sec</a:t>
                      </a:r>
                      <a:endParaRPr sz="1400" dirty="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417031">
                <a:tc>
                  <a:txBody>
                    <a:bodyPr/>
                    <a:lstStyle/>
                    <a:p>
                      <a:pPr marL="93980">
                        <a:lnSpc>
                          <a:spcPct val="100000"/>
                        </a:lnSpc>
                        <a:spcBef>
                          <a:spcPts val="270"/>
                        </a:spcBef>
                      </a:pPr>
                      <a:r>
                        <a:rPr sz="1400" spc="-10" dirty="0">
                          <a:latin typeface="Calibri"/>
                          <a:cs typeface="Calibri"/>
                        </a:rPr>
                        <a:t>F.O.S</a:t>
                      </a:r>
                      <a:endParaRPr sz="140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70"/>
                        </a:spcBef>
                      </a:pPr>
                      <a:r>
                        <a:rPr sz="1400" spc="20" dirty="0">
                          <a:latin typeface="Calibri"/>
                          <a:cs typeface="Calibri"/>
                        </a:rPr>
                        <a:t>1.4</a:t>
                      </a:r>
                      <a:endParaRPr sz="1400" dirty="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graphicFrame>
        <p:nvGraphicFramePr>
          <p:cNvPr id="27" name="object 9"/>
          <p:cNvGraphicFramePr>
            <a:graphicFrameLocks noGrp="1"/>
          </p:cNvGraphicFramePr>
          <p:nvPr>
            <p:extLst>
              <p:ext uri="{D42A27DB-BD31-4B8C-83A1-F6EECF244321}">
                <p14:modId xmlns:p14="http://schemas.microsoft.com/office/powerpoint/2010/main" val="1731510914"/>
              </p:ext>
            </p:extLst>
          </p:nvPr>
        </p:nvGraphicFramePr>
        <p:xfrm>
          <a:off x="5292080" y="1628800"/>
          <a:ext cx="2787820" cy="2060364"/>
        </p:xfrm>
        <a:graphic>
          <a:graphicData uri="http://schemas.openxmlformats.org/drawingml/2006/table">
            <a:tbl>
              <a:tblPr firstRow="1" bandRow="1">
                <a:tableStyleId>{2D5ABB26-0587-4C30-8999-92F81FD0307C}</a:tableStyleId>
              </a:tblPr>
              <a:tblGrid>
                <a:gridCol w="1330176">
                  <a:extLst>
                    <a:ext uri="{9D8B030D-6E8A-4147-A177-3AD203B41FA5}">
                      <a16:colId xmlns:a16="http://schemas.microsoft.com/office/drawing/2014/main" xmlns="" val="20000"/>
                    </a:ext>
                  </a:extLst>
                </a:gridCol>
                <a:gridCol w="1457644">
                  <a:extLst>
                    <a:ext uri="{9D8B030D-6E8A-4147-A177-3AD203B41FA5}">
                      <a16:colId xmlns:a16="http://schemas.microsoft.com/office/drawing/2014/main" xmlns="" val="20001"/>
                    </a:ext>
                  </a:extLst>
                </a:gridCol>
              </a:tblGrid>
              <a:tr h="421360">
                <a:tc>
                  <a:txBody>
                    <a:bodyPr/>
                    <a:lstStyle/>
                    <a:p>
                      <a:pPr marL="93980">
                        <a:lnSpc>
                          <a:spcPct val="100000"/>
                        </a:lnSpc>
                        <a:spcBef>
                          <a:spcPts val="270"/>
                        </a:spcBef>
                      </a:pPr>
                      <a:r>
                        <a:rPr sz="1400" spc="15" dirty="0">
                          <a:latin typeface="Calibri"/>
                          <a:cs typeface="Calibri"/>
                        </a:rPr>
                        <a:t>Force</a:t>
                      </a:r>
                      <a:endParaRPr sz="1400" dirty="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4615">
                        <a:lnSpc>
                          <a:spcPct val="100000"/>
                        </a:lnSpc>
                        <a:spcBef>
                          <a:spcPts val="270"/>
                        </a:spcBef>
                      </a:pPr>
                      <a:r>
                        <a:rPr sz="1400" spc="25" dirty="0">
                          <a:latin typeface="Calibri"/>
                          <a:cs typeface="Calibri"/>
                        </a:rPr>
                        <a:t>6G</a:t>
                      </a:r>
                      <a:endParaRPr sz="140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409751">
                <a:tc>
                  <a:txBody>
                    <a:bodyPr/>
                    <a:lstStyle/>
                    <a:p>
                      <a:pPr marL="93980">
                        <a:lnSpc>
                          <a:spcPct val="100000"/>
                        </a:lnSpc>
                        <a:spcBef>
                          <a:spcPts val="240"/>
                        </a:spcBef>
                      </a:pPr>
                      <a:r>
                        <a:rPr sz="1400" spc="10" dirty="0">
                          <a:latin typeface="Calibri"/>
                          <a:cs typeface="Calibri"/>
                        </a:rPr>
                        <a:t>Stress</a:t>
                      </a:r>
                      <a:endParaRPr sz="1400">
                        <a:latin typeface="Calibri"/>
                        <a:cs typeface="Calibri"/>
                      </a:endParaRPr>
                    </a:p>
                  </a:txBody>
                  <a:tcPr marL="0" marR="0" marT="3048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40"/>
                        </a:spcBef>
                      </a:pPr>
                      <a:r>
                        <a:rPr sz="1400" spc="25" dirty="0">
                          <a:latin typeface="Calibri"/>
                          <a:cs typeface="Calibri"/>
                        </a:rPr>
                        <a:t>383.33Mpa</a:t>
                      </a:r>
                      <a:endParaRPr sz="1400" dirty="0">
                        <a:latin typeface="Calibri"/>
                        <a:cs typeface="Calibri"/>
                      </a:endParaRPr>
                    </a:p>
                  </a:txBody>
                  <a:tcPr marL="0" marR="0" marT="3048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09751">
                <a:tc>
                  <a:txBody>
                    <a:bodyPr/>
                    <a:lstStyle/>
                    <a:p>
                      <a:pPr marL="93980">
                        <a:lnSpc>
                          <a:spcPct val="100000"/>
                        </a:lnSpc>
                        <a:spcBef>
                          <a:spcPts val="250"/>
                        </a:spcBef>
                      </a:pPr>
                      <a:r>
                        <a:rPr sz="1400" dirty="0">
                          <a:latin typeface="Calibri"/>
                          <a:cs typeface="Calibri"/>
                        </a:rPr>
                        <a:t>Deformation</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50"/>
                        </a:spcBef>
                      </a:pPr>
                      <a:r>
                        <a:rPr sz="1400" spc="25" dirty="0">
                          <a:latin typeface="Calibri"/>
                          <a:cs typeface="Calibri"/>
                        </a:rPr>
                        <a:t>10.817mm</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09751">
                <a:tc>
                  <a:txBody>
                    <a:bodyPr/>
                    <a:lstStyle/>
                    <a:p>
                      <a:pPr marL="93980">
                        <a:lnSpc>
                          <a:spcPct val="100000"/>
                        </a:lnSpc>
                        <a:spcBef>
                          <a:spcPts val="250"/>
                        </a:spcBef>
                      </a:pPr>
                      <a:r>
                        <a:rPr sz="1400" spc="85" dirty="0">
                          <a:latin typeface="Calibri"/>
                          <a:cs typeface="Calibri"/>
                        </a:rPr>
                        <a:t>I</a:t>
                      </a:r>
                      <a:r>
                        <a:rPr sz="1400" spc="-20"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30"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50"/>
                        </a:spcBef>
                      </a:pPr>
                      <a:r>
                        <a:rPr sz="1400" spc="20" dirty="0">
                          <a:latin typeface="Calibri"/>
                          <a:cs typeface="Calibri"/>
                        </a:rPr>
                        <a:t>0.13sec</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409751">
                <a:tc>
                  <a:txBody>
                    <a:bodyPr/>
                    <a:lstStyle/>
                    <a:p>
                      <a:pPr marL="93980">
                        <a:lnSpc>
                          <a:spcPct val="100000"/>
                        </a:lnSpc>
                        <a:spcBef>
                          <a:spcPts val="254"/>
                        </a:spcBef>
                      </a:pPr>
                      <a:r>
                        <a:rPr sz="1400" spc="-10" dirty="0">
                          <a:latin typeface="Calibri"/>
                          <a:cs typeface="Calibri"/>
                        </a:rPr>
                        <a:t>F.O.S</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54"/>
                        </a:spcBef>
                      </a:pPr>
                      <a:r>
                        <a:rPr sz="1400" spc="20" dirty="0">
                          <a:latin typeface="Calibri"/>
                          <a:cs typeface="Calibri"/>
                        </a:rPr>
                        <a:t>1.2</a:t>
                      </a:r>
                      <a:endParaRPr sz="1400" dirty="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pic>
        <p:nvPicPr>
          <p:cNvPr id="28" name="object 12"/>
          <p:cNvPicPr/>
          <p:nvPr/>
        </p:nvPicPr>
        <p:blipFill>
          <a:blip r:embed="rId2" cstate="print"/>
          <a:stretch>
            <a:fillRect/>
          </a:stretch>
        </p:blipFill>
        <p:spPr>
          <a:xfrm>
            <a:off x="616538" y="1628800"/>
            <a:ext cx="3811446" cy="2023084"/>
          </a:xfrm>
          <a:prstGeom prst="rect">
            <a:avLst/>
          </a:prstGeom>
        </p:spPr>
      </p:pic>
      <p:pic>
        <p:nvPicPr>
          <p:cNvPr id="29" name="object 14"/>
          <p:cNvPicPr/>
          <p:nvPr/>
        </p:nvPicPr>
        <p:blipFill>
          <a:blip r:embed="rId3" cstate="print"/>
          <a:stretch>
            <a:fillRect/>
          </a:stretch>
        </p:blipFill>
        <p:spPr>
          <a:xfrm>
            <a:off x="869673" y="4509120"/>
            <a:ext cx="3305175" cy="1323975"/>
          </a:xfrm>
          <a:prstGeom prst="rect">
            <a:avLst/>
          </a:prstGeom>
        </p:spPr>
      </p:pic>
      <p:sp>
        <p:nvSpPr>
          <p:cNvPr id="31" name="object 17"/>
          <p:cNvSpPr txBox="1"/>
          <p:nvPr/>
        </p:nvSpPr>
        <p:spPr>
          <a:xfrm>
            <a:off x="1725442" y="3798398"/>
            <a:ext cx="2037547" cy="293029"/>
          </a:xfrm>
          <a:prstGeom prst="rect">
            <a:avLst/>
          </a:prstGeom>
        </p:spPr>
        <p:txBody>
          <a:bodyPr vert="horz" wrap="square" lIns="0" tIns="15875" rIns="0" bIns="0" rtlCol="0">
            <a:spAutoFit/>
          </a:bodyPr>
          <a:lstStyle/>
          <a:p>
            <a:pPr marL="12700">
              <a:lnSpc>
                <a:spcPct val="100000"/>
              </a:lnSpc>
              <a:spcBef>
                <a:spcPts val="125"/>
              </a:spcBef>
            </a:pPr>
            <a:r>
              <a:rPr b="1" spc="30" dirty="0">
                <a:latin typeface="Calibri"/>
                <a:cs typeface="Calibri"/>
              </a:rPr>
              <a:t>Fr</a:t>
            </a:r>
            <a:r>
              <a:rPr b="1" spc="5" dirty="0">
                <a:latin typeface="Calibri"/>
                <a:cs typeface="Calibri"/>
              </a:rPr>
              <a:t>ont</a:t>
            </a:r>
            <a:r>
              <a:rPr b="1" spc="-114" dirty="0">
                <a:latin typeface="Calibri"/>
                <a:cs typeface="Calibri"/>
              </a:rPr>
              <a:t> </a:t>
            </a:r>
            <a:r>
              <a:rPr b="1" spc="-25" dirty="0">
                <a:latin typeface="Calibri"/>
                <a:cs typeface="Calibri"/>
              </a:rPr>
              <a:t>i</a:t>
            </a:r>
            <a:r>
              <a:rPr b="1" spc="5" dirty="0">
                <a:latin typeface="Calibri"/>
                <a:cs typeface="Calibri"/>
              </a:rPr>
              <a:t>mpact</a:t>
            </a:r>
            <a:r>
              <a:rPr b="1" spc="-45" dirty="0">
                <a:latin typeface="Calibri"/>
                <a:cs typeface="Calibri"/>
              </a:rPr>
              <a:t> </a:t>
            </a:r>
            <a:r>
              <a:rPr b="1" spc="-25" dirty="0">
                <a:latin typeface="Calibri"/>
                <a:cs typeface="Calibri"/>
              </a:rPr>
              <a:t>te</a:t>
            </a:r>
            <a:r>
              <a:rPr b="1" spc="50" dirty="0">
                <a:latin typeface="Calibri"/>
                <a:cs typeface="Calibri"/>
              </a:rPr>
              <a:t>s</a:t>
            </a:r>
            <a:r>
              <a:rPr b="1" spc="5" dirty="0">
                <a:latin typeface="Calibri"/>
                <a:cs typeface="Calibri"/>
              </a:rPr>
              <a:t>t</a:t>
            </a:r>
            <a:endParaRPr b="1" dirty="0">
              <a:latin typeface="Calibri"/>
              <a:cs typeface="Calibri"/>
            </a:endParaRPr>
          </a:p>
        </p:txBody>
      </p:sp>
      <p:sp>
        <p:nvSpPr>
          <p:cNvPr id="32" name="object 18"/>
          <p:cNvSpPr txBox="1"/>
          <p:nvPr/>
        </p:nvSpPr>
        <p:spPr>
          <a:xfrm>
            <a:off x="1767706" y="5949280"/>
            <a:ext cx="1677507" cy="293029"/>
          </a:xfrm>
          <a:prstGeom prst="rect">
            <a:avLst/>
          </a:prstGeom>
        </p:spPr>
        <p:txBody>
          <a:bodyPr vert="horz" wrap="square" lIns="0" tIns="15875" rIns="0" bIns="0" rtlCol="0">
            <a:spAutoFit/>
          </a:bodyPr>
          <a:lstStyle/>
          <a:p>
            <a:pPr marL="12700">
              <a:lnSpc>
                <a:spcPct val="100000"/>
              </a:lnSpc>
              <a:spcBef>
                <a:spcPts val="125"/>
              </a:spcBef>
            </a:pPr>
            <a:r>
              <a:rPr b="1" spc="5" dirty="0">
                <a:latin typeface="Calibri"/>
                <a:cs typeface="Calibri"/>
              </a:rPr>
              <a:t>Side</a:t>
            </a:r>
            <a:r>
              <a:rPr b="1" spc="-75" dirty="0">
                <a:latin typeface="Calibri"/>
                <a:cs typeface="Calibri"/>
              </a:rPr>
              <a:t> </a:t>
            </a:r>
            <a:r>
              <a:rPr b="1" dirty="0">
                <a:latin typeface="Calibri"/>
                <a:cs typeface="Calibri"/>
              </a:rPr>
              <a:t>impact</a:t>
            </a:r>
            <a:r>
              <a:rPr b="1" spc="-65" dirty="0">
                <a:latin typeface="Calibri"/>
                <a:cs typeface="Calibri"/>
              </a:rPr>
              <a:t> </a:t>
            </a:r>
            <a:r>
              <a:rPr b="1" dirty="0">
                <a:latin typeface="Calibri"/>
                <a:cs typeface="Calibri"/>
              </a:rPr>
              <a:t>test</a:t>
            </a:r>
          </a:p>
        </p:txBody>
      </p:sp>
    </p:spTree>
    <p:extLst>
      <p:ext uri="{BB962C8B-B14F-4D97-AF65-F5344CB8AC3E}">
        <p14:creationId xmlns:p14="http://schemas.microsoft.com/office/powerpoint/2010/main" val="4021631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CAE Analysis of Roll cage</a:t>
            </a:r>
            <a:endParaRPr lang="en-IN" b="1" dirty="0"/>
          </a:p>
        </p:txBody>
      </p:sp>
      <p:graphicFrame>
        <p:nvGraphicFramePr>
          <p:cNvPr id="10" name="object 6"/>
          <p:cNvGraphicFramePr>
            <a:graphicFrameLocks noGrp="1"/>
          </p:cNvGraphicFramePr>
          <p:nvPr>
            <p:extLst>
              <p:ext uri="{D42A27DB-BD31-4B8C-83A1-F6EECF244321}">
                <p14:modId xmlns:p14="http://schemas.microsoft.com/office/powerpoint/2010/main" val="3247071236"/>
              </p:ext>
            </p:extLst>
          </p:nvPr>
        </p:nvGraphicFramePr>
        <p:xfrm>
          <a:off x="5364088" y="4005064"/>
          <a:ext cx="2880320" cy="2109012"/>
        </p:xfrm>
        <a:graphic>
          <a:graphicData uri="http://schemas.openxmlformats.org/drawingml/2006/table">
            <a:tbl>
              <a:tblPr firstRow="1" bandRow="1">
                <a:tableStyleId>{2D5ABB26-0587-4C30-8999-92F81FD0307C}</a:tableStyleId>
              </a:tblPr>
              <a:tblGrid>
                <a:gridCol w="1471400">
                  <a:extLst>
                    <a:ext uri="{9D8B030D-6E8A-4147-A177-3AD203B41FA5}">
                      <a16:colId xmlns:a16="http://schemas.microsoft.com/office/drawing/2014/main" xmlns="" val="20000"/>
                    </a:ext>
                  </a:extLst>
                </a:gridCol>
                <a:gridCol w="1408920">
                  <a:extLst>
                    <a:ext uri="{9D8B030D-6E8A-4147-A177-3AD203B41FA5}">
                      <a16:colId xmlns:a16="http://schemas.microsoft.com/office/drawing/2014/main" xmlns="" val="20001"/>
                    </a:ext>
                  </a:extLst>
                </a:gridCol>
              </a:tblGrid>
              <a:tr h="421818">
                <a:tc>
                  <a:txBody>
                    <a:bodyPr/>
                    <a:lstStyle/>
                    <a:p>
                      <a:pPr marL="93980">
                        <a:lnSpc>
                          <a:spcPct val="100000"/>
                        </a:lnSpc>
                        <a:spcBef>
                          <a:spcPts val="295"/>
                        </a:spcBef>
                      </a:pPr>
                      <a:r>
                        <a:rPr sz="1400" spc="15" dirty="0">
                          <a:latin typeface="Calibri"/>
                          <a:cs typeface="Calibri"/>
                        </a:rPr>
                        <a:t>Force</a:t>
                      </a:r>
                      <a:endParaRPr sz="1400" dirty="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4615">
                        <a:lnSpc>
                          <a:spcPct val="100000"/>
                        </a:lnSpc>
                        <a:spcBef>
                          <a:spcPts val="295"/>
                        </a:spcBef>
                      </a:pPr>
                      <a:r>
                        <a:rPr sz="1400" spc="25" dirty="0">
                          <a:latin typeface="Calibri"/>
                          <a:cs typeface="Calibri"/>
                        </a:rPr>
                        <a:t>3G</a:t>
                      </a:r>
                      <a:endParaRPr sz="1400" dirty="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421748">
                <a:tc>
                  <a:txBody>
                    <a:bodyPr/>
                    <a:lstStyle/>
                    <a:p>
                      <a:pPr marL="93980">
                        <a:lnSpc>
                          <a:spcPct val="100000"/>
                        </a:lnSpc>
                        <a:spcBef>
                          <a:spcPts val="295"/>
                        </a:spcBef>
                      </a:pPr>
                      <a:r>
                        <a:rPr sz="1400" spc="10" dirty="0">
                          <a:latin typeface="Calibri"/>
                          <a:cs typeface="Calibri"/>
                        </a:rPr>
                        <a:t>Stress</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95"/>
                        </a:spcBef>
                      </a:pPr>
                      <a:r>
                        <a:rPr sz="1400" spc="30" dirty="0">
                          <a:latin typeface="Calibri"/>
                          <a:cs typeface="Calibri"/>
                        </a:rPr>
                        <a:t>262.85</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21818">
                <a:tc>
                  <a:txBody>
                    <a:bodyPr/>
                    <a:lstStyle/>
                    <a:p>
                      <a:pPr marL="93980">
                        <a:lnSpc>
                          <a:spcPct val="100000"/>
                        </a:lnSpc>
                        <a:spcBef>
                          <a:spcPts val="300"/>
                        </a:spcBef>
                      </a:pPr>
                      <a:r>
                        <a:rPr sz="1400" dirty="0">
                          <a:latin typeface="Calibri"/>
                          <a:cs typeface="Calibri"/>
                        </a:rPr>
                        <a:t>Deformation</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300"/>
                        </a:spcBef>
                      </a:pPr>
                      <a:r>
                        <a:rPr sz="1400" spc="25" dirty="0">
                          <a:latin typeface="Calibri"/>
                          <a:cs typeface="Calibri"/>
                        </a:rPr>
                        <a:t>4.8328mm</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21818">
                <a:tc>
                  <a:txBody>
                    <a:bodyPr/>
                    <a:lstStyle/>
                    <a:p>
                      <a:pPr marL="93980">
                        <a:lnSpc>
                          <a:spcPct val="100000"/>
                        </a:lnSpc>
                        <a:spcBef>
                          <a:spcPts val="300"/>
                        </a:spcBef>
                      </a:pPr>
                      <a:r>
                        <a:rPr sz="1400" spc="85" dirty="0">
                          <a:latin typeface="Calibri"/>
                          <a:cs typeface="Calibri"/>
                        </a:rPr>
                        <a:t>I</a:t>
                      </a:r>
                      <a:r>
                        <a:rPr sz="1400" spc="-20"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30"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300"/>
                        </a:spcBef>
                      </a:pPr>
                      <a:r>
                        <a:rPr sz="1400" spc="20" dirty="0">
                          <a:latin typeface="Calibri"/>
                          <a:cs typeface="Calibri"/>
                        </a:rPr>
                        <a:t>0.13sec</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421810">
                <a:tc>
                  <a:txBody>
                    <a:bodyPr/>
                    <a:lstStyle/>
                    <a:p>
                      <a:pPr marL="93980">
                        <a:lnSpc>
                          <a:spcPct val="100000"/>
                        </a:lnSpc>
                        <a:spcBef>
                          <a:spcPts val="305"/>
                        </a:spcBef>
                      </a:pPr>
                      <a:r>
                        <a:rPr sz="1400" spc="-10" dirty="0">
                          <a:latin typeface="Calibri"/>
                          <a:cs typeface="Calibri"/>
                        </a:rPr>
                        <a:t>F.O.S</a:t>
                      </a:r>
                      <a:endParaRPr sz="140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305"/>
                        </a:spcBef>
                      </a:pPr>
                      <a:r>
                        <a:rPr sz="1400" spc="20" dirty="0">
                          <a:latin typeface="Calibri"/>
                          <a:cs typeface="Calibri"/>
                        </a:rPr>
                        <a:t>1.7</a:t>
                      </a:r>
                      <a:endParaRPr sz="1400" dirty="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graphicFrame>
        <p:nvGraphicFramePr>
          <p:cNvPr id="11" name="object 7"/>
          <p:cNvGraphicFramePr>
            <a:graphicFrameLocks noGrp="1"/>
          </p:cNvGraphicFramePr>
          <p:nvPr>
            <p:extLst>
              <p:ext uri="{D42A27DB-BD31-4B8C-83A1-F6EECF244321}">
                <p14:modId xmlns:p14="http://schemas.microsoft.com/office/powerpoint/2010/main" val="2364002566"/>
              </p:ext>
            </p:extLst>
          </p:nvPr>
        </p:nvGraphicFramePr>
        <p:xfrm>
          <a:off x="5364088" y="1648200"/>
          <a:ext cx="2880320" cy="2116000"/>
        </p:xfrm>
        <a:graphic>
          <a:graphicData uri="http://schemas.openxmlformats.org/drawingml/2006/table">
            <a:tbl>
              <a:tblPr firstRow="1" bandRow="1">
                <a:tableStyleId>{2D5ABB26-0587-4C30-8999-92F81FD0307C}</a:tableStyleId>
              </a:tblPr>
              <a:tblGrid>
                <a:gridCol w="1440160">
                  <a:extLst>
                    <a:ext uri="{9D8B030D-6E8A-4147-A177-3AD203B41FA5}">
                      <a16:colId xmlns:a16="http://schemas.microsoft.com/office/drawing/2014/main" xmlns="" val="20000"/>
                    </a:ext>
                  </a:extLst>
                </a:gridCol>
                <a:gridCol w="1440160">
                  <a:extLst>
                    <a:ext uri="{9D8B030D-6E8A-4147-A177-3AD203B41FA5}">
                      <a16:colId xmlns:a16="http://schemas.microsoft.com/office/drawing/2014/main" xmlns="" val="20001"/>
                    </a:ext>
                  </a:extLst>
                </a:gridCol>
              </a:tblGrid>
              <a:tr h="423200">
                <a:tc>
                  <a:txBody>
                    <a:bodyPr/>
                    <a:lstStyle/>
                    <a:p>
                      <a:pPr marL="93980">
                        <a:lnSpc>
                          <a:spcPct val="100000"/>
                        </a:lnSpc>
                        <a:spcBef>
                          <a:spcPts val="275"/>
                        </a:spcBef>
                      </a:pPr>
                      <a:r>
                        <a:rPr sz="1400" b="1" spc="10" dirty="0">
                          <a:latin typeface="Calibri"/>
                          <a:cs typeface="Calibri"/>
                        </a:rPr>
                        <a:t>Force</a:t>
                      </a:r>
                      <a:endParaRPr sz="1400" dirty="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4615">
                        <a:lnSpc>
                          <a:spcPct val="100000"/>
                        </a:lnSpc>
                        <a:spcBef>
                          <a:spcPts val="275"/>
                        </a:spcBef>
                      </a:pPr>
                      <a:r>
                        <a:rPr sz="1400" b="1" spc="25" dirty="0">
                          <a:latin typeface="Calibri"/>
                          <a:cs typeface="Calibri"/>
                        </a:rPr>
                        <a:t>3G</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423200">
                <a:tc>
                  <a:txBody>
                    <a:bodyPr/>
                    <a:lstStyle/>
                    <a:p>
                      <a:pPr marL="93980">
                        <a:lnSpc>
                          <a:spcPct val="100000"/>
                        </a:lnSpc>
                        <a:spcBef>
                          <a:spcPts val="280"/>
                        </a:spcBef>
                      </a:pPr>
                      <a:r>
                        <a:rPr sz="1400" spc="10" dirty="0">
                          <a:latin typeface="Calibri"/>
                          <a:cs typeface="Calibri"/>
                        </a:rPr>
                        <a:t>Stress</a:t>
                      </a:r>
                      <a:endParaRPr sz="1400" dirty="0">
                        <a:latin typeface="Calibri"/>
                        <a:cs typeface="Calibri"/>
                      </a:endParaRPr>
                    </a:p>
                  </a:txBody>
                  <a:tcPr marL="0" marR="0" marT="3556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80"/>
                        </a:spcBef>
                      </a:pPr>
                      <a:r>
                        <a:rPr sz="1400" spc="25" dirty="0">
                          <a:latin typeface="Calibri"/>
                          <a:cs typeface="Calibri"/>
                        </a:rPr>
                        <a:t>393.16Mpa</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23200">
                <a:tc>
                  <a:txBody>
                    <a:bodyPr/>
                    <a:lstStyle/>
                    <a:p>
                      <a:pPr marL="93980">
                        <a:lnSpc>
                          <a:spcPct val="100000"/>
                        </a:lnSpc>
                        <a:spcBef>
                          <a:spcPts val="280"/>
                        </a:spcBef>
                      </a:pPr>
                      <a:r>
                        <a:rPr sz="1400" dirty="0">
                          <a:latin typeface="Calibri"/>
                          <a:cs typeface="Calibri"/>
                        </a:rPr>
                        <a:t>Deformation</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80"/>
                        </a:spcBef>
                      </a:pPr>
                      <a:r>
                        <a:rPr sz="1400" spc="25" dirty="0">
                          <a:latin typeface="Calibri"/>
                          <a:cs typeface="Calibri"/>
                        </a:rPr>
                        <a:t>12.659mm</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23200">
                <a:tc>
                  <a:txBody>
                    <a:bodyPr/>
                    <a:lstStyle/>
                    <a:p>
                      <a:pPr marL="93980">
                        <a:lnSpc>
                          <a:spcPct val="100000"/>
                        </a:lnSpc>
                        <a:spcBef>
                          <a:spcPts val="285"/>
                        </a:spcBef>
                      </a:pPr>
                      <a:r>
                        <a:rPr sz="1400" spc="85" dirty="0">
                          <a:latin typeface="Calibri"/>
                          <a:cs typeface="Calibri"/>
                        </a:rPr>
                        <a:t>I</a:t>
                      </a:r>
                      <a:r>
                        <a:rPr sz="1400" spc="-20"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30"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4615">
                        <a:lnSpc>
                          <a:spcPct val="100000"/>
                        </a:lnSpc>
                        <a:spcBef>
                          <a:spcPts val="285"/>
                        </a:spcBef>
                      </a:pPr>
                      <a:r>
                        <a:rPr sz="1400" spc="20" dirty="0">
                          <a:latin typeface="Calibri"/>
                          <a:cs typeface="Calibri"/>
                        </a:rPr>
                        <a:t>0.3sec</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423200">
                <a:tc>
                  <a:txBody>
                    <a:bodyPr/>
                    <a:lstStyle/>
                    <a:p>
                      <a:pPr marL="93980">
                        <a:lnSpc>
                          <a:spcPct val="100000"/>
                        </a:lnSpc>
                        <a:spcBef>
                          <a:spcPts val="285"/>
                        </a:spcBef>
                      </a:pPr>
                      <a:r>
                        <a:rPr sz="1400" spc="-10" dirty="0">
                          <a:latin typeface="Calibri"/>
                          <a:cs typeface="Calibri"/>
                        </a:rPr>
                        <a:t>F.O.S</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4615">
                        <a:lnSpc>
                          <a:spcPct val="100000"/>
                        </a:lnSpc>
                        <a:spcBef>
                          <a:spcPts val="285"/>
                        </a:spcBef>
                      </a:pPr>
                      <a:r>
                        <a:rPr sz="1400" spc="20" dirty="0">
                          <a:latin typeface="Calibri"/>
                          <a:cs typeface="Calibri"/>
                        </a:rPr>
                        <a:t>1.1</a:t>
                      </a:r>
                      <a:endParaRPr sz="1400" dirty="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pic>
        <p:nvPicPr>
          <p:cNvPr id="12" name="object 13"/>
          <p:cNvPicPr/>
          <p:nvPr/>
        </p:nvPicPr>
        <p:blipFill>
          <a:blip r:embed="rId2" cstate="print"/>
          <a:stretch>
            <a:fillRect/>
          </a:stretch>
        </p:blipFill>
        <p:spPr>
          <a:xfrm>
            <a:off x="898786" y="1628800"/>
            <a:ext cx="3447192" cy="1728192"/>
          </a:xfrm>
          <a:prstGeom prst="rect">
            <a:avLst/>
          </a:prstGeom>
        </p:spPr>
      </p:pic>
      <p:pic>
        <p:nvPicPr>
          <p:cNvPr id="13" name="object 16"/>
          <p:cNvPicPr/>
          <p:nvPr/>
        </p:nvPicPr>
        <p:blipFill>
          <a:blip r:embed="rId3" cstate="print"/>
          <a:stretch>
            <a:fillRect/>
          </a:stretch>
        </p:blipFill>
        <p:spPr>
          <a:xfrm>
            <a:off x="858710" y="3861048"/>
            <a:ext cx="3480247" cy="2109012"/>
          </a:xfrm>
          <a:prstGeom prst="rect">
            <a:avLst/>
          </a:prstGeom>
        </p:spPr>
      </p:pic>
      <p:sp>
        <p:nvSpPr>
          <p:cNvPr id="14" name="object 19"/>
          <p:cNvSpPr txBox="1"/>
          <p:nvPr/>
        </p:nvSpPr>
        <p:spPr>
          <a:xfrm>
            <a:off x="1619672" y="3471173"/>
            <a:ext cx="2431123" cy="293029"/>
          </a:xfrm>
          <a:prstGeom prst="rect">
            <a:avLst/>
          </a:prstGeom>
        </p:spPr>
        <p:txBody>
          <a:bodyPr vert="horz" wrap="square" lIns="0" tIns="15875" rIns="0" bIns="0" rtlCol="0">
            <a:spAutoFit/>
          </a:bodyPr>
          <a:lstStyle/>
          <a:p>
            <a:pPr marL="12700">
              <a:lnSpc>
                <a:spcPct val="100000"/>
              </a:lnSpc>
              <a:spcBef>
                <a:spcPts val="125"/>
              </a:spcBef>
            </a:pPr>
            <a:r>
              <a:rPr b="1" spc="-5" dirty="0">
                <a:latin typeface="Calibri"/>
                <a:cs typeface="Calibri"/>
              </a:rPr>
              <a:t>Rear</a:t>
            </a:r>
            <a:r>
              <a:rPr b="1" spc="-20" dirty="0">
                <a:latin typeface="Calibri"/>
                <a:cs typeface="Calibri"/>
              </a:rPr>
              <a:t> </a:t>
            </a:r>
            <a:r>
              <a:rPr b="1" dirty="0">
                <a:latin typeface="Calibri"/>
                <a:cs typeface="Calibri"/>
              </a:rPr>
              <a:t>impact</a:t>
            </a:r>
            <a:r>
              <a:rPr b="1" spc="-70" dirty="0">
                <a:latin typeface="Calibri"/>
                <a:cs typeface="Calibri"/>
              </a:rPr>
              <a:t> </a:t>
            </a:r>
            <a:r>
              <a:rPr b="1" dirty="0">
                <a:latin typeface="Calibri"/>
                <a:cs typeface="Calibri"/>
              </a:rPr>
              <a:t>test</a:t>
            </a:r>
          </a:p>
        </p:txBody>
      </p:sp>
      <p:sp>
        <p:nvSpPr>
          <p:cNvPr id="15" name="object 20"/>
          <p:cNvSpPr txBox="1"/>
          <p:nvPr/>
        </p:nvSpPr>
        <p:spPr>
          <a:xfrm>
            <a:off x="1619672" y="6114077"/>
            <a:ext cx="2129226" cy="293029"/>
          </a:xfrm>
          <a:prstGeom prst="rect">
            <a:avLst/>
          </a:prstGeom>
        </p:spPr>
        <p:txBody>
          <a:bodyPr vert="horz" wrap="square" lIns="0" tIns="15875" rIns="0" bIns="0" rtlCol="0">
            <a:spAutoFit/>
          </a:bodyPr>
          <a:lstStyle/>
          <a:p>
            <a:pPr marL="12700">
              <a:lnSpc>
                <a:spcPct val="100000"/>
              </a:lnSpc>
              <a:spcBef>
                <a:spcPts val="125"/>
              </a:spcBef>
            </a:pPr>
            <a:r>
              <a:rPr b="1" spc="-15" dirty="0">
                <a:latin typeface="Calibri"/>
                <a:cs typeface="Calibri"/>
              </a:rPr>
              <a:t>R</a:t>
            </a:r>
            <a:r>
              <a:rPr b="1" spc="5" dirty="0">
                <a:latin typeface="Calibri"/>
                <a:cs typeface="Calibri"/>
              </a:rPr>
              <a:t>o</a:t>
            </a:r>
            <a:r>
              <a:rPr b="1" spc="-25" dirty="0">
                <a:latin typeface="Calibri"/>
                <a:cs typeface="Calibri"/>
              </a:rPr>
              <a:t>ll</a:t>
            </a:r>
            <a:r>
              <a:rPr b="1" spc="5" dirty="0">
                <a:latin typeface="Calibri"/>
                <a:cs typeface="Calibri"/>
              </a:rPr>
              <a:t>o</a:t>
            </a:r>
            <a:r>
              <a:rPr b="1" spc="40" dirty="0">
                <a:latin typeface="Calibri"/>
                <a:cs typeface="Calibri"/>
              </a:rPr>
              <a:t>v</a:t>
            </a:r>
            <a:r>
              <a:rPr b="1" spc="-25" dirty="0">
                <a:latin typeface="Calibri"/>
                <a:cs typeface="Calibri"/>
              </a:rPr>
              <a:t>e</a:t>
            </a:r>
            <a:r>
              <a:rPr b="1" spc="5" dirty="0">
                <a:latin typeface="Calibri"/>
                <a:cs typeface="Calibri"/>
              </a:rPr>
              <a:t>r</a:t>
            </a:r>
            <a:r>
              <a:rPr b="1" spc="-65" dirty="0">
                <a:latin typeface="Calibri"/>
                <a:cs typeface="Calibri"/>
              </a:rPr>
              <a:t> </a:t>
            </a:r>
            <a:r>
              <a:rPr b="1" spc="-25" dirty="0">
                <a:latin typeface="Calibri"/>
                <a:cs typeface="Calibri"/>
              </a:rPr>
              <a:t>te</a:t>
            </a:r>
            <a:r>
              <a:rPr b="1" spc="50" dirty="0">
                <a:latin typeface="Calibri"/>
                <a:cs typeface="Calibri"/>
              </a:rPr>
              <a:t>s</a:t>
            </a:r>
            <a:r>
              <a:rPr b="1" spc="5" dirty="0">
                <a:latin typeface="Calibri"/>
                <a:cs typeface="Calibri"/>
              </a:rPr>
              <a:t>t</a:t>
            </a:r>
            <a:endParaRPr b="1" dirty="0">
              <a:latin typeface="Calibri"/>
              <a:cs typeface="Calibri"/>
            </a:endParaRPr>
          </a:p>
        </p:txBody>
      </p:sp>
    </p:spTree>
    <p:extLst>
      <p:ext uri="{BB962C8B-B14F-4D97-AF65-F5344CB8AC3E}">
        <p14:creationId xmlns:p14="http://schemas.microsoft.com/office/powerpoint/2010/main" val="1523538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CAE Analysis of Roll cage</a:t>
            </a:r>
            <a:endParaRPr lang="en-IN" b="1" dirty="0"/>
          </a:p>
        </p:txBody>
      </p:sp>
      <p:graphicFrame>
        <p:nvGraphicFramePr>
          <p:cNvPr id="9" name="object 10"/>
          <p:cNvGraphicFramePr>
            <a:graphicFrameLocks noGrp="1"/>
          </p:cNvGraphicFramePr>
          <p:nvPr>
            <p:extLst>
              <p:ext uri="{D42A27DB-BD31-4B8C-83A1-F6EECF244321}">
                <p14:modId xmlns:p14="http://schemas.microsoft.com/office/powerpoint/2010/main" val="782760094"/>
              </p:ext>
            </p:extLst>
          </p:nvPr>
        </p:nvGraphicFramePr>
        <p:xfrm>
          <a:off x="4929959" y="3933056"/>
          <a:ext cx="2810394" cy="2165239"/>
        </p:xfrm>
        <a:graphic>
          <a:graphicData uri="http://schemas.openxmlformats.org/drawingml/2006/table">
            <a:tbl>
              <a:tblPr firstRow="1" bandRow="1">
                <a:tableStyleId>{2D5ABB26-0587-4C30-8999-92F81FD0307C}</a:tableStyleId>
              </a:tblPr>
              <a:tblGrid>
                <a:gridCol w="1405197">
                  <a:extLst>
                    <a:ext uri="{9D8B030D-6E8A-4147-A177-3AD203B41FA5}">
                      <a16:colId xmlns:a16="http://schemas.microsoft.com/office/drawing/2014/main" xmlns="" val="20000"/>
                    </a:ext>
                  </a:extLst>
                </a:gridCol>
                <a:gridCol w="1405197">
                  <a:extLst>
                    <a:ext uri="{9D8B030D-6E8A-4147-A177-3AD203B41FA5}">
                      <a16:colId xmlns:a16="http://schemas.microsoft.com/office/drawing/2014/main" xmlns="" val="20001"/>
                    </a:ext>
                  </a:extLst>
                </a:gridCol>
              </a:tblGrid>
              <a:tr h="419349">
                <a:tc>
                  <a:txBody>
                    <a:bodyPr/>
                    <a:lstStyle/>
                    <a:p>
                      <a:pPr marL="98425">
                        <a:lnSpc>
                          <a:spcPct val="100000"/>
                        </a:lnSpc>
                        <a:spcBef>
                          <a:spcPts val="254"/>
                        </a:spcBef>
                      </a:pPr>
                      <a:r>
                        <a:rPr sz="1400" spc="15" dirty="0">
                          <a:latin typeface="Calibri"/>
                          <a:cs typeface="Calibri"/>
                        </a:rPr>
                        <a:t>Force</a:t>
                      </a:r>
                      <a:endParaRPr sz="1400" dirty="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9695">
                        <a:lnSpc>
                          <a:spcPct val="100000"/>
                        </a:lnSpc>
                        <a:spcBef>
                          <a:spcPts val="254"/>
                        </a:spcBef>
                      </a:pPr>
                      <a:r>
                        <a:rPr sz="1400" spc="25" dirty="0">
                          <a:latin typeface="Calibri"/>
                          <a:cs typeface="Calibri"/>
                        </a:rPr>
                        <a:t>1G</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419349">
                <a:tc>
                  <a:txBody>
                    <a:bodyPr/>
                    <a:lstStyle/>
                    <a:p>
                      <a:pPr marL="98425">
                        <a:lnSpc>
                          <a:spcPct val="100000"/>
                        </a:lnSpc>
                        <a:spcBef>
                          <a:spcPts val="260"/>
                        </a:spcBef>
                      </a:pPr>
                      <a:r>
                        <a:rPr sz="1400" spc="10" dirty="0">
                          <a:latin typeface="Calibri"/>
                          <a:cs typeface="Calibri"/>
                        </a:rPr>
                        <a:t>Stress</a:t>
                      </a:r>
                      <a:endParaRPr sz="1400">
                        <a:latin typeface="Calibri"/>
                        <a:cs typeface="Calibri"/>
                      </a:endParaRPr>
                    </a:p>
                  </a:txBody>
                  <a:tcPr marL="0" marR="0" marT="3302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9695">
                        <a:lnSpc>
                          <a:spcPct val="100000"/>
                        </a:lnSpc>
                        <a:spcBef>
                          <a:spcPts val="260"/>
                        </a:spcBef>
                      </a:pPr>
                      <a:r>
                        <a:rPr sz="1400" spc="25" dirty="0">
                          <a:latin typeface="Calibri"/>
                          <a:cs typeface="Calibri"/>
                        </a:rPr>
                        <a:t>255.55Mpa</a:t>
                      </a:r>
                      <a:endParaRPr sz="1400" dirty="0">
                        <a:latin typeface="Calibri"/>
                        <a:cs typeface="Calibri"/>
                      </a:endParaRPr>
                    </a:p>
                  </a:txBody>
                  <a:tcPr marL="0" marR="0" marT="3302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87843">
                <a:tc>
                  <a:txBody>
                    <a:bodyPr/>
                    <a:lstStyle/>
                    <a:p>
                      <a:pPr marL="98425">
                        <a:lnSpc>
                          <a:spcPct val="100000"/>
                        </a:lnSpc>
                        <a:spcBef>
                          <a:spcPts val="459"/>
                        </a:spcBef>
                      </a:pPr>
                      <a:r>
                        <a:rPr sz="1400" dirty="0">
                          <a:latin typeface="Calibri"/>
                          <a:cs typeface="Calibri"/>
                        </a:rPr>
                        <a:t>Deformation</a:t>
                      </a:r>
                      <a:endParaRPr sz="1400">
                        <a:latin typeface="Calibri"/>
                        <a:cs typeface="Calibri"/>
                      </a:endParaRPr>
                    </a:p>
                  </a:txBody>
                  <a:tcPr marL="0" marR="0" marT="58419"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9695">
                        <a:lnSpc>
                          <a:spcPct val="100000"/>
                        </a:lnSpc>
                        <a:spcBef>
                          <a:spcPts val="459"/>
                        </a:spcBef>
                      </a:pPr>
                      <a:r>
                        <a:rPr sz="1400" spc="25" dirty="0">
                          <a:latin typeface="Calibri"/>
                          <a:cs typeface="Calibri"/>
                        </a:rPr>
                        <a:t>8.1002mm</a:t>
                      </a:r>
                      <a:endParaRPr sz="1400">
                        <a:latin typeface="Calibri"/>
                        <a:cs typeface="Calibri"/>
                      </a:endParaRPr>
                    </a:p>
                  </a:txBody>
                  <a:tcPr marL="0" marR="0" marT="58419"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19349">
                <a:tc>
                  <a:txBody>
                    <a:bodyPr/>
                    <a:lstStyle/>
                    <a:p>
                      <a:pPr marL="98425">
                        <a:lnSpc>
                          <a:spcPct val="100000"/>
                        </a:lnSpc>
                        <a:spcBef>
                          <a:spcPts val="270"/>
                        </a:spcBef>
                      </a:pPr>
                      <a:r>
                        <a:rPr sz="1400" spc="85" dirty="0">
                          <a:latin typeface="Calibri"/>
                          <a:cs typeface="Calibri"/>
                        </a:rPr>
                        <a:t>I</a:t>
                      </a:r>
                      <a:r>
                        <a:rPr sz="1400" spc="-15"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25"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9695">
                        <a:lnSpc>
                          <a:spcPct val="100000"/>
                        </a:lnSpc>
                        <a:spcBef>
                          <a:spcPts val="270"/>
                        </a:spcBef>
                      </a:pPr>
                      <a:r>
                        <a:rPr sz="1400" spc="25" dirty="0">
                          <a:latin typeface="Calibri"/>
                          <a:cs typeface="Calibri"/>
                        </a:rPr>
                        <a:t>2.12sec</a:t>
                      </a:r>
                      <a:endParaRPr sz="140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419349">
                <a:tc>
                  <a:txBody>
                    <a:bodyPr/>
                    <a:lstStyle/>
                    <a:p>
                      <a:pPr marL="98425">
                        <a:lnSpc>
                          <a:spcPct val="100000"/>
                        </a:lnSpc>
                        <a:spcBef>
                          <a:spcPts val="270"/>
                        </a:spcBef>
                      </a:pPr>
                      <a:r>
                        <a:rPr sz="1400" spc="-5" dirty="0">
                          <a:latin typeface="Calibri"/>
                          <a:cs typeface="Calibri"/>
                        </a:rPr>
                        <a:t>F.O.S</a:t>
                      </a:r>
                      <a:endParaRPr sz="140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9695">
                        <a:lnSpc>
                          <a:spcPct val="100000"/>
                        </a:lnSpc>
                        <a:spcBef>
                          <a:spcPts val="270"/>
                        </a:spcBef>
                      </a:pPr>
                      <a:r>
                        <a:rPr sz="1400" spc="20" dirty="0">
                          <a:latin typeface="Calibri"/>
                          <a:cs typeface="Calibri"/>
                        </a:rPr>
                        <a:t>1.8</a:t>
                      </a:r>
                      <a:endParaRPr sz="1400" dirty="0">
                        <a:latin typeface="Calibri"/>
                        <a:cs typeface="Calibri"/>
                      </a:endParaRPr>
                    </a:p>
                  </a:txBody>
                  <a:tcPr marL="0" marR="0" marT="3429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graphicFrame>
        <p:nvGraphicFramePr>
          <p:cNvPr id="16" name="object 11"/>
          <p:cNvGraphicFramePr>
            <a:graphicFrameLocks noGrp="1"/>
          </p:cNvGraphicFramePr>
          <p:nvPr>
            <p:extLst>
              <p:ext uri="{D42A27DB-BD31-4B8C-83A1-F6EECF244321}">
                <p14:modId xmlns:p14="http://schemas.microsoft.com/office/powerpoint/2010/main" val="881608847"/>
              </p:ext>
            </p:extLst>
          </p:nvPr>
        </p:nvGraphicFramePr>
        <p:xfrm>
          <a:off x="4895512" y="1484785"/>
          <a:ext cx="2844840" cy="1944215"/>
        </p:xfrm>
        <a:graphic>
          <a:graphicData uri="http://schemas.openxmlformats.org/drawingml/2006/table">
            <a:tbl>
              <a:tblPr firstRow="1" bandRow="1">
                <a:tableStyleId>{2D5ABB26-0587-4C30-8999-92F81FD0307C}</a:tableStyleId>
              </a:tblPr>
              <a:tblGrid>
                <a:gridCol w="1422420">
                  <a:extLst>
                    <a:ext uri="{9D8B030D-6E8A-4147-A177-3AD203B41FA5}">
                      <a16:colId xmlns:a16="http://schemas.microsoft.com/office/drawing/2014/main" xmlns="" val="20000"/>
                    </a:ext>
                  </a:extLst>
                </a:gridCol>
                <a:gridCol w="1422420">
                  <a:extLst>
                    <a:ext uri="{9D8B030D-6E8A-4147-A177-3AD203B41FA5}">
                      <a16:colId xmlns:a16="http://schemas.microsoft.com/office/drawing/2014/main" xmlns="" val="20001"/>
                    </a:ext>
                  </a:extLst>
                </a:gridCol>
              </a:tblGrid>
              <a:tr h="388843">
                <a:tc>
                  <a:txBody>
                    <a:bodyPr/>
                    <a:lstStyle/>
                    <a:p>
                      <a:pPr marL="99060">
                        <a:lnSpc>
                          <a:spcPct val="100000"/>
                        </a:lnSpc>
                        <a:spcBef>
                          <a:spcPts val="240"/>
                        </a:spcBef>
                      </a:pPr>
                      <a:r>
                        <a:rPr sz="1400" spc="15" dirty="0">
                          <a:latin typeface="Calibri"/>
                          <a:cs typeface="Calibri"/>
                        </a:rPr>
                        <a:t>Force</a:t>
                      </a:r>
                      <a:endParaRPr sz="1400" dirty="0">
                        <a:latin typeface="Calibri"/>
                        <a:cs typeface="Calibri"/>
                      </a:endParaRPr>
                    </a:p>
                  </a:txBody>
                  <a:tcPr marL="0" marR="0" marT="3048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9695">
                        <a:lnSpc>
                          <a:spcPct val="100000"/>
                        </a:lnSpc>
                        <a:spcBef>
                          <a:spcPts val="240"/>
                        </a:spcBef>
                      </a:pPr>
                      <a:r>
                        <a:rPr sz="1400" spc="25" dirty="0">
                          <a:latin typeface="Calibri"/>
                          <a:cs typeface="Calibri"/>
                        </a:rPr>
                        <a:t>1G</a:t>
                      </a:r>
                      <a:endParaRPr sz="1400">
                        <a:latin typeface="Calibri"/>
                        <a:cs typeface="Calibri"/>
                      </a:endParaRPr>
                    </a:p>
                  </a:txBody>
                  <a:tcPr marL="0" marR="0" marT="3048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388843">
                <a:tc>
                  <a:txBody>
                    <a:bodyPr/>
                    <a:lstStyle/>
                    <a:p>
                      <a:pPr marL="99060">
                        <a:lnSpc>
                          <a:spcPct val="100000"/>
                        </a:lnSpc>
                        <a:spcBef>
                          <a:spcPts val="245"/>
                        </a:spcBef>
                      </a:pPr>
                      <a:r>
                        <a:rPr sz="1400" spc="10" dirty="0">
                          <a:latin typeface="Calibri"/>
                          <a:cs typeface="Calibri"/>
                        </a:rPr>
                        <a:t>Stress</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9695">
                        <a:lnSpc>
                          <a:spcPct val="100000"/>
                        </a:lnSpc>
                        <a:spcBef>
                          <a:spcPts val="245"/>
                        </a:spcBef>
                      </a:pPr>
                      <a:r>
                        <a:rPr sz="1400" spc="25" dirty="0">
                          <a:latin typeface="Calibri"/>
                          <a:cs typeface="Calibri"/>
                        </a:rPr>
                        <a:t>403.50Mpa</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388843">
                <a:tc>
                  <a:txBody>
                    <a:bodyPr/>
                    <a:lstStyle/>
                    <a:p>
                      <a:pPr marL="99060">
                        <a:lnSpc>
                          <a:spcPct val="100000"/>
                        </a:lnSpc>
                        <a:spcBef>
                          <a:spcPts val="245"/>
                        </a:spcBef>
                      </a:pPr>
                      <a:r>
                        <a:rPr sz="1400" dirty="0">
                          <a:latin typeface="Calibri"/>
                          <a:cs typeface="Calibri"/>
                        </a:rPr>
                        <a:t>Deformation</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9695">
                        <a:lnSpc>
                          <a:spcPct val="100000"/>
                        </a:lnSpc>
                        <a:spcBef>
                          <a:spcPts val="245"/>
                        </a:spcBef>
                      </a:pPr>
                      <a:r>
                        <a:rPr sz="1400" spc="25" dirty="0">
                          <a:latin typeface="Calibri"/>
                          <a:cs typeface="Calibri"/>
                        </a:rPr>
                        <a:t>13.607mm</a:t>
                      </a:r>
                      <a:endParaRPr sz="1400" dirty="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388843">
                <a:tc>
                  <a:txBody>
                    <a:bodyPr/>
                    <a:lstStyle/>
                    <a:p>
                      <a:pPr marL="99060">
                        <a:lnSpc>
                          <a:spcPct val="100000"/>
                        </a:lnSpc>
                        <a:spcBef>
                          <a:spcPts val="250"/>
                        </a:spcBef>
                      </a:pPr>
                      <a:r>
                        <a:rPr sz="1400" spc="85" dirty="0">
                          <a:latin typeface="Calibri"/>
                          <a:cs typeface="Calibri"/>
                        </a:rPr>
                        <a:t>I</a:t>
                      </a:r>
                      <a:r>
                        <a:rPr sz="1400" spc="-15" dirty="0">
                          <a:latin typeface="Calibri"/>
                          <a:cs typeface="Calibri"/>
                        </a:rPr>
                        <a:t>m</a:t>
                      </a:r>
                      <a:r>
                        <a:rPr sz="1400" spc="-5" dirty="0">
                          <a:latin typeface="Calibri"/>
                          <a:cs typeface="Calibri"/>
                        </a:rPr>
                        <a:t>p</a:t>
                      </a:r>
                      <a:r>
                        <a:rPr sz="1400" spc="-10" dirty="0">
                          <a:latin typeface="Calibri"/>
                          <a:cs typeface="Calibri"/>
                        </a:rPr>
                        <a:t>a</a:t>
                      </a:r>
                      <a:r>
                        <a:rPr sz="1400" dirty="0">
                          <a:latin typeface="Calibri"/>
                          <a:cs typeface="Calibri"/>
                        </a:rPr>
                        <a:t>ct</a:t>
                      </a:r>
                      <a:r>
                        <a:rPr sz="1400" spc="-120" dirty="0">
                          <a:latin typeface="Calibri"/>
                          <a:cs typeface="Calibri"/>
                        </a:rPr>
                        <a:t> </a:t>
                      </a:r>
                      <a:r>
                        <a:rPr sz="1400" spc="-30" dirty="0">
                          <a:latin typeface="Calibri"/>
                          <a:cs typeface="Calibri"/>
                        </a:rPr>
                        <a:t>ti</a:t>
                      </a:r>
                      <a:r>
                        <a:rPr sz="1400" spc="-15" dirty="0">
                          <a:latin typeface="Calibri"/>
                          <a:cs typeface="Calibri"/>
                        </a:rPr>
                        <a:t>m</a:t>
                      </a:r>
                      <a:r>
                        <a:rPr sz="1400" dirty="0">
                          <a:latin typeface="Calibri"/>
                          <a:cs typeface="Calibri"/>
                        </a:rPr>
                        <a:t>e</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9695">
                        <a:lnSpc>
                          <a:spcPct val="100000"/>
                        </a:lnSpc>
                        <a:spcBef>
                          <a:spcPts val="250"/>
                        </a:spcBef>
                      </a:pPr>
                      <a:r>
                        <a:rPr sz="1400" spc="20" dirty="0">
                          <a:latin typeface="Calibri"/>
                          <a:cs typeface="Calibri"/>
                        </a:rPr>
                        <a:t>1.69sec</a:t>
                      </a:r>
                      <a:endParaRPr sz="1400" dirty="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388843">
                <a:tc>
                  <a:txBody>
                    <a:bodyPr/>
                    <a:lstStyle/>
                    <a:p>
                      <a:pPr marL="99060">
                        <a:lnSpc>
                          <a:spcPct val="100000"/>
                        </a:lnSpc>
                        <a:spcBef>
                          <a:spcPts val="254"/>
                        </a:spcBef>
                      </a:pPr>
                      <a:r>
                        <a:rPr sz="1400" spc="-10" dirty="0">
                          <a:latin typeface="Calibri"/>
                          <a:cs typeface="Calibri"/>
                        </a:rPr>
                        <a:t>F.O.S</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9695">
                        <a:lnSpc>
                          <a:spcPct val="100000"/>
                        </a:lnSpc>
                        <a:spcBef>
                          <a:spcPts val="254"/>
                        </a:spcBef>
                      </a:pPr>
                      <a:r>
                        <a:rPr sz="1400" spc="20" dirty="0">
                          <a:latin typeface="Calibri"/>
                          <a:cs typeface="Calibri"/>
                        </a:rPr>
                        <a:t>1.1</a:t>
                      </a:r>
                      <a:endParaRPr sz="1400" dirty="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bl>
          </a:graphicData>
        </a:graphic>
      </p:graphicFrame>
      <p:pic>
        <p:nvPicPr>
          <p:cNvPr id="17" name="object 21"/>
          <p:cNvPicPr/>
          <p:nvPr/>
        </p:nvPicPr>
        <p:blipFill>
          <a:blip r:embed="rId2" cstate="print"/>
          <a:stretch>
            <a:fillRect/>
          </a:stretch>
        </p:blipFill>
        <p:spPr>
          <a:xfrm>
            <a:off x="550242" y="1484784"/>
            <a:ext cx="3444516" cy="1944216"/>
          </a:xfrm>
          <a:prstGeom prst="rect">
            <a:avLst/>
          </a:prstGeom>
        </p:spPr>
      </p:pic>
      <p:pic>
        <p:nvPicPr>
          <p:cNvPr id="18" name="object 22"/>
          <p:cNvPicPr/>
          <p:nvPr/>
        </p:nvPicPr>
        <p:blipFill>
          <a:blip r:embed="rId3" cstate="print"/>
          <a:stretch>
            <a:fillRect/>
          </a:stretch>
        </p:blipFill>
        <p:spPr>
          <a:xfrm>
            <a:off x="589142" y="3933056"/>
            <a:ext cx="3520113" cy="1690468"/>
          </a:xfrm>
          <a:prstGeom prst="rect">
            <a:avLst/>
          </a:prstGeom>
        </p:spPr>
      </p:pic>
      <p:sp>
        <p:nvSpPr>
          <p:cNvPr id="19" name="object 23"/>
          <p:cNvSpPr txBox="1"/>
          <p:nvPr/>
        </p:nvSpPr>
        <p:spPr>
          <a:xfrm>
            <a:off x="1426167" y="3539397"/>
            <a:ext cx="2261701" cy="293029"/>
          </a:xfrm>
          <a:prstGeom prst="rect">
            <a:avLst/>
          </a:prstGeom>
        </p:spPr>
        <p:txBody>
          <a:bodyPr vert="horz" wrap="square" lIns="0" tIns="15875" rIns="0" bIns="0" rtlCol="0">
            <a:spAutoFit/>
          </a:bodyPr>
          <a:lstStyle/>
          <a:p>
            <a:pPr marL="12700">
              <a:lnSpc>
                <a:spcPct val="100000"/>
              </a:lnSpc>
              <a:spcBef>
                <a:spcPts val="125"/>
              </a:spcBef>
            </a:pPr>
            <a:r>
              <a:rPr b="1" spc="-20" dirty="0">
                <a:latin typeface="Calibri"/>
                <a:cs typeface="Calibri"/>
              </a:rPr>
              <a:t>Tortional</a:t>
            </a:r>
            <a:r>
              <a:rPr b="1" spc="-15" dirty="0">
                <a:latin typeface="Calibri"/>
                <a:cs typeface="Calibri"/>
              </a:rPr>
              <a:t> </a:t>
            </a:r>
            <a:r>
              <a:rPr b="1" dirty="0">
                <a:latin typeface="Calibri"/>
                <a:cs typeface="Calibri"/>
              </a:rPr>
              <a:t>test</a:t>
            </a:r>
          </a:p>
        </p:txBody>
      </p:sp>
      <p:sp>
        <p:nvSpPr>
          <p:cNvPr id="20" name="object 24"/>
          <p:cNvSpPr txBox="1"/>
          <p:nvPr/>
        </p:nvSpPr>
        <p:spPr>
          <a:xfrm>
            <a:off x="1521338" y="5805264"/>
            <a:ext cx="3408621" cy="293029"/>
          </a:xfrm>
          <a:prstGeom prst="rect">
            <a:avLst/>
          </a:prstGeom>
        </p:spPr>
        <p:txBody>
          <a:bodyPr vert="horz" wrap="square" lIns="0" tIns="15875" rIns="0" bIns="0" rtlCol="0">
            <a:spAutoFit/>
          </a:bodyPr>
          <a:lstStyle/>
          <a:p>
            <a:pPr marL="12700">
              <a:lnSpc>
                <a:spcPct val="100000"/>
              </a:lnSpc>
              <a:spcBef>
                <a:spcPts val="125"/>
              </a:spcBef>
            </a:pPr>
            <a:r>
              <a:rPr b="1" dirty="0">
                <a:latin typeface="Calibri"/>
                <a:cs typeface="Calibri"/>
              </a:rPr>
              <a:t>Bump</a:t>
            </a:r>
            <a:r>
              <a:rPr b="1" spc="-75" dirty="0">
                <a:latin typeface="Calibri"/>
                <a:cs typeface="Calibri"/>
              </a:rPr>
              <a:t> </a:t>
            </a:r>
            <a:r>
              <a:rPr b="1" dirty="0">
                <a:latin typeface="Calibri"/>
                <a:cs typeface="Calibri"/>
              </a:rPr>
              <a:t>test</a:t>
            </a:r>
          </a:p>
        </p:txBody>
      </p:sp>
    </p:spTree>
    <p:extLst>
      <p:ext uri="{BB962C8B-B14F-4D97-AF65-F5344CB8AC3E}">
        <p14:creationId xmlns:p14="http://schemas.microsoft.com/office/powerpoint/2010/main" val="358747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lstStyle/>
          <a:p>
            <a:r>
              <a:rPr lang="en-US" b="1" dirty="0" smtClean="0"/>
              <a:t>CAE Analysis of Roll cage</a:t>
            </a:r>
            <a:endParaRPr lang="en-IN" b="1" dirty="0"/>
          </a:p>
        </p:txBody>
      </p:sp>
      <p:graphicFrame>
        <p:nvGraphicFramePr>
          <p:cNvPr id="10" name="object 3"/>
          <p:cNvGraphicFramePr>
            <a:graphicFrameLocks noGrp="1"/>
          </p:cNvGraphicFramePr>
          <p:nvPr>
            <p:extLst>
              <p:ext uri="{D42A27DB-BD31-4B8C-83A1-F6EECF244321}">
                <p14:modId xmlns:p14="http://schemas.microsoft.com/office/powerpoint/2010/main" val="3633693780"/>
              </p:ext>
            </p:extLst>
          </p:nvPr>
        </p:nvGraphicFramePr>
        <p:xfrm>
          <a:off x="971600" y="1124744"/>
          <a:ext cx="7056784" cy="5256584"/>
        </p:xfrm>
        <a:graphic>
          <a:graphicData uri="http://schemas.openxmlformats.org/drawingml/2006/table">
            <a:tbl>
              <a:tblPr firstRow="1" bandRow="1">
                <a:tableStyleId>{2D5ABB26-0587-4C30-8999-92F81FD0307C}</a:tableStyleId>
              </a:tblPr>
              <a:tblGrid>
                <a:gridCol w="1931254">
                  <a:extLst>
                    <a:ext uri="{9D8B030D-6E8A-4147-A177-3AD203B41FA5}">
                      <a16:colId xmlns:a16="http://schemas.microsoft.com/office/drawing/2014/main" xmlns="" val="20000"/>
                    </a:ext>
                  </a:extLst>
                </a:gridCol>
                <a:gridCol w="1942266">
                  <a:extLst>
                    <a:ext uri="{9D8B030D-6E8A-4147-A177-3AD203B41FA5}">
                      <a16:colId xmlns:a16="http://schemas.microsoft.com/office/drawing/2014/main" xmlns="" val="20001"/>
                    </a:ext>
                  </a:extLst>
                </a:gridCol>
                <a:gridCol w="1641199">
                  <a:extLst>
                    <a:ext uri="{9D8B030D-6E8A-4147-A177-3AD203B41FA5}">
                      <a16:colId xmlns:a16="http://schemas.microsoft.com/office/drawing/2014/main" xmlns="" val="20003"/>
                    </a:ext>
                  </a:extLst>
                </a:gridCol>
                <a:gridCol w="1542065">
                  <a:extLst>
                    <a:ext uri="{9D8B030D-6E8A-4147-A177-3AD203B41FA5}">
                      <a16:colId xmlns:a16="http://schemas.microsoft.com/office/drawing/2014/main" xmlns="" val="20004"/>
                    </a:ext>
                  </a:extLst>
                </a:gridCol>
              </a:tblGrid>
              <a:tr h="826641">
                <a:tc>
                  <a:txBody>
                    <a:bodyPr/>
                    <a:lstStyle/>
                    <a:p>
                      <a:pPr marL="95885">
                        <a:lnSpc>
                          <a:spcPct val="100000"/>
                        </a:lnSpc>
                        <a:spcBef>
                          <a:spcPts val="1115"/>
                        </a:spcBef>
                      </a:pPr>
                      <a:r>
                        <a:rPr sz="1400" b="1" spc="15" dirty="0">
                          <a:latin typeface="Calibri"/>
                          <a:cs typeface="Calibri"/>
                        </a:rPr>
                        <a:t>Material</a:t>
                      </a:r>
                      <a:endParaRPr sz="1400">
                        <a:latin typeface="Calibri"/>
                        <a:cs typeface="Calibri"/>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6520">
                        <a:lnSpc>
                          <a:spcPct val="100000"/>
                        </a:lnSpc>
                        <a:spcBef>
                          <a:spcPts val="1115"/>
                        </a:spcBef>
                      </a:pPr>
                      <a:r>
                        <a:rPr sz="1400" b="1" spc="30" dirty="0">
                          <a:latin typeface="Calibri"/>
                          <a:cs typeface="Calibri"/>
                        </a:rPr>
                        <a:t>A</a:t>
                      </a:r>
                      <a:r>
                        <a:rPr sz="1400" b="1" spc="-10" dirty="0">
                          <a:latin typeface="Calibri"/>
                          <a:cs typeface="Calibri"/>
                        </a:rPr>
                        <a:t>I</a:t>
                      </a:r>
                      <a:r>
                        <a:rPr sz="1400" b="1" dirty="0">
                          <a:latin typeface="Calibri"/>
                          <a:cs typeface="Calibri"/>
                        </a:rPr>
                        <a:t>SI</a:t>
                      </a:r>
                      <a:r>
                        <a:rPr sz="1400" b="1" spc="-95" dirty="0">
                          <a:latin typeface="Calibri"/>
                          <a:cs typeface="Calibri"/>
                        </a:rPr>
                        <a:t> </a:t>
                      </a:r>
                      <a:r>
                        <a:rPr sz="1400" b="1" spc="25" dirty="0">
                          <a:latin typeface="Calibri"/>
                          <a:cs typeface="Calibri"/>
                        </a:rPr>
                        <a:t>4130</a:t>
                      </a:r>
                      <a:endParaRPr sz="1400">
                        <a:latin typeface="Calibri"/>
                        <a:cs typeface="Calibri"/>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7155" marR="363855">
                        <a:lnSpc>
                          <a:spcPct val="102800"/>
                        </a:lnSpc>
                        <a:spcBef>
                          <a:spcPts val="225"/>
                        </a:spcBef>
                      </a:pPr>
                      <a:r>
                        <a:rPr sz="1400" b="1" spc="15" dirty="0">
                          <a:latin typeface="Calibri"/>
                          <a:cs typeface="Calibri"/>
                        </a:rPr>
                        <a:t>AISI </a:t>
                      </a:r>
                      <a:r>
                        <a:rPr sz="1400" b="1" spc="20" dirty="0">
                          <a:latin typeface="Calibri"/>
                          <a:cs typeface="Calibri"/>
                        </a:rPr>
                        <a:t> </a:t>
                      </a:r>
                      <a:r>
                        <a:rPr sz="1400" b="1" spc="25" dirty="0">
                          <a:latin typeface="Calibri"/>
                          <a:cs typeface="Calibri"/>
                        </a:rPr>
                        <a:t>1018</a:t>
                      </a:r>
                      <a:endParaRPr sz="1400">
                        <a:latin typeface="Calibri"/>
                        <a:cs typeface="Calibri"/>
                      </a:endParaRPr>
                    </a:p>
                  </a:txBody>
                  <a:tcPr marL="0" marR="0" marT="28575"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C7C30"/>
                    </a:solidFill>
                  </a:tcPr>
                </a:tc>
                <a:tc>
                  <a:txBody>
                    <a:bodyPr/>
                    <a:lstStyle/>
                    <a:p>
                      <a:pPr marL="97790" marR="311785">
                        <a:lnSpc>
                          <a:spcPct val="102800"/>
                        </a:lnSpc>
                        <a:spcBef>
                          <a:spcPts val="225"/>
                        </a:spcBef>
                      </a:pPr>
                      <a:r>
                        <a:rPr sz="1400" b="1" spc="15" dirty="0">
                          <a:latin typeface="Calibri"/>
                          <a:cs typeface="Calibri"/>
                        </a:rPr>
                        <a:t>AISI </a:t>
                      </a:r>
                      <a:r>
                        <a:rPr sz="1400" b="1" spc="20" dirty="0">
                          <a:latin typeface="Calibri"/>
                          <a:cs typeface="Calibri"/>
                        </a:rPr>
                        <a:t> </a:t>
                      </a:r>
                      <a:r>
                        <a:rPr sz="1400" b="1" spc="25" dirty="0">
                          <a:latin typeface="Calibri"/>
                          <a:cs typeface="Calibri"/>
                        </a:rPr>
                        <a:t>1020</a:t>
                      </a:r>
                      <a:endParaRPr sz="14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extLst>
                  <a:ext uri="{0D108BD9-81ED-4DB2-BD59-A6C34878D82A}">
                    <a16:rowId xmlns:a16="http://schemas.microsoft.com/office/drawing/2014/main" xmlns="" val="10000"/>
                  </a:ext>
                </a:extLst>
              </a:tr>
              <a:tr h="486260">
                <a:tc>
                  <a:txBody>
                    <a:bodyPr/>
                    <a:lstStyle/>
                    <a:p>
                      <a:pPr marL="95885">
                        <a:lnSpc>
                          <a:spcPct val="100000"/>
                        </a:lnSpc>
                        <a:spcBef>
                          <a:spcPts val="280"/>
                        </a:spcBef>
                      </a:pPr>
                      <a:r>
                        <a:rPr sz="1400" b="1" spc="-25" dirty="0">
                          <a:latin typeface="Calibri"/>
                          <a:cs typeface="Calibri"/>
                        </a:rPr>
                        <a:t>UTS</a:t>
                      </a:r>
                      <a:endParaRPr sz="14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6520">
                        <a:lnSpc>
                          <a:spcPct val="100000"/>
                        </a:lnSpc>
                        <a:spcBef>
                          <a:spcPts val="280"/>
                        </a:spcBef>
                      </a:pPr>
                      <a:r>
                        <a:rPr sz="1400" spc="20" dirty="0">
                          <a:latin typeface="Calibri"/>
                          <a:cs typeface="Calibri"/>
                        </a:rPr>
                        <a:t>560Mpa</a:t>
                      </a:r>
                      <a:endParaRPr sz="1400">
                        <a:latin typeface="Calibri"/>
                        <a:cs typeface="Calibri"/>
                      </a:endParaRPr>
                    </a:p>
                  </a:txBody>
                  <a:tcPr marL="0" marR="0" marT="35560" marB="0">
                    <a:lnL w="12700">
                      <a:solidFill>
                        <a:srgbClr val="FFFFFF"/>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tc>
                  <a:txBody>
                    <a:bodyPr/>
                    <a:lstStyle/>
                    <a:p>
                      <a:pPr marL="97155">
                        <a:lnSpc>
                          <a:spcPct val="100000"/>
                        </a:lnSpc>
                        <a:spcBef>
                          <a:spcPts val="280"/>
                        </a:spcBef>
                      </a:pPr>
                      <a:r>
                        <a:rPr sz="1400" spc="20" dirty="0">
                          <a:latin typeface="Calibri"/>
                          <a:cs typeface="Calibri"/>
                        </a:rPr>
                        <a:t>440Mpa</a:t>
                      </a:r>
                      <a:endParaRPr sz="1400">
                        <a:latin typeface="Calibri"/>
                        <a:cs typeface="Calibri"/>
                      </a:endParaRPr>
                    </a:p>
                  </a:txBody>
                  <a:tcPr marL="0" marR="0" marT="35560" marB="0">
                    <a:lnL w="12700" cap="flat" cmpd="sng" algn="ctr">
                      <a:solidFill>
                        <a:srgbClr val="EC7C30"/>
                      </a:solidFill>
                      <a:prstDash val="solid"/>
                      <a:round/>
                      <a:headEnd type="none" w="med" len="med"/>
                      <a:tailEnd type="none" w="med" len="med"/>
                    </a:lnL>
                    <a:lnR w="12700">
                      <a:solidFill>
                        <a:srgbClr val="EC7C30"/>
                      </a:solidFill>
                      <a:prstDash val="solid"/>
                    </a:lnR>
                    <a:lnT w="12700" cap="flat" cmpd="sng" algn="ctr">
                      <a:solidFill>
                        <a:srgbClr val="FFFFFF"/>
                      </a:solidFill>
                      <a:prstDash val="solid"/>
                      <a:round/>
                      <a:headEnd type="none" w="med" len="med"/>
                      <a:tailEnd type="none" w="med" len="med"/>
                    </a:lnT>
                    <a:lnB w="12700" cap="flat" cmpd="sng" algn="ctr">
                      <a:solidFill>
                        <a:srgbClr val="EC7C30"/>
                      </a:solidFill>
                      <a:prstDash val="solid"/>
                      <a:round/>
                      <a:headEnd type="none" w="med" len="med"/>
                      <a:tailEnd type="none" w="med" len="med"/>
                    </a:lnB>
                    <a:solidFill>
                      <a:srgbClr val="FBE4D5"/>
                    </a:solidFill>
                  </a:tcPr>
                </a:tc>
                <a:tc>
                  <a:txBody>
                    <a:bodyPr/>
                    <a:lstStyle/>
                    <a:p>
                      <a:pPr marL="97790">
                        <a:lnSpc>
                          <a:spcPct val="100000"/>
                        </a:lnSpc>
                        <a:spcBef>
                          <a:spcPts val="280"/>
                        </a:spcBef>
                      </a:pPr>
                      <a:r>
                        <a:rPr sz="1400" spc="20" dirty="0">
                          <a:latin typeface="Calibri"/>
                          <a:cs typeface="Calibri"/>
                        </a:rPr>
                        <a:t>395Mpa</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486260">
                <a:tc>
                  <a:txBody>
                    <a:bodyPr/>
                    <a:lstStyle/>
                    <a:p>
                      <a:pPr marL="95885">
                        <a:lnSpc>
                          <a:spcPct val="100000"/>
                        </a:lnSpc>
                        <a:spcBef>
                          <a:spcPts val="280"/>
                        </a:spcBef>
                      </a:pPr>
                      <a:r>
                        <a:rPr sz="1400" b="1" spc="5" dirty="0">
                          <a:latin typeface="Calibri"/>
                          <a:cs typeface="Calibri"/>
                        </a:rPr>
                        <a:t>Y</a:t>
                      </a:r>
                      <a:r>
                        <a:rPr sz="1400" b="1" spc="20" dirty="0">
                          <a:latin typeface="Calibri"/>
                          <a:cs typeface="Calibri"/>
                        </a:rPr>
                        <a:t>i</a:t>
                      </a:r>
                      <a:r>
                        <a:rPr sz="1400" b="1" spc="25" dirty="0">
                          <a:latin typeface="Calibri"/>
                          <a:cs typeface="Calibri"/>
                        </a:rPr>
                        <a:t>e</a:t>
                      </a:r>
                      <a:r>
                        <a:rPr sz="1400" b="1" spc="20" dirty="0">
                          <a:latin typeface="Calibri"/>
                          <a:cs typeface="Calibri"/>
                        </a:rPr>
                        <a:t>l</a:t>
                      </a:r>
                      <a:r>
                        <a:rPr sz="1400" b="1" dirty="0">
                          <a:latin typeface="Calibri"/>
                          <a:cs typeface="Calibri"/>
                        </a:rPr>
                        <a:t>d</a:t>
                      </a:r>
                      <a:r>
                        <a:rPr sz="1400" b="1" spc="-100" dirty="0">
                          <a:latin typeface="Calibri"/>
                          <a:cs typeface="Calibri"/>
                        </a:rPr>
                        <a:t> </a:t>
                      </a:r>
                      <a:r>
                        <a:rPr sz="1400" b="1" spc="30" dirty="0">
                          <a:latin typeface="Calibri"/>
                          <a:cs typeface="Calibri"/>
                        </a:rPr>
                        <a:t>st</a:t>
                      </a:r>
                      <a:endParaRPr sz="14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6520">
                        <a:lnSpc>
                          <a:spcPct val="100000"/>
                        </a:lnSpc>
                        <a:spcBef>
                          <a:spcPts val="280"/>
                        </a:spcBef>
                      </a:pPr>
                      <a:r>
                        <a:rPr sz="1400" spc="20" dirty="0">
                          <a:latin typeface="Calibri"/>
                          <a:cs typeface="Calibri"/>
                        </a:rPr>
                        <a:t>460Mpa</a:t>
                      </a:r>
                      <a:endParaRPr sz="1400">
                        <a:latin typeface="Calibri"/>
                        <a:cs typeface="Calibri"/>
                      </a:endParaRPr>
                    </a:p>
                  </a:txBody>
                  <a:tcPr marL="0" marR="0" marT="35560" marB="0">
                    <a:lnL w="12700">
                      <a:solidFill>
                        <a:srgbClr val="FFFFFF"/>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155">
                        <a:lnSpc>
                          <a:spcPct val="100000"/>
                        </a:lnSpc>
                        <a:spcBef>
                          <a:spcPts val="280"/>
                        </a:spcBef>
                      </a:pPr>
                      <a:r>
                        <a:rPr sz="1400" spc="20" dirty="0">
                          <a:latin typeface="Calibri"/>
                          <a:cs typeface="Calibri"/>
                        </a:rPr>
                        <a:t>370Mpa</a:t>
                      </a:r>
                      <a:endParaRPr sz="1400">
                        <a:latin typeface="Calibri"/>
                        <a:cs typeface="Calibri"/>
                      </a:endParaRPr>
                    </a:p>
                  </a:txBody>
                  <a:tcPr marL="0" marR="0" marT="35560" marB="0">
                    <a:lnL w="12700" cap="flat" cmpd="sng" algn="ctr">
                      <a:solidFill>
                        <a:srgbClr val="EC7C30"/>
                      </a:solidFill>
                      <a:prstDash val="solid"/>
                      <a:round/>
                      <a:headEnd type="none" w="med" len="med"/>
                      <a:tailEnd type="none" w="med" len="med"/>
                    </a:lnL>
                    <a:lnR w="12700">
                      <a:solidFill>
                        <a:srgbClr val="EC7C30"/>
                      </a:solidFill>
                      <a:prstDash val="solid"/>
                    </a:lnR>
                    <a:lnT w="12700" cap="flat" cmpd="sng" algn="ctr">
                      <a:solidFill>
                        <a:srgbClr val="EC7C30"/>
                      </a:solidFill>
                      <a:prstDash val="solid"/>
                      <a:round/>
                      <a:headEnd type="none" w="med" len="med"/>
                      <a:tailEnd type="none" w="med" len="med"/>
                    </a:lnT>
                    <a:lnB w="12700" cap="flat" cmpd="sng" algn="ctr">
                      <a:solidFill>
                        <a:srgbClr val="EC7C30"/>
                      </a:solidFill>
                      <a:prstDash val="solid"/>
                      <a:round/>
                      <a:headEnd type="none" w="med" len="med"/>
                      <a:tailEnd type="none" w="med" len="med"/>
                    </a:lnB>
                  </a:tcPr>
                </a:tc>
                <a:tc>
                  <a:txBody>
                    <a:bodyPr/>
                    <a:lstStyle/>
                    <a:p>
                      <a:pPr marL="97790">
                        <a:lnSpc>
                          <a:spcPct val="100000"/>
                        </a:lnSpc>
                        <a:spcBef>
                          <a:spcPts val="280"/>
                        </a:spcBef>
                      </a:pPr>
                      <a:r>
                        <a:rPr sz="1400" spc="20" dirty="0">
                          <a:latin typeface="Calibri"/>
                          <a:cs typeface="Calibri"/>
                        </a:rPr>
                        <a:t>295Mpa</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1167022">
                <a:tc>
                  <a:txBody>
                    <a:bodyPr/>
                    <a:lstStyle/>
                    <a:p>
                      <a:pPr marL="95885" marR="215265">
                        <a:lnSpc>
                          <a:spcPct val="102899"/>
                        </a:lnSpc>
                        <a:spcBef>
                          <a:spcPts val="1080"/>
                        </a:spcBef>
                      </a:pPr>
                      <a:r>
                        <a:rPr sz="1400" b="1" spc="-10" dirty="0">
                          <a:latin typeface="Calibri"/>
                          <a:cs typeface="Calibri"/>
                        </a:rPr>
                        <a:t>C</a:t>
                      </a:r>
                      <a:r>
                        <a:rPr sz="1400" b="1" spc="-20" dirty="0">
                          <a:latin typeface="Calibri"/>
                          <a:cs typeface="Calibri"/>
                        </a:rPr>
                        <a:t>h</a:t>
                      </a:r>
                      <a:r>
                        <a:rPr sz="1400" b="1" spc="25" dirty="0">
                          <a:latin typeface="Calibri"/>
                          <a:cs typeface="Calibri"/>
                        </a:rPr>
                        <a:t>e</a:t>
                      </a:r>
                      <a:r>
                        <a:rPr sz="1400" b="1" spc="-35" dirty="0">
                          <a:latin typeface="Calibri"/>
                          <a:cs typeface="Calibri"/>
                        </a:rPr>
                        <a:t>m</a:t>
                      </a:r>
                      <a:r>
                        <a:rPr sz="1400" b="1" spc="20" dirty="0">
                          <a:latin typeface="Calibri"/>
                          <a:cs typeface="Calibri"/>
                        </a:rPr>
                        <a:t>i</a:t>
                      </a:r>
                      <a:r>
                        <a:rPr sz="1400" b="1" spc="-5" dirty="0">
                          <a:latin typeface="Calibri"/>
                          <a:cs typeface="Calibri"/>
                        </a:rPr>
                        <a:t>c</a:t>
                      </a:r>
                      <a:r>
                        <a:rPr sz="1400" b="1" spc="-30" dirty="0">
                          <a:latin typeface="Calibri"/>
                          <a:cs typeface="Calibri"/>
                        </a:rPr>
                        <a:t>a</a:t>
                      </a:r>
                      <a:r>
                        <a:rPr sz="1400" b="1" dirty="0">
                          <a:latin typeface="Calibri"/>
                          <a:cs typeface="Calibri"/>
                        </a:rPr>
                        <a:t>l  comp</a:t>
                      </a:r>
                      <a:endParaRPr sz="1400">
                        <a:latin typeface="Calibri"/>
                        <a:cs typeface="Calibri"/>
                      </a:endParaRPr>
                    </a:p>
                  </a:txBody>
                  <a:tcPr marL="0" marR="0" marT="1371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210820" marR="237490" indent="-114300">
                        <a:lnSpc>
                          <a:spcPct val="102899"/>
                        </a:lnSpc>
                        <a:spcBef>
                          <a:spcPts val="1080"/>
                        </a:spcBef>
                      </a:pPr>
                      <a:r>
                        <a:rPr sz="1400" spc="-15" dirty="0">
                          <a:latin typeface="Calibri"/>
                          <a:cs typeface="Calibri"/>
                        </a:rPr>
                        <a:t>C</a:t>
                      </a:r>
                      <a:r>
                        <a:rPr sz="1400" spc="-10" dirty="0">
                          <a:latin typeface="Calibri"/>
                          <a:cs typeface="Calibri"/>
                        </a:rPr>
                        <a:t>:</a:t>
                      </a:r>
                      <a:r>
                        <a:rPr sz="1400" spc="25" dirty="0">
                          <a:latin typeface="Calibri"/>
                          <a:cs typeface="Calibri"/>
                        </a:rPr>
                        <a:t>0</a:t>
                      </a:r>
                      <a:r>
                        <a:rPr sz="1400" spc="15" dirty="0">
                          <a:latin typeface="Calibri"/>
                          <a:cs typeface="Calibri"/>
                        </a:rPr>
                        <a:t>.</a:t>
                      </a:r>
                      <a:r>
                        <a:rPr sz="1400" spc="25" dirty="0">
                          <a:latin typeface="Calibri"/>
                          <a:cs typeface="Calibri"/>
                        </a:rPr>
                        <a:t>28%</a:t>
                      </a:r>
                      <a:r>
                        <a:rPr sz="1400" dirty="0">
                          <a:latin typeface="Calibri"/>
                          <a:cs typeface="Calibri"/>
                        </a:rPr>
                        <a:t>-  </a:t>
                      </a:r>
                      <a:r>
                        <a:rPr sz="1400" spc="30" dirty="0">
                          <a:latin typeface="Calibri"/>
                          <a:cs typeface="Calibri"/>
                        </a:rPr>
                        <a:t>0.33%</a:t>
                      </a:r>
                      <a:endParaRPr sz="1400">
                        <a:latin typeface="Calibri"/>
                        <a:cs typeface="Calibri"/>
                      </a:endParaRPr>
                    </a:p>
                  </a:txBody>
                  <a:tcPr marL="0" marR="0" marT="137160" marB="0">
                    <a:lnL w="12700">
                      <a:solidFill>
                        <a:srgbClr val="FFFFFF"/>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R="2540" algn="ctr">
                        <a:lnSpc>
                          <a:spcPct val="100000"/>
                        </a:lnSpc>
                        <a:spcBef>
                          <a:spcPts val="284"/>
                        </a:spcBef>
                      </a:pPr>
                      <a:r>
                        <a:rPr sz="1400" dirty="0">
                          <a:latin typeface="Calibri"/>
                          <a:cs typeface="Calibri"/>
                        </a:rPr>
                        <a:t>C:0.14%-</a:t>
                      </a:r>
                      <a:endParaRPr sz="1400">
                        <a:latin typeface="Calibri"/>
                        <a:cs typeface="Calibri"/>
                      </a:endParaRPr>
                    </a:p>
                    <a:p>
                      <a:pPr>
                        <a:lnSpc>
                          <a:spcPct val="100000"/>
                        </a:lnSpc>
                        <a:spcBef>
                          <a:spcPts val="30"/>
                        </a:spcBef>
                      </a:pPr>
                      <a:endParaRPr sz="1450">
                        <a:latin typeface="Times New Roman"/>
                        <a:cs typeface="Times New Roman"/>
                      </a:endParaRPr>
                    </a:p>
                    <a:p>
                      <a:pPr marL="34925" algn="ctr">
                        <a:lnSpc>
                          <a:spcPct val="100000"/>
                        </a:lnSpc>
                      </a:pPr>
                      <a:r>
                        <a:rPr sz="1400" spc="30" dirty="0">
                          <a:latin typeface="Calibri"/>
                          <a:cs typeface="Calibri"/>
                        </a:rPr>
                        <a:t>0.20%</a:t>
                      </a:r>
                      <a:endParaRPr sz="1400">
                        <a:latin typeface="Calibri"/>
                        <a:cs typeface="Calibri"/>
                      </a:endParaRPr>
                    </a:p>
                  </a:txBody>
                  <a:tcPr marL="0" marR="0" marT="36194" marB="0">
                    <a:lnL w="12700" cap="flat" cmpd="sng" algn="ctr">
                      <a:solidFill>
                        <a:srgbClr val="EC7C30"/>
                      </a:solidFill>
                      <a:prstDash val="solid"/>
                      <a:round/>
                      <a:headEnd type="none" w="med" len="med"/>
                      <a:tailEnd type="none" w="med" len="med"/>
                    </a:lnL>
                    <a:lnR w="12700">
                      <a:solidFill>
                        <a:srgbClr val="EC7C30"/>
                      </a:solidFill>
                      <a:prstDash val="solid"/>
                    </a:lnR>
                    <a:lnT w="12700" cap="flat" cmpd="sng" algn="ctr">
                      <a:solidFill>
                        <a:srgbClr val="EC7C30"/>
                      </a:solidFill>
                      <a:prstDash val="solid"/>
                      <a:round/>
                      <a:headEnd type="none" w="med" len="med"/>
                      <a:tailEnd type="none" w="med" len="med"/>
                    </a:lnT>
                    <a:lnB w="12700" cap="flat" cmpd="sng" algn="ctr">
                      <a:solidFill>
                        <a:srgbClr val="EC7C30"/>
                      </a:solidFill>
                      <a:prstDash val="solid"/>
                      <a:round/>
                      <a:headEnd type="none" w="med" len="med"/>
                      <a:tailEnd type="none" w="med" len="med"/>
                    </a:lnB>
                    <a:solidFill>
                      <a:srgbClr val="FBE4D5"/>
                    </a:solidFill>
                  </a:tcPr>
                </a:tc>
                <a:tc>
                  <a:txBody>
                    <a:bodyPr/>
                    <a:lstStyle/>
                    <a:p>
                      <a:pPr marL="97790">
                        <a:lnSpc>
                          <a:spcPct val="100000"/>
                        </a:lnSpc>
                        <a:spcBef>
                          <a:spcPts val="284"/>
                        </a:spcBef>
                      </a:pPr>
                      <a:r>
                        <a:rPr sz="1400" dirty="0">
                          <a:latin typeface="Calibri"/>
                          <a:cs typeface="Calibri"/>
                        </a:rPr>
                        <a:t>C:0.17%</a:t>
                      </a:r>
                      <a:endParaRPr sz="1400">
                        <a:latin typeface="Calibri"/>
                        <a:cs typeface="Calibri"/>
                      </a:endParaRPr>
                    </a:p>
                    <a:p>
                      <a:pPr marL="97790">
                        <a:lnSpc>
                          <a:spcPts val="1664"/>
                        </a:lnSpc>
                        <a:spcBef>
                          <a:spcPts val="45"/>
                        </a:spcBef>
                      </a:pPr>
                      <a:r>
                        <a:rPr sz="1400" dirty="0">
                          <a:latin typeface="Calibri"/>
                          <a:cs typeface="Calibri"/>
                        </a:rPr>
                        <a:t>-</a:t>
                      </a:r>
                      <a:endParaRPr sz="1400">
                        <a:latin typeface="Calibri"/>
                        <a:cs typeface="Calibri"/>
                      </a:endParaRPr>
                    </a:p>
                    <a:p>
                      <a:pPr marL="260350">
                        <a:lnSpc>
                          <a:spcPts val="1664"/>
                        </a:lnSpc>
                      </a:pPr>
                      <a:r>
                        <a:rPr sz="1400" spc="30" dirty="0">
                          <a:latin typeface="Calibri"/>
                          <a:cs typeface="Calibri"/>
                        </a:rPr>
                        <a:t>0.23%</a:t>
                      </a:r>
                      <a:endParaRPr sz="1400">
                        <a:latin typeface="Calibri"/>
                        <a:cs typeface="Calibri"/>
                      </a:endParaRPr>
                    </a:p>
                  </a:txBody>
                  <a:tcPr marL="0" marR="0" marT="3619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513155">
                <a:tc>
                  <a:txBody>
                    <a:bodyPr/>
                    <a:lstStyle/>
                    <a:p>
                      <a:pPr marL="95885">
                        <a:lnSpc>
                          <a:spcPct val="100000"/>
                        </a:lnSpc>
                        <a:spcBef>
                          <a:spcPts val="295"/>
                        </a:spcBef>
                      </a:pPr>
                      <a:r>
                        <a:rPr sz="1400" b="1" spc="5" dirty="0">
                          <a:latin typeface="Calibri"/>
                          <a:cs typeface="Calibri"/>
                        </a:rPr>
                        <a:t>Elongation</a:t>
                      </a:r>
                      <a:endParaRPr sz="1400">
                        <a:latin typeface="Calibri"/>
                        <a:cs typeface="Calibri"/>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6520">
                        <a:lnSpc>
                          <a:spcPct val="100000"/>
                        </a:lnSpc>
                        <a:spcBef>
                          <a:spcPts val="295"/>
                        </a:spcBef>
                      </a:pPr>
                      <a:r>
                        <a:rPr sz="1400" spc="30" dirty="0">
                          <a:latin typeface="Calibri"/>
                          <a:cs typeface="Calibri"/>
                        </a:rPr>
                        <a:t>21.50%</a:t>
                      </a:r>
                      <a:endParaRPr sz="1400">
                        <a:latin typeface="Calibri"/>
                        <a:cs typeface="Calibri"/>
                      </a:endParaRPr>
                    </a:p>
                  </a:txBody>
                  <a:tcPr marL="0" marR="0" marT="37465" marB="0">
                    <a:lnL w="12700">
                      <a:solidFill>
                        <a:srgbClr val="FFFFFF"/>
                      </a:solidFill>
                      <a:prstDash val="solid"/>
                    </a:lnL>
                    <a:lnR w="12700">
                      <a:solidFill>
                        <a:srgbClr val="EC7C30"/>
                      </a:solidFill>
                      <a:prstDash val="solid"/>
                    </a:lnR>
                    <a:lnT w="12700">
                      <a:solidFill>
                        <a:srgbClr val="EC7C30"/>
                      </a:solidFill>
                      <a:prstDash val="solid"/>
                    </a:lnT>
                    <a:lnB w="12700" cap="flat" cmpd="sng" algn="ctr">
                      <a:solidFill>
                        <a:srgbClr val="EC7C30"/>
                      </a:solidFill>
                      <a:prstDash val="solid"/>
                      <a:round/>
                      <a:headEnd type="none" w="med" len="med"/>
                      <a:tailEnd type="none" w="med" len="med"/>
                    </a:lnB>
                  </a:tcPr>
                </a:tc>
                <a:tc>
                  <a:txBody>
                    <a:bodyPr/>
                    <a:lstStyle/>
                    <a:p>
                      <a:pPr marL="97155">
                        <a:lnSpc>
                          <a:spcPct val="100000"/>
                        </a:lnSpc>
                        <a:spcBef>
                          <a:spcPts val="295"/>
                        </a:spcBef>
                      </a:pPr>
                      <a:r>
                        <a:rPr sz="1400" spc="30" dirty="0">
                          <a:latin typeface="Calibri"/>
                          <a:cs typeface="Calibri"/>
                        </a:rPr>
                        <a:t>15.00%</a:t>
                      </a:r>
                      <a:endParaRPr sz="1400">
                        <a:latin typeface="Calibri"/>
                        <a:cs typeface="Calibri"/>
                      </a:endParaRPr>
                    </a:p>
                  </a:txBody>
                  <a:tcPr marL="0" marR="0" marT="37465" marB="0">
                    <a:lnL w="12700" cap="flat" cmpd="sng" algn="ctr">
                      <a:solidFill>
                        <a:srgbClr val="EC7C30"/>
                      </a:solidFill>
                      <a:prstDash val="solid"/>
                      <a:round/>
                      <a:headEnd type="none" w="med" len="med"/>
                      <a:tailEnd type="none" w="med" len="med"/>
                    </a:lnL>
                    <a:lnR w="12700">
                      <a:solidFill>
                        <a:srgbClr val="EC7C30"/>
                      </a:solidFill>
                      <a:prstDash val="solid"/>
                    </a:lnR>
                    <a:lnT w="12700" cap="flat" cmpd="sng" algn="ctr">
                      <a:solidFill>
                        <a:srgbClr val="EC7C30"/>
                      </a:solidFill>
                      <a:prstDash val="solid"/>
                      <a:round/>
                      <a:headEnd type="none" w="med" len="med"/>
                      <a:tailEnd type="none" w="med" len="med"/>
                    </a:lnT>
                    <a:lnB w="12700" cap="flat" cmpd="sng" algn="ctr">
                      <a:solidFill>
                        <a:srgbClr val="EC7C30"/>
                      </a:solidFill>
                      <a:prstDash val="solid"/>
                      <a:round/>
                      <a:headEnd type="none" w="med" len="med"/>
                      <a:tailEnd type="none" w="med" len="med"/>
                    </a:lnB>
                  </a:tcPr>
                </a:tc>
                <a:tc>
                  <a:txBody>
                    <a:bodyPr/>
                    <a:lstStyle/>
                    <a:p>
                      <a:pPr marL="97790">
                        <a:lnSpc>
                          <a:spcPct val="100000"/>
                        </a:lnSpc>
                        <a:spcBef>
                          <a:spcPts val="295"/>
                        </a:spcBef>
                      </a:pPr>
                      <a:r>
                        <a:rPr sz="1400" spc="30" dirty="0">
                          <a:latin typeface="Calibri"/>
                          <a:cs typeface="Calibri"/>
                        </a:rPr>
                        <a:t>36.50%</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r h="580583">
                <a:tc>
                  <a:txBody>
                    <a:bodyPr/>
                    <a:lstStyle/>
                    <a:p>
                      <a:pPr marL="77470">
                        <a:lnSpc>
                          <a:spcPct val="100000"/>
                        </a:lnSpc>
                        <a:spcBef>
                          <a:spcPts val="595"/>
                        </a:spcBef>
                      </a:pPr>
                      <a:r>
                        <a:rPr sz="1400" b="1" spc="5" dirty="0">
                          <a:latin typeface="Calibri"/>
                          <a:cs typeface="Calibri"/>
                        </a:rPr>
                        <a:t>O</a:t>
                      </a:r>
                      <a:r>
                        <a:rPr sz="1400" b="1" spc="-20" dirty="0">
                          <a:latin typeface="Calibri"/>
                          <a:cs typeface="Calibri"/>
                        </a:rPr>
                        <a:t>u</a:t>
                      </a:r>
                      <a:r>
                        <a:rPr sz="1400" b="1" spc="25" dirty="0">
                          <a:latin typeface="Calibri"/>
                          <a:cs typeface="Calibri"/>
                        </a:rPr>
                        <a:t>te</a:t>
                      </a:r>
                      <a:r>
                        <a:rPr sz="1400" b="1" dirty="0">
                          <a:latin typeface="Calibri"/>
                          <a:cs typeface="Calibri"/>
                        </a:rPr>
                        <a:t>r</a:t>
                      </a:r>
                      <a:r>
                        <a:rPr sz="1400" b="1" spc="-70" dirty="0">
                          <a:latin typeface="Calibri"/>
                          <a:cs typeface="Calibri"/>
                        </a:rPr>
                        <a:t> </a:t>
                      </a:r>
                      <a:r>
                        <a:rPr sz="1400" b="1" spc="-20" dirty="0">
                          <a:latin typeface="Calibri"/>
                          <a:cs typeface="Calibri"/>
                        </a:rPr>
                        <a:t>d</a:t>
                      </a:r>
                      <a:r>
                        <a:rPr sz="1400" b="1" spc="20" dirty="0">
                          <a:latin typeface="Calibri"/>
                          <a:cs typeface="Calibri"/>
                        </a:rPr>
                        <a:t>i</a:t>
                      </a:r>
                      <a:r>
                        <a:rPr sz="1400" b="1" spc="-30" dirty="0">
                          <a:latin typeface="Calibri"/>
                          <a:cs typeface="Calibri"/>
                        </a:rPr>
                        <a:t>a</a:t>
                      </a:r>
                      <a:r>
                        <a:rPr sz="1400" b="1" spc="-40" dirty="0">
                          <a:latin typeface="Calibri"/>
                          <a:cs typeface="Calibri"/>
                        </a:rPr>
                        <a:t>m</a:t>
                      </a:r>
                      <a:r>
                        <a:rPr sz="1400" b="1" spc="25" dirty="0">
                          <a:latin typeface="Calibri"/>
                          <a:cs typeface="Calibri"/>
                        </a:rPr>
                        <a:t>ete</a:t>
                      </a:r>
                      <a:r>
                        <a:rPr sz="1400" b="1" dirty="0">
                          <a:latin typeface="Calibri"/>
                          <a:cs typeface="Calibri"/>
                        </a:rPr>
                        <a:t>r</a:t>
                      </a:r>
                      <a:endParaRPr sz="1400">
                        <a:latin typeface="Calibri"/>
                        <a:cs typeface="Calibri"/>
                      </a:endParaRPr>
                    </a:p>
                  </a:txBody>
                  <a:tcPr marL="0" marR="0" marT="75565"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C7C30"/>
                    </a:solidFill>
                  </a:tcPr>
                </a:tc>
                <a:tc gridSpan="3">
                  <a:txBody>
                    <a:bodyPr/>
                    <a:lstStyle/>
                    <a:p>
                      <a:pPr marL="96520">
                        <a:lnSpc>
                          <a:spcPct val="100000"/>
                        </a:lnSpc>
                        <a:spcBef>
                          <a:spcPts val="595"/>
                        </a:spcBef>
                      </a:pPr>
                      <a:r>
                        <a:rPr sz="1400" spc="10" dirty="0" smtClean="0">
                          <a:latin typeface="Calibri"/>
                          <a:cs typeface="Calibri"/>
                        </a:rPr>
                        <a:t>P</a:t>
                      </a:r>
                      <a:r>
                        <a:rPr sz="1400" spc="25" dirty="0" smtClean="0">
                          <a:latin typeface="Calibri"/>
                          <a:cs typeface="Calibri"/>
                        </a:rPr>
                        <a:t>r</a:t>
                      </a:r>
                      <a:r>
                        <a:rPr sz="1400" spc="-30" dirty="0" smtClean="0">
                          <a:latin typeface="Calibri"/>
                          <a:cs typeface="Calibri"/>
                        </a:rPr>
                        <a:t>i</a:t>
                      </a:r>
                      <a:r>
                        <a:rPr lang="en-US" sz="1400" spc="-30" dirty="0" smtClean="0">
                          <a:latin typeface="Calibri"/>
                          <a:cs typeface="Calibri"/>
                        </a:rPr>
                        <a:t>mary </a:t>
                      </a:r>
                      <a:r>
                        <a:rPr sz="1400" spc="-10" dirty="0" smtClean="0">
                          <a:latin typeface="Calibri"/>
                          <a:cs typeface="Calibri"/>
                        </a:rPr>
                        <a:t>:</a:t>
                      </a:r>
                      <a:r>
                        <a:rPr sz="1400" spc="25" dirty="0" smtClean="0">
                          <a:latin typeface="Calibri"/>
                          <a:cs typeface="Calibri"/>
                        </a:rPr>
                        <a:t>29</a:t>
                      </a:r>
                      <a:r>
                        <a:rPr sz="1400" spc="15" dirty="0" smtClean="0">
                          <a:latin typeface="Calibri"/>
                          <a:cs typeface="Calibri"/>
                        </a:rPr>
                        <a:t>.</a:t>
                      </a:r>
                      <a:r>
                        <a:rPr sz="1400" spc="25" dirty="0" smtClean="0">
                          <a:latin typeface="Calibri"/>
                          <a:cs typeface="Calibri"/>
                        </a:rPr>
                        <a:t>2</a:t>
                      </a:r>
                      <a:r>
                        <a:rPr sz="1400" spc="-20" dirty="0" smtClean="0">
                          <a:latin typeface="Calibri"/>
                          <a:cs typeface="Calibri"/>
                        </a:rPr>
                        <a:t>m</a:t>
                      </a:r>
                      <a:r>
                        <a:rPr sz="1400" dirty="0" smtClean="0">
                          <a:latin typeface="Calibri"/>
                          <a:cs typeface="Calibri"/>
                        </a:rPr>
                        <a:t>m</a:t>
                      </a:r>
                      <a:r>
                        <a:rPr sz="1400" spc="-105" dirty="0" smtClean="0">
                          <a:latin typeface="Calibri"/>
                          <a:cs typeface="Calibri"/>
                        </a:rPr>
                        <a:t> </a:t>
                      </a:r>
                      <a:r>
                        <a:rPr lang="en-US" sz="1400" spc="-105" dirty="0" smtClean="0">
                          <a:latin typeface="Calibri"/>
                          <a:cs typeface="Calibri"/>
                        </a:rPr>
                        <a:t>, </a:t>
                      </a:r>
                      <a:r>
                        <a:rPr sz="1400" spc="35" dirty="0" smtClean="0">
                          <a:latin typeface="Calibri"/>
                          <a:cs typeface="Calibri"/>
                        </a:rPr>
                        <a:t>s</a:t>
                      </a:r>
                      <a:r>
                        <a:rPr sz="1400" spc="-40" dirty="0" smtClean="0">
                          <a:latin typeface="Calibri"/>
                          <a:cs typeface="Calibri"/>
                        </a:rPr>
                        <a:t>e</a:t>
                      </a:r>
                      <a:r>
                        <a:rPr sz="1400" spc="-5" dirty="0" smtClean="0">
                          <a:latin typeface="Calibri"/>
                          <a:cs typeface="Calibri"/>
                        </a:rPr>
                        <a:t>c</a:t>
                      </a:r>
                      <a:r>
                        <a:rPr lang="en-US" sz="1400" spc="-5" dirty="0" smtClean="0">
                          <a:latin typeface="Calibri"/>
                          <a:cs typeface="Calibri"/>
                        </a:rPr>
                        <a:t>ondary</a:t>
                      </a:r>
                      <a:r>
                        <a:rPr sz="1400" spc="-10" dirty="0" smtClean="0">
                          <a:latin typeface="Calibri"/>
                          <a:cs typeface="Calibri"/>
                        </a:rPr>
                        <a:t>:</a:t>
                      </a:r>
                      <a:r>
                        <a:rPr sz="1400" spc="25" dirty="0" smtClean="0">
                          <a:latin typeface="Calibri"/>
                          <a:cs typeface="Calibri"/>
                        </a:rPr>
                        <a:t>25</a:t>
                      </a:r>
                      <a:r>
                        <a:rPr sz="1400" spc="10" dirty="0" smtClean="0">
                          <a:latin typeface="Calibri"/>
                          <a:cs typeface="Calibri"/>
                        </a:rPr>
                        <a:t>.</a:t>
                      </a:r>
                      <a:r>
                        <a:rPr sz="1400" spc="-50" dirty="0" smtClean="0">
                          <a:latin typeface="Calibri"/>
                          <a:cs typeface="Calibri"/>
                        </a:rPr>
                        <a:t>4</a:t>
                      </a:r>
                      <a:r>
                        <a:rPr sz="1400" spc="-15" dirty="0" smtClean="0">
                          <a:latin typeface="Calibri"/>
                          <a:cs typeface="Calibri"/>
                        </a:rPr>
                        <a:t>mm</a:t>
                      </a:r>
                      <a:endParaRPr sz="1400" dirty="0">
                        <a:latin typeface="Calibri"/>
                        <a:cs typeface="Calibri"/>
                      </a:endParaRPr>
                    </a:p>
                  </a:txBody>
                  <a:tcPr marL="0" marR="0" marT="75565" marB="0">
                    <a:lnL w="12700">
                      <a:solidFill>
                        <a:srgbClr val="FFFFFF"/>
                      </a:solidFill>
                      <a:prstDash val="solid"/>
                    </a:lnL>
                    <a:lnR w="12700">
                      <a:solidFill>
                        <a:srgbClr val="EC7C30"/>
                      </a:solidFill>
                      <a:prstDash val="solid"/>
                    </a:lnR>
                    <a:lnT w="12700" cap="flat" cmpd="sng" algn="ctr">
                      <a:solidFill>
                        <a:srgbClr val="EC7C30"/>
                      </a:solidFill>
                      <a:prstDash val="solid"/>
                      <a:round/>
                      <a:headEnd type="none" w="med" len="med"/>
                      <a:tailEnd type="none" w="med" len="med"/>
                    </a:lnT>
                    <a:lnB w="28575">
                      <a:solidFill>
                        <a:srgbClr val="EC7C3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5"/>
                  </a:ext>
                </a:extLst>
              </a:tr>
              <a:tr h="553666">
                <a:tc>
                  <a:txBody>
                    <a:bodyPr/>
                    <a:lstStyle/>
                    <a:p>
                      <a:pPr marL="77470">
                        <a:lnSpc>
                          <a:spcPct val="100000"/>
                        </a:lnSpc>
                        <a:spcBef>
                          <a:spcPts val="470"/>
                        </a:spcBef>
                      </a:pPr>
                      <a:r>
                        <a:rPr sz="1400" b="1" spc="-15" dirty="0">
                          <a:latin typeface="Calibri"/>
                          <a:cs typeface="Calibri"/>
                        </a:rPr>
                        <a:t>Wall</a:t>
                      </a:r>
                      <a:r>
                        <a:rPr sz="1400" b="1" spc="-20" dirty="0">
                          <a:latin typeface="Calibri"/>
                          <a:cs typeface="Calibri"/>
                        </a:rPr>
                        <a:t> </a:t>
                      </a:r>
                      <a:r>
                        <a:rPr sz="1400" b="1" spc="15" dirty="0">
                          <a:latin typeface="Calibri"/>
                          <a:cs typeface="Calibri"/>
                        </a:rPr>
                        <a:t>thickness</a:t>
                      </a:r>
                      <a:endParaRPr sz="1400">
                        <a:latin typeface="Calibri"/>
                        <a:cs typeface="Calibri"/>
                      </a:endParaRPr>
                    </a:p>
                  </a:txBody>
                  <a:tcPr marL="0" marR="0" marT="596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gridSpan="3">
                  <a:txBody>
                    <a:bodyPr/>
                    <a:lstStyle/>
                    <a:p>
                      <a:pPr marL="96520">
                        <a:lnSpc>
                          <a:spcPct val="100000"/>
                        </a:lnSpc>
                        <a:spcBef>
                          <a:spcPts val="470"/>
                        </a:spcBef>
                      </a:pPr>
                      <a:r>
                        <a:rPr sz="1400" spc="10" dirty="0" smtClean="0">
                          <a:latin typeface="Calibri"/>
                          <a:cs typeface="Calibri"/>
                        </a:rPr>
                        <a:t>P</a:t>
                      </a:r>
                      <a:r>
                        <a:rPr sz="1400" spc="25" dirty="0" smtClean="0">
                          <a:latin typeface="Calibri"/>
                          <a:cs typeface="Calibri"/>
                        </a:rPr>
                        <a:t>r</a:t>
                      </a:r>
                      <a:r>
                        <a:rPr sz="1400" dirty="0" smtClean="0">
                          <a:latin typeface="Calibri"/>
                          <a:cs typeface="Calibri"/>
                        </a:rPr>
                        <a:t>i</a:t>
                      </a:r>
                      <a:r>
                        <a:rPr lang="en-US" sz="1400" dirty="0" smtClean="0">
                          <a:latin typeface="Calibri"/>
                          <a:cs typeface="Calibri"/>
                        </a:rPr>
                        <a:t>mary</a:t>
                      </a:r>
                      <a:r>
                        <a:rPr sz="1400" spc="-45" dirty="0" smtClean="0">
                          <a:latin typeface="Calibri"/>
                          <a:cs typeface="Calibri"/>
                        </a:rPr>
                        <a:t> </a:t>
                      </a:r>
                      <a:r>
                        <a:rPr sz="1400" dirty="0">
                          <a:latin typeface="Calibri"/>
                          <a:cs typeface="Calibri"/>
                        </a:rPr>
                        <a:t>:</a:t>
                      </a:r>
                      <a:r>
                        <a:rPr sz="1400" spc="-25" dirty="0">
                          <a:latin typeface="Calibri"/>
                          <a:cs typeface="Calibri"/>
                        </a:rPr>
                        <a:t> </a:t>
                      </a:r>
                      <a:r>
                        <a:rPr sz="1400" spc="30" dirty="0">
                          <a:latin typeface="Calibri"/>
                          <a:cs typeface="Calibri"/>
                        </a:rPr>
                        <a:t>1</a:t>
                      </a:r>
                      <a:r>
                        <a:rPr sz="1400" spc="10" dirty="0">
                          <a:latin typeface="Calibri"/>
                          <a:cs typeface="Calibri"/>
                        </a:rPr>
                        <a:t>.</a:t>
                      </a:r>
                      <a:r>
                        <a:rPr sz="1400" spc="25" dirty="0">
                          <a:latin typeface="Calibri"/>
                          <a:cs typeface="Calibri"/>
                        </a:rPr>
                        <a:t>65</a:t>
                      </a:r>
                      <a:r>
                        <a:rPr sz="1400" spc="-15" dirty="0">
                          <a:latin typeface="Calibri"/>
                          <a:cs typeface="Calibri"/>
                        </a:rPr>
                        <a:t>m</a:t>
                      </a:r>
                      <a:r>
                        <a:rPr sz="1400" dirty="0">
                          <a:latin typeface="Calibri"/>
                          <a:cs typeface="Calibri"/>
                        </a:rPr>
                        <a:t>m</a:t>
                      </a:r>
                      <a:r>
                        <a:rPr sz="1400" spc="-105" dirty="0">
                          <a:latin typeface="Calibri"/>
                          <a:cs typeface="Calibri"/>
                        </a:rPr>
                        <a:t> </a:t>
                      </a:r>
                      <a:r>
                        <a:rPr sz="1400" spc="40" dirty="0" smtClean="0">
                          <a:latin typeface="Calibri"/>
                          <a:cs typeface="Calibri"/>
                        </a:rPr>
                        <a:t>s</a:t>
                      </a:r>
                      <a:r>
                        <a:rPr sz="1400" spc="-35" dirty="0" smtClean="0">
                          <a:latin typeface="Calibri"/>
                          <a:cs typeface="Calibri"/>
                        </a:rPr>
                        <a:t>e</a:t>
                      </a:r>
                      <a:r>
                        <a:rPr sz="1400" spc="-5" dirty="0" smtClean="0">
                          <a:latin typeface="Calibri"/>
                          <a:cs typeface="Calibri"/>
                        </a:rPr>
                        <a:t>c</a:t>
                      </a:r>
                      <a:r>
                        <a:rPr lang="en-US" sz="1400" spc="-5" dirty="0" smtClean="0">
                          <a:latin typeface="Calibri"/>
                          <a:cs typeface="Calibri"/>
                        </a:rPr>
                        <a:t>ondary</a:t>
                      </a:r>
                      <a:r>
                        <a:rPr sz="1400" spc="-5" dirty="0" smtClean="0">
                          <a:latin typeface="Calibri"/>
                          <a:cs typeface="Calibri"/>
                        </a:rPr>
                        <a:t>:</a:t>
                      </a:r>
                      <a:r>
                        <a:rPr sz="1400" spc="25" dirty="0" smtClean="0">
                          <a:latin typeface="Calibri"/>
                          <a:cs typeface="Calibri"/>
                        </a:rPr>
                        <a:t>1</a:t>
                      </a:r>
                      <a:r>
                        <a:rPr sz="1400" spc="-15" dirty="0" smtClean="0">
                          <a:latin typeface="Calibri"/>
                          <a:cs typeface="Calibri"/>
                        </a:rPr>
                        <a:t>mm</a:t>
                      </a:r>
                      <a:endParaRPr sz="1400" dirty="0">
                        <a:latin typeface="Calibri"/>
                        <a:cs typeface="Calibri"/>
                      </a:endParaRPr>
                    </a:p>
                  </a:txBody>
                  <a:tcPr marL="0" marR="0" marT="59690" marB="0">
                    <a:lnL w="12700">
                      <a:solidFill>
                        <a:srgbClr val="FFFFFF"/>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6"/>
                  </a:ext>
                </a:extLst>
              </a:tr>
              <a:tr h="642997">
                <a:tc>
                  <a:txBody>
                    <a:bodyPr/>
                    <a:lstStyle/>
                    <a:p>
                      <a:pPr marL="77470">
                        <a:lnSpc>
                          <a:spcPct val="100000"/>
                        </a:lnSpc>
                        <a:spcBef>
                          <a:spcPts val="695"/>
                        </a:spcBef>
                      </a:pPr>
                      <a:r>
                        <a:rPr sz="1400" b="1" spc="-95" dirty="0">
                          <a:latin typeface="Calibri"/>
                          <a:cs typeface="Calibri"/>
                        </a:rPr>
                        <a:t>W</a:t>
                      </a:r>
                      <a:r>
                        <a:rPr sz="1400" b="1" spc="30" dirty="0">
                          <a:latin typeface="Calibri"/>
                          <a:cs typeface="Calibri"/>
                        </a:rPr>
                        <a:t>e</a:t>
                      </a:r>
                      <a:r>
                        <a:rPr sz="1400" b="1" spc="20" dirty="0">
                          <a:latin typeface="Calibri"/>
                          <a:cs typeface="Calibri"/>
                        </a:rPr>
                        <a:t>l</a:t>
                      </a:r>
                      <a:r>
                        <a:rPr sz="1400" b="1" spc="-20" dirty="0">
                          <a:latin typeface="Calibri"/>
                          <a:cs typeface="Calibri"/>
                        </a:rPr>
                        <a:t>d</a:t>
                      </a:r>
                      <a:r>
                        <a:rPr sz="1400" b="1" spc="20" dirty="0">
                          <a:latin typeface="Calibri"/>
                          <a:cs typeface="Calibri"/>
                        </a:rPr>
                        <a:t>i</a:t>
                      </a:r>
                      <a:r>
                        <a:rPr sz="1400" b="1" spc="-20" dirty="0">
                          <a:latin typeface="Calibri"/>
                          <a:cs typeface="Calibri"/>
                        </a:rPr>
                        <a:t>n</a:t>
                      </a:r>
                      <a:r>
                        <a:rPr sz="1400" b="1" dirty="0">
                          <a:latin typeface="Calibri"/>
                          <a:cs typeface="Calibri"/>
                        </a:rPr>
                        <a:t>g</a:t>
                      </a:r>
                      <a:r>
                        <a:rPr sz="1400" b="1" spc="-85" dirty="0">
                          <a:latin typeface="Calibri"/>
                          <a:cs typeface="Calibri"/>
                        </a:rPr>
                        <a:t> </a:t>
                      </a:r>
                      <a:r>
                        <a:rPr sz="1400" b="1" spc="-20" dirty="0">
                          <a:latin typeface="Calibri"/>
                          <a:cs typeface="Calibri"/>
                        </a:rPr>
                        <a:t>u</a:t>
                      </a:r>
                      <a:r>
                        <a:rPr sz="1400" b="1" spc="30" dirty="0">
                          <a:latin typeface="Calibri"/>
                          <a:cs typeface="Calibri"/>
                        </a:rPr>
                        <a:t>se</a:t>
                      </a:r>
                      <a:r>
                        <a:rPr sz="1400" b="1" dirty="0">
                          <a:latin typeface="Calibri"/>
                          <a:cs typeface="Calibri"/>
                        </a:rPr>
                        <a:t>d</a:t>
                      </a:r>
                      <a:endParaRPr sz="1400">
                        <a:latin typeface="Calibri"/>
                        <a:cs typeface="Calibri"/>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gridSpan="3">
                  <a:txBody>
                    <a:bodyPr/>
                    <a:lstStyle/>
                    <a:p>
                      <a:pPr marL="96520">
                        <a:lnSpc>
                          <a:spcPct val="100000"/>
                        </a:lnSpc>
                        <a:spcBef>
                          <a:spcPts val="695"/>
                        </a:spcBef>
                      </a:pPr>
                      <a:r>
                        <a:rPr sz="1400" spc="-20" dirty="0">
                          <a:latin typeface="Calibri"/>
                          <a:cs typeface="Calibri"/>
                        </a:rPr>
                        <a:t>T</a:t>
                      </a:r>
                      <a:r>
                        <a:rPr sz="1400" spc="90" dirty="0">
                          <a:latin typeface="Calibri"/>
                          <a:cs typeface="Calibri"/>
                        </a:rPr>
                        <a:t>I</a:t>
                      </a:r>
                      <a:r>
                        <a:rPr sz="1400" dirty="0">
                          <a:latin typeface="Calibri"/>
                          <a:cs typeface="Calibri"/>
                        </a:rPr>
                        <a:t>G</a:t>
                      </a:r>
                      <a:r>
                        <a:rPr sz="1400" spc="-95" dirty="0">
                          <a:latin typeface="Calibri"/>
                          <a:cs typeface="Calibri"/>
                        </a:rPr>
                        <a:t> </a:t>
                      </a:r>
                      <a:r>
                        <a:rPr sz="1400" spc="-65" dirty="0">
                          <a:latin typeface="Calibri"/>
                          <a:cs typeface="Calibri"/>
                        </a:rPr>
                        <a:t>W</a:t>
                      </a:r>
                      <a:r>
                        <a:rPr sz="1400" spc="-35" dirty="0">
                          <a:latin typeface="Calibri"/>
                          <a:cs typeface="Calibri"/>
                        </a:rPr>
                        <a:t>e</a:t>
                      </a:r>
                      <a:r>
                        <a:rPr sz="1400" spc="-30" dirty="0">
                          <a:latin typeface="Calibri"/>
                          <a:cs typeface="Calibri"/>
                        </a:rPr>
                        <a:t>l</a:t>
                      </a:r>
                      <a:r>
                        <a:rPr sz="1400" spc="-5" dirty="0">
                          <a:latin typeface="Calibri"/>
                          <a:cs typeface="Calibri"/>
                        </a:rPr>
                        <a:t>d</a:t>
                      </a:r>
                      <a:r>
                        <a:rPr sz="1400" spc="-30" dirty="0">
                          <a:latin typeface="Calibri"/>
                          <a:cs typeface="Calibri"/>
                        </a:rPr>
                        <a:t>i</a:t>
                      </a:r>
                      <a:r>
                        <a:rPr sz="1400" spc="-5" dirty="0">
                          <a:latin typeface="Calibri"/>
                          <a:cs typeface="Calibri"/>
                        </a:rPr>
                        <a:t>ng</a:t>
                      </a:r>
                      <a:endParaRPr sz="1400" dirty="0">
                        <a:latin typeface="Calibri"/>
                        <a:cs typeface="Calibri"/>
                      </a:endParaRPr>
                    </a:p>
                  </a:txBody>
                  <a:tcPr marL="0" marR="0" marT="88265" marB="0">
                    <a:lnL w="12700">
                      <a:solidFill>
                        <a:srgbClr val="FFFFFF"/>
                      </a:solidFill>
                      <a:prstDash val="solid"/>
                    </a:lnL>
                    <a:lnR w="12700">
                      <a:solidFill>
                        <a:srgbClr val="EC7C30"/>
                      </a:solidFill>
                      <a:prstDash val="solid"/>
                    </a:lnR>
                    <a:lnT w="12700">
                      <a:solidFill>
                        <a:srgbClr val="EC7C30"/>
                      </a:solidFill>
                      <a:prstDash val="solid"/>
                    </a:lnT>
                    <a:lnB w="12700" cap="flat" cmpd="sng" algn="ctr">
                      <a:solidFill>
                        <a:srgbClr val="FFFFFF"/>
                      </a:solidFill>
                      <a:prstDash val="solid"/>
                      <a:round/>
                      <a:headEnd type="none" w="med" len="med"/>
                      <a:tailEnd type="none" w="med" len="me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980396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2536" y="260648"/>
            <a:ext cx="3755226" cy="591551"/>
          </a:xfrm>
          <a:prstGeom prst="rect">
            <a:avLst/>
          </a:prstGeom>
        </p:spPr>
        <p:txBody>
          <a:bodyPr vert="horz" wrap="square" lIns="0" tIns="16933" rIns="0" bIns="0" rtlCol="0" anchor="ctr">
            <a:spAutoFit/>
          </a:bodyPr>
          <a:lstStyle/>
          <a:p>
            <a:pPr marL="16933">
              <a:lnSpc>
                <a:spcPct val="100000"/>
              </a:lnSpc>
              <a:spcBef>
                <a:spcPts val="133"/>
              </a:spcBef>
            </a:pPr>
            <a:r>
              <a:rPr sz="3733" b="1" spc="-20" dirty="0">
                <a:latin typeface="Calibri"/>
                <a:cs typeface="Calibri"/>
              </a:rPr>
              <a:t>Drivetrain</a:t>
            </a:r>
            <a:endParaRPr sz="3733" b="1" dirty="0">
              <a:latin typeface="Calibri"/>
              <a:cs typeface="Calibri"/>
            </a:endParaRPr>
          </a:p>
        </p:txBody>
      </p:sp>
      <p:sp>
        <p:nvSpPr>
          <p:cNvPr id="3" name="object 3"/>
          <p:cNvSpPr txBox="1"/>
          <p:nvPr/>
        </p:nvSpPr>
        <p:spPr>
          <a:xfrm>
            <a:off x="319125" y="1347767"/>
            <a:ext cx="35560" cy="72606"/>
          </a:xfrm>
          <a:prstGeom prst="rect">
            <a:avLst/>
          </a:prstGeom>
        </p:spPr>
        <p:txBody>
          <a:bodyPr vert="horz" wrap="square" lIns="0" tIns="21167" rIns="0" bIns="0" rtlCol="0">
            <a:spAutoFit/>
          </a:bodyPr>
          <a:lstStyle/>
          <a:p>
            <a:pPr algn="ctr">
              <a:spcBef>
                <a:spcPts val="167"/>
              </a:spcBef>
            </a:pPr>
            <a:r>
              <a:rPr sz="333" spc="7" dirty="0">
                <a:solidFill>
                  <a:srgbClr val="0D101A"/>
                </a:solidFill>
                <a:latin typeface="Arial MT"/>
                <a:cs typeface="Arial MT"/>
              </a:rPr>
              <a:t>.</a:t>
            </a:r>
            <a:endParaRPr sz="333">
              <a:latin typeface="Arial MT"/>
              <a:cs typeface="Arial MT"/>
            </a:endParaRPr>
          </a:p>
        </p:txBody>
      </p:sp>
      <p:sp>
        <p:nvSpPr>
          <p:cNvPr id="4" name="object 4"/>
          <p:cNvSpPr txBox="1"/>
          <p:nvPr/>
        </p:nvSpPr>
        <p:spPr>
          <a:xfrm>
            <a:off x="179512" y="980728"/>
            <a:ext cx="8258175" cy="5596574"/>
          </a:xfrm>
          <a:prstGeom prst="rect">
            <a:avLst/>
          </a:prstGeom>
        </p:spPr>
        <p:txBody>
          <a:bodyPr vert="horz" wrap="square" lIns="0" tIns="14393" rIns="0" bIns="0" rtlCol="0">
            <a:spAutoFit/>
          </a:bodyPr>
          <a:lstStyle/>
          <a:p>
            <a:pPr marL="513067" marR="506294" indent="-496981">
              <a:lnSpc>
                <a:spcPts val="3147"/>
              </a:lnSpc>
              <a:spcBef>
                <a:spcPts val="113"/>
              </a:spcBef>
              <a:buClr>
                <a:srgbClr val="000000"/>
              </a:buClr>
              <a:buFont typeface="Arial MT"/>
              <a:buChar char="●"/>
              <a:tabLst>
                <a:tab pos="513067" algn="l"/>
                <a:tab pos="513914" algn="l"/>
              </a:tabLst>
            </a:pPr>
            <a:r>
              <a:rPr sz="2467" spc="7" dirty="0">
                <a:solidFill>
                  <a:srgbClr val="0D101A"/>
                </a:solidFill>
                <a:latin typeface="Calibri"/>
                <a:cs typeface="Calibri"/>
              </a:rPr>
              <a:t>The primary </a:t>
            </a:r>
            <a:r>
              <a:rPr sz="2467" dirty="0">
                <a:solidFill>
                  <a:srgbClr val="0D101A"/>
                </a:solidFill>
                <a:latin typeface="Calibri"/>
                <a:cs typeface="Calibri"/>
              </a:rPr>
              <a:t>objective </a:t>
            </a:r>
            <a:r>
              <a:rPr sz="2467" spc="7" dirty="0">
                <a:solidFill>
                  <a:srgbClr val="0D101A"/>
                </a:solidFill>
                <a:latin typeface="Calibri"/>
                <a:cs typeface="Calibri"/>
              </a:rPr>
              <a:t>of our </a:t>
            </a:r>
            <a:r>
              <a:rPr sz="2467" dirty="0">
                <a:solidFill>
                  <a:srgbClr val="0D101A"/>
                </a:solidFill>
                <a:latin typeface="Calibri"/>
                <a:cs typeface="Calibri"/>
              </a:rPr>
              <a:t>drivetrain </a:t>
            </a:r>
            <a:r>
              <a:rPr sz="2467" spc="7" dirty="0">
                <a:solidFill>
                  <a:srgbClr val="0D101A"/>
                </a:solidFill>
                <a:latin typeface="Calibri"/>
                <a:cs typeface="Calibri"/>
              </a:rPr>
              <a:t>is </a:t>
            </a:r>
            <a:r>
              <a:rPr sz="2467" dirty="0">
                <a:solidFill>
                  <a:srgbClr val="0D101A"/>
                </a:solidFill>
                <a:latin typeface="Calibri"/>
                <a:cs typeface="Calibri"/>
              </a:rPr>
              <a:t>to provide </a:t>
            </a:r>
            <a:r>
              <a:rPr sz="2467" spc="7" dirty="0">
                <a:solidFill>
                  <a:srgbClr val="0D101A"/>
                </a:solidFill>
                <a:latin typeface="Calibri"/>
                <a:cs typeface="Calibri"/>
              </a:rPr>
              <a:t>the </a:t>
            </a:r>
            <a:r>
              <a:rPr sz="2467" dirty="0">
                <a:solidFill>
                  <a:srgbClr val="0D101A"/>
                </a:solidFill>
                <a:latin typeface="Calibri"/>
                <a:cs typeface="Calibri"/>
              </a:rPr>
              <a:t>required </a:t>
            </a:r>
            <a:r>
              <a:rPr sz="2467" spc="7" dirty="0">
                <a:solidFill>
                  <a:srgbClr val="0D101A"/>
                </a:solidFill>
                <a:latin typeface="Calibri"/>
                <a:cs typeface="Calibri"/>
              </a:rPr>
              <a:t>power while </a:t>
            </a:r>
            <a:r>
              <a:rPr sz="2467" spc="-540" dirty="0">
                <a:solidFill>
                  <a:srgbClr val="0D101A"/>
                </a:solidFill>
                <a:latin typeface="Calibri"/>
                <a:cs typeface="Calibri"/>
              </a:rPr>
              <a:t> </a:t>
            </a:r>
            <a:r>
              <a:rPr sz="2467" spc="7" dirty="0">
                <a:solidFill>
                  <a:srgbClr val="0D101A"/>
                </a:solidFill>
                <a:latin typeface="Calibri"/>
                <a:cs typeface="Calibri"/>
              </a:rPr>
              <a:t>maintaining the</a:t>
            </a:r>
            <a:r>
              <a:rPr sz="2467" dirty="0">
                <a:solidFill>
                  <a:srgbClr val="0D101A"/>
                </a:solidFill>
                <a:latin typeface="Calibri"/>
                <a:cs typeface="Calibri"/>
              </a:rPr>
              <a:t> </a:t>
            </a:r>
            <a:r>
              <a:rPr sz="2467" spc="-7" dirty="0">
                <a:solidFill>
                  <a:srgbClr val="0D101A"/>
                </a:solidFill>
                <a:latin typeface="Calibri"/>
                <a:cs typeface="Calibri"/>
              </a:rPr>
              <a:t>perfect</a:t>
            </a:r>
            <a:r>
              <a:rPr sz="2467" dirty="0">
                <a:solidFill>
                  <a:srgbClr val="0D101A"/>
                </a:solidFill>
                <a:latin typeface="Calibri"/>
                <a:cs typeface="Calibri"/>
              </a:rPr>
              <a:t> </a:t>
            </a:r>
            <a:r>
              <a:rPr sz="2467" spc="7" dirty="0">
                <a:solidFill>
                  <a:srgbClr val="0D101A"/>
                </a:solidFill>
                <a:latin typeface="Calibri"/>
                <a:cs typeface="Calibri"/>
              </a:rPr>
              <a:t>balance between</a:t>
            </a:r>
            <a:r>
              <a:rPr sz="2467" dirty="0">
                <a:solidFill>
                  <a:srgbClr val="0D101A"/>
                </a:solidFill>
                <a:latin typeface="Calibri"/>
                <a:cs typeface="Calibri"/>
              </a:rPr>
              <a:t> top </a:t>
            </a:r>
            <a:r>
              <a:rPr sz="2467" spc="7" dirty="0">
                <a:solidFill>
                  <a:srgbClr val="0D101A"/>
                </a:solidFill>
                <a:latin typeface="Calibri"/>
                <a:cs typeface="Calibri"/>
              </a:rPr>
              <a:t>speed </a:t>
            </a:r>
            <a:r>
              <a:rPr sz="2467" spc="13" dirty="0">
                <a:solidFill>
                  <a:srgbClr val="0D101A"/>
                </a:solidFill>
                <a:latin typeface="Calibri"/>
                <a:cs typeface="Calibri"/>
              </a:rPr>
              <a:t>and </a:t>
            </a:r>
            <a:r>
              <a:rPr sz="2467" spc="7" dirty="0">
                <a:solidFill>
                  <a:srgbClr val="0D101A"/>
                </a:solidFill>
                <a:latin typeface="Calibri"/>
                <a:cs typeface="Calibri"/>
              </a:rPr>
              <a:t>maximum </a:t>
            </a:r>
            <a:r>
              <a:rPr sz="2467" dirty="0" smtClean="0">
                <a:solidFill>
                  <a:srgbClr val="0D101A"/>
                </a:solidFill>
                <a:latin typeface="Calibri"/>
                <a:cs typeface="Calibri"/>
              </a:rPr>
              <a:t>torque. Our</a:t>
            </a:r>
            <a:r>
              <a:rPr lang="en-US" sz="2467" dirty="0" smtClean="0">
                <a:solidFill>
                  <a:srgbClr val="0D101A"/>
                </a:solidFill>
                <a:latin typeface="Calibri"/>
                <a:cs typeface="Calibri"/>
              </a:rPr>
              <a:t> aim is to transmit power to all 4 wheels in the most efficient way possible with minimal delay and shocks when the pedal is pressed.</a:t>
            </a:r>
            <a:endParaRPr sz="2467" dirty="0">
              <a:latin typeface="Calibri"/>
              <a:cs typeface="Calibri"/>
            </a:endParaRPr>
          </a:p>
          <a:p>
            <a:pPr>
              <a:spcBef>
                <a:spcPts val="7"/>
              </a:spcBef>
              <a:buFont typeface="Arial MT"/>
              <a:buChar char="●"/>
            </a:pPr>
            <a:endParaRPr sz="2467" dirty="0">
              <a:latin typeface="Calibri"/>
              <a:cs typeface="Calibri"/>
            </a:endParaRPr>
          </a:p>
          <a:p>
            <a:pPr marL="513067" marR="790767" indent="-496981">
              <a:lnSpc>
                <a:spcPct val="106400"/>
              </a:lnSpc>
              <a:buClr>
                <a:srgbClr val="000000"/>
              </a:buClr>
              <a:buFont typeface="Arial MT"/>
              <a:buChar char="●"/>
              <a:tabLst>
                <a:tab pos="513067" algn="l"/>
                <a:tab pos="513914" algn="l"/>
              </a:tabLst>
            </a:pPr>
            <a:r>
              <a:rPr lang="en-US" sz="2467" spc="7" dirty="0">
                <a:solidFill>
                  <a:srgbClr val="0D101A"/>
                </a:solidFill>
                <a:latin typeface="Calibri"/>
                <a:cs typeface="Calibri"/>
              </a:rPr>
              <a:t>O</a:t>
            </a:r>
            <a:r>
              <a:rPr sz="2467" spc="7" dirty="0" smtClean="0">
                <a:solidFill>
                  <a:srgbClr val="0D101A"/>
                </a:solidFill>
                <a:latin typeface="Calibri"/>
                <a:cs typeface="Calibri"/>
              </a:rPr>
              <a:t>ur </a:t>
            </a:r>
            <a:r>
              <a:rPr sz="2467" dirty="0">
                <a:solidFill>
                  <a:srgbClr val="0D101A"/>
                </a:solidFill>
                <a:latin typeface="Calibri"/>
                <a:cs typeface="Calibri"/>
              </a:rPr>
              <a:t>vehicle </a:t>
            </a:r>
            <a:r>
              <a:rPr sz="2467" spc="7" dirty="0">
                <a:solidFill>
                  <a:srgbClr val="0D101A"/>
                </a:solidFill>
                <a:latin typeface="Calibri"/>
                <a:cs typeface="Calibri"/>
              </a:rPr>
              <a:t>will </a:t>
            </a:r>
            <a:r>
              <a:rPr sz="2467" spc="13" dirty="0">
                <a:solidFill>
                  <a:srgbClr val="0D101A"/>
                </a:solidFill>
                <a:latin typeface="Calibri"/>
                <a:cs typeface="Calibri"/>
              </a:rPr>
              <a:t>be able </a:t>
            </a:r>
            <a:r>
              <a:rPr sz="2467" dirty="0">
                <a:solidFill>
                  <a:srgbClr val="0D101A"/>
                </a:solidFill>
                <a:latin typeface="Calibri"/>
                <a:cs typeface="Calibri"/>
              </a:rPr>
              <a:t>to </a:t>
            </a:r>
            <a:r>
              <a:rPr sz="2467" spc="7" dirty="0">
                <a:solidFill>
                  <a:srgbClr val="0D101A"/>
                </a:solidFill>
                <a:latin typeface="Calibri"/>
                <a:cs typeface="Calibri"/>
              </a:rPr>
              <a:t>achieve </a:t>
            </a:r>
            <a:r>
              <a:rPr sz="2467" spc="13" dirty="0">
                <a:solidFill>
                  <a:srgbClr val="0D101A"/>
                </a:solidFill>
                <a:latin typeface="Calibri"/>
                <a:cs typeface="Calibri"/>
              </a:rPr>
              <a:t>a </a:t>
            </a:r>
            <a:r>
              <a:rPr sz="2467" dirty="0">
                <a:solidFill>
                  <a:srgbClr val="0D101A"/>
                </a:solidFill>
                <a:latin typeface="Calibri"/>
                <a:cs typeface="Calibri"/>
              </a:rPr>
              <a:t>top </a:t>
            </a:r>
            <a:r>
              <a:rPr sz="2467" spc="7" dirty="0">
                <a:solidFill>
                  <a:srgbClr val="0D101A"/>
                </a:solidFill>
                <a:latin typeface="Calibri"/>
                <a:cs typeface="Calibri"/>
              </a:rPr>
              <a:t>speed of 57.24kmph </a:t>
            </a:r>
            <a:r>
              <a:rPr sz="2467" spc="13" dirty="0">
                <a:solidFill>
                  <a:srgbClr val="0D101A"/>
                </a:solidFill>
                <a:latin typeface="Calibri"/>
                <a:cs typeface="Calibri"/>
              </a:rPr>
              <a:t>and </a:t>
            </a:r>
            <a:r>
              <a:rPr sz="2467" spc="7" dirty="0">
                <a:solidFill>
                  <a:srgbClr val="0D101A"/>
                </a:solidFill>
                <a:latin typeface="Calibri"/>
                <a:cs typeface="Calibri"/>
              </a:rPr>
              <a:t>maximum </a:t>
            </a:r>
            <a:r>
              <a:rPr sz="2467" spc="-540" dirty="0">
                <a:solidFill>
                  <a:srgbClr val="0D101A"/>
                </a:solidFill>
                <a:latin typeface="Calibri"/>
                <a:cs typeface="Calibri"/>
              </a:rPr>
              <a:t> </a:t>
            </a:r>
            <a:r>
              <a:rPr sz="2467" dirty="0">
                <a:solidFill>
                  <a:srgbClr val="0D101A"/>
                </a:solidFill>
                <a:latin typeface="Calibri"/>
                <a:cs typeface="Calibri"/>
              </a:rPr>
              <a:t>torque</a:t>
            </a:r>
            <a:r>
              <a:rPr sz="2467" spc="-7" dirty="0">
                <a:solidFill>
                  <a:srgbClr val="0D101A"/>
                </a:solidFill>
                <a:latin typeface="Calibri"/>
                <a:cs typeface="Calibri"/>
              </a:rPr>
              <a:t> </a:t>
            </a:r>
            <a:r>
              <a:rPr sz="2467" spc="7" dirty="0">
                <a:solidFill>
                  <a:srgbClr val="0D101A"/>
                </a:solidFill>
                <a:latin typeface="Calibri"/>
                <a:cs typeface="Calibri"/>
              </a:rPr>
              <a:t>of</a:t>
            </a:r>
            <a:r>
              <a:rPr sz="2467" dirty="0">
                <a:solidFill>
                  <a:srgbClr val="0D101A"/>
                </a:solidFill>
                <a:latin typeface="Calibri"/>
                <a:cs typeface="Calibri"/>
              </a:rPr>
              <a:t> </a:t>
            </a:r>
            <a:r>
              <a:rPr sz="2467" spc="7" dirty="0">
                <a:solidFill>
                  <a:srgbClr val="0D101A"/>
                </a:solidFill>
                <a:latin typeface="Calibri"/>
                <a:cs typeface="Calibri"/>
              </a:rPr>
              <a:t>524.21</a:t>
            </a:r>
            <a:r>
              <a:rPr sz="2467" dirty="0">
                <a:solidFill>
                  <a:srgbClr val="0D101A"/>
                </a:solidFill>
                <a:latin typeface="Calibri"/>
                <a:cs typeface="Calibri"/>
              </a:rPr>
              <a:t> </a:t>
            </a:r>
            <a:r>
              <a:rPr sz="2467" spc="7" dirty="0">
                <a:solidFill>
                  <a:srgbClr val="0D101A"/>
                </a:solidFill>
                <a:latin typeface="Calibri"/>
                <a:cs typeface="Calibri"/>
              </a:rPr>
              <a:t>N-m.</a:t>
            </a:r>
            <a:endParaRPr sz="2467" dirty="0">
              <a:latin typeface="Calibri"/>
              <a:cs typeface="Calibri"/>
            </a:endParaRPr>
          </a:p>
          <a:p>
            <a:pPr>
              <a:spcBef>
                <a:spcPts val="60"/>
              </a:spcBef>
              <a:buFont typeface="Arial MT"/>
              <a:buChar char="●"/>
            </a:pPr>
            <a:endParaRPr sz="2533" dirty="0">
              <a:latin typeface="Calibri"/>
              <a:cs typeface="Calibri"/>
            </a:endParaRPr>
          </a:p>
          <a:p>
            <a:pPr marL="513067" marR="6773" indent="-496981">
              <a:lnSpc>
                <a:spcPct val="106400"/>
              </a:lnSpc>
              <a:buClr>
                <a:srgbClr val="000000"/>
              </a:buClr>
              <a:buFont typeface="Arial MT"/>
              <a:buChar char="●"/>
              <a:tabLst>
                <a:tab pos="513067" algn="l"/>
                <a:tab pos="513914" algn="l"/>
              </a:tabLst>
            </a:pPr>
            <a:r>
              <a:rPr sz="2467" spc="-27" dirty="0">
                <a:solidFill>
                  <a:srgbClr val="0D101A"/>
                </a:solidFill>
                <a:latin typeface="Calibri"/>
                <a:cs typeface="Calibri"/>
              </a:rPr>
              <a:t>We</a:t>
            </a:r>
            <a:r>
              <a:rPr sz="2467" spc="20" dirty="0">
                <a:solidFill>
                  <a:srgbClr val="0D101A"/>
                </a:solidFill>
                <a:latin typeface="Calibri"/>
                <a:cs typeface="Calibri"/>
              </a:rPr>
              <a:t> </a:t>
            </a:r>
            <a:r>
              <a:rPr sz="2467" dirty="0">
                <a:solidFill>
                  <a:srgbClr val="0D101A"/>
                </a:solidFill>
                <a:latin typeface="Calibri"/>
                <a:cs typeface="Calibri"/>
              </a:rPr>
              <a:t>are</a:t>
            </a:r>
            <a:r>
              <a:rPr sz="2467" spc="27" dirty="0">
                <a:solidFill>
                  <a:srgbClr val="0D101A"/>
                </a:solidFill>
                <a:latin typeface="Calibri"/>
                <a:cs typeface="Calibri"/>
              </a:rPr>
              <a:t> </a:t>
            </a:r>
            <a:r>
              <a:rPr sz="2467" spc="13" dirty="0">
                <a:solidFill>
                  <a:srgbClr val="0D101A"/>
                </a:solidFill>
                <a:latin typeface="Calibri"/>
                <a:cs typeface="Calibri"/>
              </a:rPr>
              <a:t>able</a:t>
            </a:r>
            <a:r>
              <a:rPr sz="2467" spc="33" dirty="0">
                <a:solidFill>
                  <a:srgbClr val="0D101A"/>
                </a:solidFill>
                <a:latin typeface="Calibri"/>
                <a:cs typeface="Calibri"/>
              </a:rPr>
              <a:t> </a:t>
            </a:r>
            <a:r>
              <a:rPr sz="2467" dirty="0">
                <a:solidFill>
                  <a:srgbClr val="0D101A"/>
                </a:solidFill>
                <a:latin typeface="Calibri"/>
                <a:cs typeface="Calibri"/>
              </a:rPr>
              <a:t>to</a:t>
            </a:r>
            <a:r>
              <a:rPr sz="2467" spc="20" dirty="0">
                <a:solidFill>
                  <a:srgbClr val="0D101A"/>
                </a:solidFill>
                <a:latin typeface="Calibri"/>
                <a:cs typeface="Calibri"/>
              </a:rPr>
              <a:t> </a:t>
            </a:r>
            <a:r>
              <a:rPr sz="2467" spc="7" dirty="0">
                <a:solidFill>
                  <a:srgbClr val="0D101A"/>
                </a:solidFill>
                <a:latin typeface="Calibri"/>
                <a:cs typeface="Calibri"/>
              </a:rPr>
              <a:t>achieve</a:t>
            </a:r>
            <a:r>
              <a:rPr sz="2467" spc="27" dirty="0">
                <a:solidFill>
                  <a:srgbClr val="0D101A"/>
                </a:solidFill>
                <a:latin typeface="Calibri"/>
                <a:cs typeface="Calibri"/>
              </a:rPr>
              <a:t> </a:t>
            </a:r>
            <a:r>
              <a:rPr sz="2467" spc="7" dirty="0">
                <a:solidFill>
                  <a:srgbClr val="0D101A"/>
                </a:solidFill>
                <a:latin typeface="Calibri"/>
                <a:cs typeface="Calibri"/>
              </a:rPr>
              <a:t>this</a:t>
            </a:r>
            <a:r>
              <a:rPr sz="2467" spc="27" dirty="0">
                <a:solidFill>
                  <a:srgbClr val="0D101A"/>
                </a:solidFill>
                <a:latin typeface="Calibri"/>
                <a:cs typeface="Calibri"/>
              </a:rPr>
              <a:t> </a:t>
            </a:r>
            <a:r>
              <a:rPr sz="2467" spc="7" dirty="0">
                <a:solidFill>
                  <a:srgbClr val="0D101A"/>
                </a:solidFill>
                <a:latin typeface="Calibri"/>
                <a:cs typeface="Calibri"/>
              </a:rPr>
              <a:t>with</a:t>
            </a:r>
            <a:r>
              <a:rPr sz="2467" spc="27" dirty="0">
                <a:solidFill>
                  <a:srgbClr val="0D101A"/>
                </a:solidFill>
                <a:latin typeface="Calibri"/>
                <a:cs typeface="Calibri"/>
              </a:rPr>
              <a:t> </a:t>
            </a:r>
            <a:r>
              <a:rPr sz="2467" spc="7" dirty="0">
                <a:solidFill>
                  <a:srgbClr val="0D101A"/>
                </a:solidFill>
                <a:latin typeface="Calibri"/>
                <a:cs typeface="Calibri"/>
              </a:rPr>
              <a:t>the</a:t>
            </a:r>
            <a:r>
              <a:rPr sz="2467" spc="20" dirty="0">
                <a:solidFill>
                  <a:srgbClr val="0D101A"/>
                </a:solidFill>
                <a:latin typeface="Calibri"/>
                <a:cs typeface="Calibri"/>
              </a:rPr>
              <a:t> </a:t>
            </a:r>
            <a:r>
              <a:rPr sz="2467" dirty="0">
                <a:solidFill>
                  <a:srgbClr val="0D101A"/>
                </a:solidFill>
                <a:latin typeface="Calibri"/>
                <a:cs typeface="Calibri"/>
              </a:rPr>
              <a:t>combination</a:t>
            </a:r>
            <a:r>
              <a:rPr sz="2467" spc="27" dirty="0">
                <a:solidFill>
                  <a:srgbClr val="0D101A"/>
                </a:solidFill>
                <a:latin typeface="Calibri"/>
                <a:cs typeface="Calibri"/>
              </a:rPr>
              <a:t> </a:t>
            </a:r>
            <a:r>
              <a:rPr sz="2467" spc="7" dirty="0">
                <a:solidFill>
                  <a:srgbClr val="0D101A"/>
                </a:solidFill>
                <a:latin typeface="Calibri"/>
                <a:cs typeface="Calibri"/>
              </a:rPr>
              <a:t>of</a:t>
            </a:r>
            <a:r>
              <a:rPr sz="2467" spc="27" dirty="0">
                <a:solidFill>
                  <a:srgbClr val="0D101A"/>
                </a:solidFill>
                <a:latin typeface="Calibri"/>
                <a:cs typeface="Calibri"/>
              </a:rPr>
              <a:t> </a:t>
            </a:r>
            <a:r>
              <a:rPr sz="2467" spc="13" dirty="0">
                <a:solidFill>
                  <a:srgbClr val="0D101A"/>
                </a:solidFill>
                <a:latin typeface="Calibri"/>
                <a:cs typeface="Calibri"/>
              </a:rPr>
              <a:t>a</a:t>
            </a:r>
            <a:r>
              <a:rPr sz="2467" spc="27" dirty="0">
                <a:solidFill>
                  <a:srgbClr val="0D101A"/>
                </a:solidFill>
                <a:latin typeface="Calibri"/>
                <a:cs typeface="Calibri"/>
              </a:rPr>
              <a:t> </a:t>
            </a:r>
            <a:r>
              <a:rPr sz="2467" spc="7" dirty="0">
                <a:solidFill>
                  <a:srgbClr val="0D101A"/>
                </a:solidFill>
                <a:latin typeface="Calibri"/>
                <a:cs typeface="Calibri"/>
              </a:rPr>
              <a:t>CVT</a:t>
            </a:r>
            <a:r>
              <a:rPr sz="2467" spc="27" dirty="0">
                <a:solidFill>
                  <a:srgbClr val="0D101A"/>
                </a:solidFill>
                <a:latin typeface="Calibri"/>
                <a:cs typeface="Calibri"/>
              </a:rPr>
              <a:t> </a:t>
            </a:r>
            <a:r>
              <a:rPr sz="2467" spc="7" dirty="0">
                <a:solidFill>
                  <a:srgbClr val="0D101A"/>
                </a:solidFill>
                <a:latin typeface="Calibri"/>
                <a:cs typeface="Calibri"/>
              </a:rPr>
              <a:t>which</a:t>
            </a:r>
            <a:r>
              <a:rPr sz="2467" spc="27" dirty="0">
                <a:solidFill>
                  <a:srgbClr val="0D101A"/>
                </a:solidFill>
                <a:latin typeface="Calibri"/>
                <a:cs typeface="Calibri"/>
              </a:rPr>
              <a:t> </a:t>
            </a:r>
            <a:r>
              <a:rPr sz="2467" spc="7" dirty="0">
                <a:solidFill>
                  <a:srgbClr val="0D101A"/>
                </a:solidFill>
                <a:latin typeface="Calibri"/>
                <a:cs typeface="Calibri"/>
              </a:rPr>
              <a:t>has</a:t>
            </a:r>
            <a:r>
              <a:rPr sz="2467" spc="27" dirty="0">
                <a:solidFill>
                  <a:srgbClr val="0D101A"/>
                </a:solidFill>
                <a:latin typeface="Calibri"/>
                <a:cs typeface="Calibri"/>
              </a:rPr>
              <a:t> </a:t>
            </a:r>
            <a:r>
              <a:rPr sz="2467" dirty="0">
                <a:solidFill>
                  <a:srgbClr val="0D101A"/>
                </a:solidFill>
                <a:latin typeface="Calibri"/>
                <a:cs typeface="Calibri"/>
              </a:rPr>
              <a:t>infinite </a:t>
            </a:r>
            <a:r>
              <a:rPr sz="2467" spc="7" dirty="0">
                <a:solidFill>
                  <a:srgbClr val="0D101A"/>
                </a:solidFill>
                <a:latin typeface="Calibri"/>
                <a:cs typeface="Calibri"/>
              </a:rPr>
              <a:t> </a:t>
            </a:r>
            <a:r>
              <a:rPr sz="2467" spc="-7" dirty="0">
                <a:solidFill>
                  <a:srgbClr val="0D101A"/>
                </a:solidFill>
                <a:latin typeface="Calibri"/>
                <a:cs typeface="Calibri"/>
              </a:rPr>
              <a:t>ratios</a:t>
            </a:r>
            <a:r>
              <a:rPr sz="2467" dirty="0">
                <a:solidFill>
                  <a:srgbClr val="0D101A"/>
                </a:solidFill>
                <a:latin typeface="Calibri"/>
                <a:cs typeface="Calibri"/>
              </a:rPr>
              <a:t> </a:t>
            </a:r>
            <a:r>
              <a:rPr sz="2467" spc="7" dirty="0">
                <a:solidFill>
                  <a:srgbClr val="0D101A"/>
                </a:solidFill>
                <a:latin typeface="Calibri"/>
                <a:cs typeface="Calibri"/>
              </a:rPr>
              <a:t>between</a:t>
            </a:r>
            <a:r>
              <a:rPr sz="2467" dirty="0">
                <a:solidFill>
                  <a:srgbClr val="0D101A"/>
                </a:solidFill>
                <a:latin typeface="Calibri"/>
                <a:cs typeface="Calibri"/>
              </a:rPr>
              <a:t> </a:t>
            </a:r>
            <a:r>
              <a:rPr sz="2467" spc="7" dirty="0">
                <a:solidFill>
                  <a:srgbClr val="0D101A"/>
                </a:solidFill>
                <a:latin typeface="Calibri"/>
                <a:cs typeface="Calibri"/>
              </a:rPr>
              <a:t>the</a:t>
            </a:r>
            <a:r>
              <a:rPr sz="2467" dirty="0">
                <a:solidFill>
                  <a:srgbClr val="0D101A"/>
                </a:solidFill>
                <a:latin typeface="Calibri"/>
                <a:cs typeface="Calibri"/>
              </a:rPr>
              <a:t> range </a:t>
            </a:r>
            <a:r>
              <a:rPr sz="2467" spc="7" dirty="0">
                <a:solidFill>
                  <a:srgbClr val="0D101A"/>
                </a:solidFill>
                <a:latin typeface="Calibri"/>
                <a:cs typeface="Calibri"/>
              </a:rPr>
              <a:t>of</a:t>
            </a:r>
            <a:r>
              <a:rPr sz="2467" dirty="0">
                <a:solidFill>
                  <a:srgbClr val="0D101A"/>
                </a:solidFill>
                <a:latin typeface="Calibri"/>
                <a:cs typeface="Calibri"/>
              </a:rPr>
              <a:t> </a:t>
            </a:r>
            <a:r>
              <a:rPr sz="2467" spc="7" dirty="0">
                <a:solidFill>
                  <a:srgbClr val="0D101A"/>
                </a:solidFill>
                <a:latin typeface="Calibri"/>
                <a:cs typeface="Calibri"/>
              </a:rPr>
              <a:t>3:1-0.43:1</a:t>
            </a:r>
            <a:r>
              <a:rPr sz="2467" dirty="0">
                <a:solidFill>
                  <a:srgbClr val="0D101A"/>
                </a:solidFill>
                <a:latin typeface="Calibri"/>
                <a:cs typeface="Calibri"/>
              </a:rPr>
              <a:t> </a:t>
            </a:r>
            <a:r>
              <a:rPr sz="2467" spc="13" dirty="0">
                <a:solidFill>
                  <a:srgbClr val="0D101A"/>
                </a:solidFill>
                <a:latin typeface="Calibri"/>
                <a:cs typeface="Calibri"/>
              </a:rPr>
              <a:t>and</a:t>
            </a:r>
            <a:r>
              <a:rPr sz="2467" spc="7" dirty="0">
                <a:solidFill>
                  <a:srgbClr val="0D101A"/>
                </a:solidFill>
                <a:latin typeface="Calibri"/>
                <a:cs typeface="Calibri"/>
              </a:rPr>
              <a:t> </a:t>
            </a:r>
            <a:r>
              <a:rPr sz="2467" spc="13" dirty="0">
                <a:solidFill>
                  <a:srgbClr val="0D101A"/>
                </a:solidFill>
                <a:latin typeface="Calibri"/>
                <a:cs typeface="Calibri"/>
              </a:rPr>
              <a:t>a</a:t>
            </a:r>
            <a:r>
              <a:rPr sz="2467" spc="7" dirty="0">
                <a:solidFill>
                  <a:srgbClr val="0D101A"/>
                </a:solidFill>
                <a:latin typeface="Calibri"/>
                <a:cs typeface="Calibri"/>
              </a:rPr>
              <a:t> </a:t>
            </a:r>
            <a:r>
              <a:rPr sz="2467" dirty="0">
                <a:solidFill>
                  <a:srgbClr val="0D101A"/>
                </a:solidFill>
                <a:latin typeface="Calibri"/>
                <a:cs typeface="Calibri"/>
              </a:rPr>
              <a:t>two-stage reduction gearbox</a:t>
            </a:r>
            <a:r>
              <a:rPr sz="2467" spc="7" dirty="0">
                <a:solidFill>
                  <a:srgbClr val="0D101A"/>
                </a:solidFill>
                <a:latin typeface="Calibri"/>
                <a:cs typeface="Calibri"/>
              </a:rPr>
              <a:t> of</a:t>
            </a:r>
            <a:r>
              <a:rPr sz="2467" spc="140" dirty="0">
                <a:solidFill>
                  <a:srgbClr val="0D101A"/>
                </a:solidFill>
                <a:latin typeface="Calibri"/>
                <a:cs typeface="Calibri"/>
              </a:rPr>
              <a:t> </a:t>
            </a:r>
            <a:r>
              <a:rPr sz="2467" dirty="0">
                <a:solidFill>
                  <a:srgbClr val="0D101A"/>
                </a:solidFill>
                <a:latin typeface="Calibri"/>
                <a:cs typeface="Calibri"/>
              </a:rPr>
              <a:t>gear </a:t>
            </a:r>
            <a:r>
              <a:rPr sz="2467" spc="-540" dirty="0">
                <a:solidFill>
                  <a:srgbClr val="0D101A"/>
                </a:solidFill>
                <a:latin typeface="Calibri"/>
                <a:cs typeface="Calibri"/>
              </a:rPr>
              <a:t> </a:t>
            </a:r>
            <a:r>
              <a:rPr sz="2467" spc="-7" dirty="0">
                <a:solidFill>
                  <a:srgbClr val="0D101A"/>
                </a:solidFill>
                <a:latin typeface="Calibri"/>
                <a:cs typeface="Calibri"/>
              </a:rPr>
              <a:t>ratio</a:t>
            </a:r>
            <a:r>
              <a:rPr sz="2467" dirty="0">
                <a:solidFill>
                  <a:srgbClr val="0D101A"/>
                </a:solidFill>
                <a:latin typeface="Calibri"/>
                <a:cs typeface="Calibri"/>
              </a:rPr>
              <a:t> </a:t>
            </a:r>
            <a:r>
              <a:rPr sz="2467" spc="7" dirty="0">
                <a:solidFill>
                  <a:srgbClr val="0D101A"/>
                </a:solidFill>
                <a:latin typeface="Calibri"/>
                <a:cs typeface="Calibri"/>
              </a:rPr>
              <a:t>12:1,</a:t>
            </a:r>
            <a:r>
              <a:rPr sz="2467" dirty="0">
                <a:solidFill>
                  <a:srgbClr val="0D101A"/>
                </a:solidFill>
                <a:latin typeface="Calibri"/>
                <a:cs typeface="Calibri"/>
              </a:rPr>
              <a:t> </a:t>
            </a:r>
            <a:r>
              <a:rPr sz="2467" spc="7" dirty="0">
                <a:solidFill>
                  <a:srgbClr val="0D101A"/>
                </a:solidFill>
                <a:latin typeface="Calibri"/>
                <a:cs typeface="Calibri"/>
              </a:rPr>
              <a:t>giving</a:t>
            </a:r>
            <a:r>
              <a:rPr sz="2467" dirty="0">
                <a:solidFill>
                  <a:srgbClr val="0D101A"/>
                </a:solidFill>
                <a:latin typeface="Calibri"/>
                <a:cs typeface="Calibri"/>
              </a:rPr>
              <a:t> </a:t>
            </a:r>
            <a:r>
              <a:rPr sz="2467" spc="7" dirty="0">
                <a:solidFill>
                  <a:srgbClr val="0D101A"/>
                </a:solidFill>
                <a:latin typeface="Calibri"/>
                <a:cs typeface="Calibri"/>
              </a:rPr>
              <a:t>us</a:t>
            </a:r>
            <a:r>
              <a:rPr sz="2467" dirty="0">
                <a:solidFill>
                  <a:srgbClr val="0D101A"/>
                </a:solidFill>
                <a:latin typeface="Calibri"/>
                <a:cs typeface="Calibri"/>
              </a:rPr>
              <a:t> </a:t>
            </a:r>
            <a:r>
              <a:rPr sz="2467" spc="13" dirty="0">
                <a:solidFill>
                  <a:srgbClr val="0D101A"/>
                </a:solidFill>
                <a:latin typeface="Calibri"/>
                <a:cs typeface="Calibri"/>
              </a:rPr>
              <a:t>an</a:t>
            </a:r>
            <a:r>
              <a:rPr sz="2467" spc="7" dirty="0">
                <a:solidFill>
                  <a:srgbClr val="0D101A"/>
                </a:solidFill>
                <a:latin typeface="Calibri"/>
                <a:cs typeface="Calibri"/>
              </a:rPr>
              <a:t> </a:t>
            </a:r>
            <a:r>
              <a:rPr sz="2467" spc="-7" dirty="0">
                <a:solidFill>
                  <a:srgbClr val="0D101A"/>
                </a:solidFill>
                <a:latin typeface="Calibri"/>
                <a:cs typeface="Calibri"/>
              </a:rPr>
              <a:t>overall</a:t>
            </a:r>
            <a:r>
              <a:rPr sz="2467" spc="7" dirty="0">
                <a:solidFill>
                  <a:srgbClr val="0D101A"/>
                </a:solidFill>
                <a:latin typeface="Calibri"/>
                <a:cs typeface="Calibri"/>
              </a:rPr>
              <a:t> </a:t>
            </a:r>
            <a:r>
              <a:rPr sz="2467" dirty="0">
                <a:solidFill>
                  <a:srgbClr val="0D101A"/>
                </a:solidFill>
                <a:latin typeface="Calibri"/>
                <a:cs typeface="Calibri"/>
              </a:rPr>
              <a:t>reduction </a:t>
            </a:r>
            <a:r>
              <a:rPr sz="2467" spc="-7" dirty="0">
                <a:solidFill>
                  <a:srgbClr val="0D101A"/>
                </a:solidFill>
                <a:latin typeface="Calibri"/>
                <a:cs typeface="Calibri"/>
              </a:rPr>
              <a:t>ratio</a:t>
            </a:r>
            <a:r>
              <a:rPr sz="2467" dirty="0">
                <a:solidFill>
                  <a:srgbClr val="0D101A"/>
                </a:solidFill>
                <a:latin typeface="Calibri"/>
                <a:cs typeface="Calibri"/>
              </a:rPr>
              <a:t> </a:t>
            </a:r>
            <a:r>
              <a:rPr sz="2467" spc="7" dirty="0">
                <a:solidFill>
                  <a:srgbClr val="0D101A"/>
                </a:solidFill>
                <a:latin typeface="Calibri"/>
                <a:cs typeface="Calibri"/>
              </a:rPr>
              <a:t>of</a:t>
            </a:r>
            <a:r>
              <a:rPr sz="2467" dirty="0">
                <a:solidFill>
                  <a:srgbClr val="0D101A"/>
                </a:solidFill>
                <a:latin typeface="Calibri"/>
                <a:cs typeface="Calibri"/>
              </a:rPr>
              <a:t> </a:t>
            </a:r>
            <a:r>
              <a:rPr sz="2467" spc="7" dirty="0" smtClean="0">
                <a:solidFill>
                  <a:srgbClr val="0D101A"/>
                </a:solidFill>
                <a:latin typeface="Calibri"/>
                <a:cs typeface="Calibri"/>
              </a:rPr>
              <a:t>36:1</a:t>
            </a:r>
            <a:endParaRPr sz="2467" dirty="0">
              <a:latin typeface="Calibri"/>
              <a:cs typeface="Calibri"/>
            </a:endParaRPr>
          </a:p>
        </p:txBody>
      </p:sp>
    </p:spTree>
    <p:extLst>
      <p:ext uri="{BB962C8B-B14F-4D97-AF65-F5344CB8AC3E}">
        <p14:creationId xmlns:p14="http://schemas.microsoft.com/office/powerpoint/2010/main" val="23827311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592" y="332656"/>
            <a:ext cx="7608094" cy="958850"/>
          </a:xfrm>
        </p:spPr>
        <p:txBody>
          <a:bodyPr/>
          <a:lstStyle/>
          <a:p>
            <a:r>
              <a:rPr lang="en-US" b="1" dirty="0" smtClean="0"/>
              <a:t>Our Drivetrain layout</a:t>
            </a:r>
            <a:endParaRPr lang="en-US" b="1" dirty="0"/>
          </a:p>
        </p:txBody>
      </p:sp>
      <p:pic>
        <p:nvPicPr>
          <p:cNvPr id="1026" name="Picture 2" descr="https://lh7-us.googleusercontent.com/2_rHXoNy7RAz92eNHdDVfGC7opqQXxrGdw8s6ja61GeNkAYUySHxMjBsamXe7nXm64zgCBkM0iofBrjpp5zJJeUJ1BBWZAr356FrGmJm9vB144Ze8Yr0eyEDImvmZdfHkgmkJN7XUwPuQ8PSRW0o2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66" y="1480065"/>
            <a:ext cx="4524780" cy="32922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34222" y="4077072"/>
            <a:ext cx="2404475" cy="2605242"/>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38026" y="482903"/>
            <a:ext cx="2448093" cy="2617763"/>
          </a:xfrm>
          <a:prstGeom prst="rect">
            <a:avLst/>
          </a:prstGeom>
        </p:spPr>
      </p:pic>
      <p:sp>
        <p:nvSpPr>
          <p:cNvPr id="5" name="TextBox 4"/>
          <p:cNvSpPr txBox="1"/>
          <p:nvPr/>
        </p:nvSpPr>
        <p:spPr>
          <a:xfrm>
            <a:off x="1691680" y="4957129"/>
            <a:ext cx="2367251" cy="369332"/>
          </a:xfrm>
          <a:prstGeom prst="rect">
            <a:avLst/>
          </a:prstGeom>
          <a:noFill/>
        </p:spPr>
        <p:txBody>
          <a:bodyPr wrap="none" rtlCol="0">
            <a:spAutoFit/>
          </a:bodyPr>
          <a:lstStyle/>
          <a:p>
            <a:r>
              <a:rPr lang="en-US" dirty="0" smtClean="0"/>
              <a:t>TOP VIEW of the layout</a:t>
            </a:r>
            <a:endParaRPr lang="en-US" dirty="0"/>
          </a:p>
        </p:txBody>
      </p:sp>
      <p:sp>
        <p:nvSpPr>
          <p:cNvPr id="6" name="TextBox 5"/>
          <p:cNvSpPr txBox="1"/>
          <p:nvPr/>
        </p:nvSpPr>
        <p:spPr>
          <a:xfrm>
            <a:off x="5148064" y="3171576"/>
            <a:ext cx="3650456" cy="646331"/>
          </a:xfrm>
          <a:prstGeom prst="rect">
            <a:avLst/>
          </a:prstGeom>
          <a:noFill/>
        </p:spPr>
        <p:txBody>
          <a:bodyPr wrap="square" rtlCol="0">
            <a:spAutoFit/>
          </a:bodyPr>
          <a:lstStyle/>
          <a:p>
            <a:r>
              <a:rPr lang="en-US" dirty="0" smtClean="0"/>
              <a:t>Transmission layout assembled in Solidworks 2021</a:t>
            </a:r>
            <a:endParaRPr lang="en-US" dirty="0"/>
          </a:p>
        </p:txBody>
      </p:sp>
    </p:spTree>
    <p:extLst>
      <p:ext uri="{BB962C8B-B14F-4D97-AF65-F5344CB8AC3E}">
        <p14:creationId xmlns:p14="http://schemas.microsoft.com/office/powerpoint/2010/main" val="24733005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250" y="301244"/>
            <a:ext cx="5954125" cy="7472986"/>
          </a:xfrm>
          <a:prstGeom prst="rect">
            <a:avLst/>
          </a:prstGeom>
        </p:spPr>
        <p:txBody>
          <a:bodyPr vert="horz" wrap="square" lIns="0" tIns="16933" rIns="0" bIns="0" rtlCol="0">
            <a:spAutoFit/>
          </a:bodyPr>
          <a:lstStyle/>
          <a:p>
            <a:pPr marL="505447" marR="738275" indent="-489361">
              <a:lnSpc>
                <a:spcPct val="114999"/>
              </a:lnSpc>
              <a:spcBef>
                <a:spcPts val="133"/>
              </a:spcBef>
              <a:buFont typeface="Arial MT"/>
              <a:buChar char="●"/>
              <a:tabLst>
                <a:tab pos="505447" algn="l"/>
                <a:tab pos="506294" algn="l"/>
              </a:tabLst>
            </a:pPr>
            <a:r>
              <a:rPr lang="en-US" sz="2000" b="1" spc="-7" dirty="0" smtClean="0">
                <a:latin typeface="Calibri" panose="020F0502020204030204" pitchFamily="34" charset="0"/>
                <a:cs typeface="Calibri" panose="020F0502020204030204" pitchFamily="34" charset="0"/>
              </a:rPr>
              <a:t>Engine</a:t>
            </a:r>
            <a:r>
              <a:rPr lang="en-US" sz="2000" spc="-7" dirty="0" smtClean="0">
                <a:latin typeface="Calibri" panose="020F0502020204030204" pitchFamily="34" charset="0"/>
                <a:cs typeface="Calibri" panose="020F0502020204030204" pitchFamily="34" charset="0"/>
              </a:rPr>
              <a:t> : </a:t>
            </a:r>
            <a:r>
              <a:rPr sz="2000" spc="-7" dirty="0" smtClean="0">
                <a:latin typeface="Calibri" panose="020F0502020204030204" pitchFamily="34" charset="0"/>
                <a:cs typeface="Calibri" panose="020F0502020204030204" pitchFamily="34" charset="0"/>
              </a:rPr>
              <a:t>Briggs </a:t>
            </a:r>
            <a:r>
              <a:rPr sz="2000" dirty="0">
                <a:latin typeface="Calibri" panose="020F0502020204030204" pitchFamily="34" charset="0"/>
                <a:cs typeface="Calibri" panose="020F0502020204030204" pitchFamily="34" charset="0"/>
              </a:rPr>
              <a:t>and </a:t>
            </a:r>
            <a:r>
              <a:rPr sz="2000" spc="-27" dirty="0">
                <a:latin typeface="Calibri" panose="020F0502020204030204" pitchFamily="34" charset="0"/>
                <a:cs typeface="Calibri" panose="020F0502020204030204" pitchFamily="34" charset="0"/>
              </a:rPr>
              <a:t>Stratton</a:t>
            </a:r>
            <a:r>
              <a:rPr sz="2000"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Engine is</a:t>
            </a:r>
            <a:r>
              <a:rPr sz="2000"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used which</a:t>
            </a:r>
            <a:r>
              <a:rPr sz="2000"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has</a:t>
            </a:r>
            <a:r>
              <a:rPr sz="2000" dirty="0">
                <a:latin typeface="Calibri" panose="020F0502020204030204" pitchFamily="34" charset="0"/>
                <a:cs typeface="Calibri" panose="020F0502020204030204" pitchFamily="34" charset="0"/>
              </a:rPr>
              <a:t> a</a:t>
            </a:r>
            <a:r>
              <a:rPr sz="2000" spc="-7" dirty="0">
                <a:latin typeface="Calibri" panose="020F0502020204030204" pitchFamily="34" charset="0"/>
                <a:cs typeface="Calibri" panose="020F0502020204030204" pitchFamily="34" charset="0"/>
              </a:rPr>
              <a:t> </a:t>
            </a:r>
            <a:r>
              <a:rPr sz="2000" spc="-13" dirty="0">
                <a:latin typeface="Calibri" panose="020F0502020204030204" pitchFamily="34" charset="0"/>
                <a:cs typeface="Calibri" panose="020F0502020204030204" pitchFamily="34" charset="0"/>
              </a:rPr>
              <a:t>displacement</a:t>
            </a:r>
            <a:r>
              <a:rPr sz="2000"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of</a:t>
            </a:r>
            <a:r>
              <a:rPr sz="2000"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305cc, 9.1HP</a:t>
            </a:r>
            <a:r>
              <a:rPr sz="2000" dirty="0">
                <a:latin typeface="Calibri" panose="020F0502020204030204" pitchFamily="34" charset="0"/>
                <a:cs typeface="Calibri" panose="020F0502020204030204" pitchFamily="34" charset="0"/>
              </a:rPr>
              <a:t> </a:t>
            </a:r>
            <a:r>
              <a:rPr sz="2000" spc="-13" dirty="0">
                <a:latin typeface="Calibri" panose="020F0502020204030204" pitchFamily="34" charset="0"/>
                <a:cs typeface="Calibri" panose="020F0502020204030204" pitchFamily="34" charset="0"/>
              </a:rPr>
              <a:t>at </a:t>
            </a:r>
            <a:r>
              <a:rPr sz="2000" spc="-520" dirty="0">
                <a:latin typeface="Calibri" panose="020F0502020204030204" pitchFamily="34" charset="0"/>
                <a:cs typeface="Calibri" panose="020F0502020204030204" pitchFamily="34" charset="0"/>
              </a:rPr>
              <a:t> </a:t>
            </a:r>
            <a:r>
              <a:rPr sz="2000" spc="-7" dirty="0" smtClean="0">
                <a:latin typeface="Calibri" panose="020F0502020204030204" pitchFamily="34" charset="0"/>
                <a:cs typeface="Calibri" panose="020F0502020204030204" pitchFamily="34" charset="0"/>
              </a:rPr>
              <a:t>3600rpm</a:t>
            </a:r>
            <a:r>
              <a:rPr lang="en-US" sz="2000" spc="-7" dirty="0" smtClean="0">
                <a:latin typeface="Calibri" panose="020F0502020204030204" pitchFamily="34" charset="0"/>
                <a:cs typeface="Calibri" panose="020F0502020204030204" pitchFamily="34" charset="0"/>
              </a:rPr>
              <a:t>.It gives 18.67Nm torque at 2800 RPM</a:t>
            </a:r>
          </a:p>
          <a:p>
            <a:pPr marL="505447" marR="738275" indent="-489361">
              <a:lnSpc>
                <a:spcPct val="114999"/>
              </a:lnSpc>
              <a:spcBef>
                <a:spcPts val="133"/>
              </a:spcBef>
              <a:buFont typeface="Arial MT"/>
              <a:buChar char="●"/>
              <a:tabLst>
                <a:tab pos="505447" algn="l"/>
                <a:tab pos="506294" algn="l"/>
              </a:tabLst>
            </a:pPr>
            <a:endParaRPr sz="2000" dirty="0">
              <a:latin typeface="Calibri" panose="020F0502020204030204" pitchFamily="34" charset="0"/>
              <a:cs typeface="Calibri" panose="020F0502020204030204" pitchFamily="34" charset="0"/>
            </a:endParaRPr>
          </a:p>
          <a:p>
            <a:pPr marL="505447" marR="6773" indent="-489361">
              <a:lnSpc>
                <a:spcPct val="114999"/>
              </a:lnSpc>
              <a:buFont typeface="Arial MT"/>
              <a:buChar char="●"/>
              <a:tabLst>
                <a:tab pos="505447" algn="l"/>
                <a:tab pos="506294" algn="l"/>
              </a:tabLst>
            </a:pPr>
            <a:r>
              <a:rPr lang="en-US" sz="2000" b="1" spc="-40" dirty="0" smtClean="0">
                <a:latin typeface="Calibri" panose="020F0502020204030204" pitchFamily="34" charset="0"/>
                <a:cs typeface="Calibri" panose="020F0502020204030204" pitchFamily="34" charset="0"/>
              </a:rPr>
              <a:t>Transmission used </a:t>
            </a:r>
            <a:r>
              <a:rPr lang="en-US" sz="2000" spc="-40" dirty="0" smtClean="0">
                <a:latin typeface="Calibri" panose="020F0502020204030204" pitchFamily="34" charset="0"/>
                <a:cs typeface="Calibri" panose="020F0502020204030204" pitchFamily="34" charset="0"/>
              </a:rPr>
              <a:t>: </a:t>
            </a:r>
            <a:r>
              <a:rPr sz="2000" spc="-40" dirty="0" err="1" smtClean="0">
                <a:latin typeface="Calibri" panose="020F0502020204030204" pitchFamily="34" charset="0"/>
                <a:cs typeface="Calibri" panose="020F0502020204030204" pitchFamily="34" charset="0"/>
              </a:rPr>
              <a:t>CVTech</a:t>
            </a:r>
            <a:r>
              <a:rPr sz="2000" spc="-7" dirty="0" smtClean="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cvt</a:t>
            </a:r>
            <a:r>
              <a:rPr sz="2000" spc="-7" dirty="0">
                <a:latin typeface="Calibri" panose="020F0502020204030204" pitchFamily="34" charset="0"/>
                <a:cs typeface="Calibri" panose="020F0502020204030204" pitchFamily="34" charset="0"/>
              </a:rPr>
              <a:t> is used with </a:t>
            </a:r>
            <a:r>
              <a:rPr lang="en-US" sz="2000" spc="-7" dirty="0" smtClean="0">
                <a:latin typeface="Calibri" panose="020F0502020204030204" pitchFamily="34" charset="0"/>
                <a:cs typeface="Calibri" panose="020F0502020204030204" pitchFamily="34" charset="0"/>
              </a:rPr>
              <a:t>CC</a:t>
            </a:r>
            <a:r>
              <a:rPr sz="2000" spc="-7" dirty="0" smtClean="0">
                <a:latin typeface="Calibri" panose="020F0502020204030204" pitchFamily="34" charset="0"/>
                <a:cs typeface="Calibri" panose="020F0502020204030204" pitchFamily="34" charset="0"/>
              </a:rPr>
              <a:t> </a:t>
            </a:r>
            <a:r>
              <a:rPr sz="2000" spc="-13" dirty="0">
                <a:latin typeface="Calibri" panose="020F0502020204030204" pitchFamily="34" charset="0"/>
                <a:cs typeface="Calibri" panose="020F0502020204030204" pitchFamily="34" charset="0"/>
              </a:rPr>
              <a:t>distance</a:t>
            </a:r>
            <a:r>
              <a:rPr sz="2000" spc="-7" dirty="0">
                <a:latin typeface="Calibri" panose="020F0502020204030204" pitchFamily="34" charset="0"/>
                <a:cs typeface="Calibri" panose="020F0502020204030204" pitchFamily="34" charset="0"/>
              </a:rPr>
              <a:t> 214mm, min </a:t>
            </a:r>
            <a:r>
              <a:rPr sz="2000" spc="-13" dirty="0">
                <a:latin typeface="Calibri" panose="020F0502020204030204" pitchFamily="34" charset="0"/>
                <a:cs typeface="Calibri" panose="020F0502020204030204" pitchFamily="34" charset="0"/>
              </a:rPr>
              <a:t>gear</a:t>
            </a:r>
            <a:r>
              <a:rPr sz="2000" spc="-7" dirty="0">
                <a:latin typeface="Calibri" panose="020F0502020204030204" pitchFamily="34" charset="0"/>
                <a:cs typeface="Calibri" panose="020F0502020204030204" pitchFamily="34" charset="0"/>
              </a:rPr>
              <a:t> </a:t>
            </a:r>
            <a:r>
              <a:rPr sz="2000" spc="-20" dirty="0">
                <a:latin typeface="Calibri" panose="020F0502020204030204" pitchFamily="34" charset="0"/>
                <a:cs typeface="Calibri" panose="020F0502020204030204" pitchFamily="34" charset="0"/>
              </a:rPr>
              <a:t>ratio</a:t>
            </a:r>
            <a:r>
              <a:rPr sz="2000" spc="-7" dirty="0">
                <a:latin typeface="Calibri" panose="020F0502020204030204" pitchFamily="34" charset="0"/>
                <a:cs typeface="Calibri" panose="020F0502020204030204" pitchFamily="34" charset="0"/>
              </a:rPr>
              <a:t> of 3:1 </a:t>
            </a:r>
            <a:r>
              <a:rPr sz="2000" dirty="0">
                <a:latin typeface="Calibri" panose="020F0502020204030204" pitchFamily="34" charset="0"/>
                <a:cs typeface="Calibri" panose="020F0502020204030204" pitchFamily="34" charset="0"/>
              </a:rPr>
              <a:t>and</a:t>
            </a:r>
            <a:r>
              <a:rPr sz="2000" spc="-7" dirty="0">
                <a:latin typeface="Calibri" panose="020F0502020204030204" pitchFamily="34" charset="0"/>
                <a:cs typeface="Calibri" panose="020F0502020204030204" pitchFamily="34" charset="0"/>
              </a:rPr>
              <a:t> </a:t>
            </a:r>
            <a:r>
              <a:rPr sz="2000" spc="-13" dirty="0">
                <a:latin typeface="Calibri" panose="020F0502020204030204" pitchFamily="34" charset="0"/>
                <a:cs typeface="Calibri" panose="020F0502020204030204" pitchFamily="34" charset="0"/>
              </a:rPr>
              <a:t>maximum</a:t>
            </a:r>
            <a:r>
              <a:rPr sz="2000" spc="-7" dirty="0">
                <a:latin typeface="Calibri" panose="020F0502020204030204" pitchFamily="34" charset="0"/>
                <a:cs typeface="Calibri" panose="020F0502020204030204" pitchFamily="34" charset="0"/>
              </a:rPr>
              <a:t> </a:t>
            </a:r>
            <a:r>
              <a:rPr sz="2000" spc="-20" dirty="0">
                <a:latin typeface="Calibri" panose="020F0502020204030204" pitchFamily="34" charset="0"/>
                <a:cs typeface="Calibri" panose="020F0502020204030204" pitchFamily="34" charset="0"/>
              </a:rPr>
              <a:t>ratio </a:t>
            </a:r>
            <a:r>
              <a:rPr sz="2000" spc="-527" dirty="0">
                <a:latin typeface="Calibri" panose="020F0502020204030204" pitchFamily="34" charset="0"/>
                <a:cs typeface="Calibri" panose="020F0502020204030204" pitchFamily="34" charset="0"/>
              </a:rPr>
              <a:t> </a:t>
            </a:r>
            <a:r>
              <a:rPr sz="2000" spc="-7" dirty="0">
                <a:latin typeface="Calibri" panose="020F0502020204030204" pitchFamily="34" charset="0"/>
                <a:cs typeface="Calibri" panose="020F0502020204030204" pitchFamily="34" charset="0"/>
              </a:rPr>
              <a:t>of</a:t>
            </a:r>
            <a:r>
              <a:rPr sz="2000" spc="-13" dirty="0">
                <a:latin typeface="Calibri" panose="020F0502020204030204" pitchFamily="34" charset="0"/>
                <a:cs typeface="Calibri" panose="020F0502020204030204" pitchFamily="34" charset="0"/>
              </a:rPr>
              <a:t> </a:t>
            </a:r>
            <a:r>
              <a:rPr sz="2000" spc="-7" dirty="0" smtClean="0">
                <a:latin typeface="Calibri" panose="020F0502020204030204" pitchFamily="34" charset="0"/>
                <a:cs typeface="Calibri" panose="020F0502020204030204" pitchFamily="34" charset="0"/>
              </a:rPr>
              <a:t>0.43:1</a:t>
            </a:r>
            <a:r>
              <a:rPr lang="en-US" sz="2000" spc="-7" dirty="0" smtClean="0">
                <a:latin typeface="Calibri" panose="020F0502020204030204" pitchFamily="34" charset="0"/>
                <a:cs typeface="Calibri" panose="020F0502020204030204" pitchFamily="34" charset="0"/>
              </a:rPr>
              <a:t>.</a:t>
            </a:r>
            <a:r>
              <a:rPr lang="en-US" sz="2000" spc="7" dirty="0">
                <a:latin typeface="Calibri" panose="020F0502020204030204" pitchFamily="34" charset="0"/>
                <a:cs typeface="Calibri" panose="020F0502020204030204" pitchFamily="34" charset="0"/>
              </a:rPr>
              <a:t> .</a:t>
            </a:r>
            <a:r>
              <a:rPr lang="en-US" sz="2000" spc="-30" dirty="0" smtClean="0">
                <a:latin typeface="Calibri" panose="020F0502020204030204" pitchFamily="34" charset="0"/>
                <a:cs typeface="Calibri" panose="020F0502020204030204" pitchFamily="34" charset="0"/>
              </a:rPr>
              <a:t>To</a:t>
            </a:r>
            <a:r>
              <a:rPr lang="en-US" sz="2000" spc="-5" dirty="0" smtClean="0">
                <a:latin typeface="Calibri" panose="020F0502020204030204" pitchFamily="34" charset="0"/>
                <a:cs typeface="Calibri" panose="020F0502020204030204" pitchFamily="34" charset="0"/>
              </a:rPr>
              <a:t> </a:t>
            </a:r>
            <a:r>
              <a:rPr lang="en-US" sz="2000" spc="-15" dirty="0" smtClean="0">
                <a:latin typeface="Calibri" panose="020F0502020204030204" pitchFamily="34" charset="0"/>
                <a:cs typeface="Calibri" panose="020F0502020204030204" pitchFamily="34" charset="0"/>
              </a:rPr>
              <a:t>overcome</a:t>
            </a:r>
            <a:r>
              <a:rPr lang="en-US" sz="2000" spc="-5" dirty="0" smtClean="0">
                <a:latin typeface="Calibri" panose="020F0502020204030204" pitchFamily="34" charset="0"/>
                <a:cs typeface="Calibri" panose="020F0502020204030204" pitchFamily="34" charset="0"/>
              </a:rPr>
              <a:t> the</a:t>
            </a:r>
            <a:r>
              <a:rPr lang="en-US" sz="2000" dirty="0" smtClean="0">
                <a:latin typeface="Calibri" panose="020F0502020204030204" pitchFamily="34" charset="0"/>
                <a:cs typeface="Calibri" panose="020F0502020204030204" pitchFamily="34" charset="0"/>
              </a:rPr>
              <a:t> </a:t>
            </a:r>
            <a:r>
              <a:rPr lang="en-US" sz="2000" spc="-10" dirty="0" smtClean="0">
                <a:latin typeface="Calibri" panose="020F0502020204030204" pitchFamily="34" charset="0"/>
                <a:cs typeface="Calibri" panose="020F0502020204030204" pitchFamily="34" charset="0"/>
              </a:rPr>
              <a:t>disadvantages</a:t>
            </a:r>
            <a:r>
              <a:rPr lang="en-US" sz="2000" spc="-5" dirty="0" smtClean="0">
                <a:latin typeface="Calibri" panose="020F0502020204030204" pitchFamily="34" charset="0"/>
                <a:cs typeface="Calibri" panose="020F0502020204030204" pitchFamily="34" charset="0"/>
              </a:rPr>
              <a:t> of</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the </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manual transmission while driving</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CVT </a:t>
            </a:r>
            <a:r>
              <a:rPr lang="en-US" sz="2000" spc="-10" dirty="0" smtClean="0">
                <a:latin typeface="Calibri" panose="020F0502020204030204" pitchFamily="34" charset="0"/>
                <a:cs typeface="Calibri" panose="020F0502020204030204" pitchFamily="34" charset="0"/>
              </a:rPr>
              <a:t>was</a:t>
            </a:r>
            <a:r>
              <a:rPr lang="en-US" sz="2000" spc="-5" dirty="0" smtClean="0">
                <a:latin typeface="Calibri" panose="020F0502020204030204" pitchFamily="34" charset="0"/>
                <a:cs typeface="Calibri" panose="020F0502020204030204" pitchFamily="34" charset="0"/>
              </a:rPr>
              <a:t> chosen</a:t>
            </a:r>
            <a:r>
              <a:rPr lang="en-US" sz="2000" dirty="0" smtClean="0">
                <a:latin typeface="Calibri" panose="020F0502020204030204" pitchFamily="34" charset="0"/>
                <a:cs typeface="Calibri" panose="020F0502020204030204" pitchFamily="34" charset="0"/>
              </a:rPr>
              <a:t> </a:t>
            </a:r>
            <a:r>
              <a:rPr lang="en-US" sz="2000" spc="-15" dirty="0" smtClean="0">
                <a:latin typeface="Calibri" panose="020F0502020204030204" pitchFamily="34" charset="0"/>
                <a:cs typeface="Calibri" panose="020F0502020204030204" pitchFamily="34" charset="0"/>
              </a:rPr>
              <a:t>for</a:t>
            </a:r>
            <a:r>
              <a:rPr lang="en-US" sz="2000" spc="-5" dirty="0" smtClean="0">
                <a:latin typeface="Calibri" panose="020F0502020204030204" pitchFamily="34" charset="0"/>
                <a:cs typeface="Calibri" panose="020F0502020204030204" pitchFamily="34" charset="0"/>
              </a:rPr>
              <a:t> its </a:t>
            </a:r>
            <a:r>
              <a:rPr lang="en-US" sz="2000" spc="-10" dirty="0" smtClean="0">
                <a:latin typeface="Calibri" panose="020F0502020204030204" pitchFamily="34" charset="0"/>
                <a:cs typeface="Calibri" panose="020F0502020204030204" pitchFamily="34" charset="0"/>
              </a:rPr>
              <a:t>compact</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in </a:t>
            </a:r>
            <a:r>
              <a:rPr lang="en-US" sz="2000" spc="-15" dirty="0" smtClean="0">
                <a:latin typeface="Calibri" panose="020F0502020204030204" pitchFamily="34" charset="0"/>
                <a:cs typeface="Calibri" panose="020F0502020204030204" pitchFamily="34" charset="0"/>
              </a:rPr>
              <a:t>size,</a:t>
            </a:r>
            <a:r>
              <a:rPr lang="en-US" sz="2000" spc="-5" dirty="0" smtClean="0">
                <a:latin typeface="Calibri" panose="020F0502020204030204" pitchFamily="34" charset="0"/>
                <a:cs typeface="Calibri" panose="020F0502020204030204" pitchFamily="34" charset="0"/>
              </a:rPr>
              <a:t> </a:t>
            </a:r>
            <a:r>
              <a:rPr lang="en-US" sz="2000" spc="-10" dirty="0" smtClean="0">
                <a:latin typeface="Calibri" panose="020F0502020204030204" pitchFamily="34" charset="0"/>
                <a:cs typeface="Calibri" panose="020F0502020204030204" pitchFamily="34" charset="0"/>
              </a:rPr>
              <a:t>continuous </a:t>
            </a:r>
            <a:r>
              <a:rPr lang="en-US" sz="2000" spc="-390" dirty="0" smtClean="0">
                <a:latin typeface="Calibri" panose="020F0502020204030204" pitchFamily="34" charset="0"/>
                <a:cs typeface="Calibri" panose="020F0502020204030204" pitchFamily="34" charset="0"/>
              </a:rPr>
              <a:t> </a:t>
            </a:r>
            <a:r>
              <a:rPr lang="en-US" sz="2000" spc="-10" dirty="0" smtClean="0">
                <a:latin typeface="Calibri" panose="020F0502020204030204" pitchFamily="34" charset="0"/>
                <a:cs typeface="Calibri" panose="020F0502020204030204" pitchFamily="34" charset="0"/>
              </a:rPr>
              <a:t>acceleration</a:t>
            </a:r>
            <a:r>
              <a:rPr lang="en-US" sz="2000" spc="-5" dirty="0" smtClean="0">
                <a:latin typeface="Calibri" panose="020F0502020204030204" pitchFamily="34" charset="0"/>
                <a:cs typeface="Calibri" panose="020F0502020204030204" pitchFamily="34" charset="0"/>
              </a:rPr>
              <a:t> </a:t>
            </a:r>
            <a:r>
              <a:rPr lang="en-US" sz="2000" dirty="0" smtClean="0">
                <a:latin typeface="Calibri" panose="020F0502020204030204" pitchFamily="34" charset="0"/>
                <a:cs typeface="Calibri" panose="020F0502020204030204" pitchFamily="34" charset="0"/>
              </a:rPr>
              <a:t>and </a:t>
            </a:r>
            <a:r>
              <a:rPr lang="en-US" sz="2000" spc="-5" dirty="0" smtClean="0">
                <a:latin typeface="Calibri" panose="020F0502020204030204" pitchFamily="34" charset="0"/>
                <a:cs typeface="Calibri" panose="020F0502020204030204" pitchFamily="34" charset="0"/>
              </a:rPr>
              <a:t>making</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driving</a:t>
            </a:r>
            <a:r>
              <a:rPr lang="en-US" sz="2000" dirty="0" smtClean="0">
                <a:latin typeface="Calibri" panose="020F0502020204030204" pitchFamily="34" charset="0"/>
                <a:cs typeface="Calibri" panose="020F0502020204030204" pitchFamily="34" charset="0"/>
              </a:rPr>
              <a:t> </a:t>
            </a:r>
            <a:r>
              <a:rPr lang="en-US" sz="2000" spc="-15" dirty="0" smtClean="0">
                <a:latin typeface="Calibri" panose="020F0502020204030204" pitchFamily="34" charset="0"/>
                <a:cs typeface="Calibri" panose="020F0502020204030204" pitchFamily="34" charset="0"/>
              </a:rPr>
              <a:t>easy</a:t>
            </a:r>
            <a:r>
              <a:rPr lang="en-US" sz="2000" dirty="0" smtClean="0">
                <a:latin typeface="Calibri" panose="020F0502020204030204" pitchFamily="34" charset="0"/>
                <a:cs typeface="Calibri" panose="020F0502020204030204" pitchFamily="34" charset="0"/>
              </a:rPr>
              <a:t> </a:t>
            </a:r>
            <a:r>
              <a:rPr lang="en-US" sz="2000" spc="-5" dirty="0" smtClean="0">
                <a:latin typeface="Calibri" panose="020F0502020204030204" pitchFamily="34" charset="0"/>
                <a:cs typeface="Calibri" panose="020F0502020204030204" pitchFamily="34" charset="0"/>
              </a:rPr>
              <a:t>without</a:t>
            </a:r>
            <a:r>
              <a:rPr lang="en-US" sz="2000" dirty="0" smtClean="0">
                <a:latin typeface="Calibri" panose="020F0502020204030204" pitchFamily="34" charset="0"/>
                <a:cs typeface="Calibri" panose="020F0502020204030204" pitchFamily="34" charset="0"/>
              </a:rPr>
              <a:t> </a:t>
            </a:r>
            <a:r>
              <a:rPr lang="en-US" sz="2000" spc="-10" dirty="0" smtClean="0">
                <a:latin typeface="Calibri" panose="020F0502020204030204" pitchFamily="34" charset="0"/>
                <a:cs typeface="Calibri" panose="020F0502020204030204" pitchFamily="34" charset="0"/>
              </a:rPr>
              <a:t>clutch</a:t>
            </a:r>
            <a:r>
              <a:rPr lang="en-US" sz="2000" dirty="0" smtClean="0">
                <a:latin typeface="Calibri" panose="020F0502020204030204" pitchFamily="34" charset="0"/>
                <a:cs typeface="Calibri" panose="020F0502020204030204" pitchFamily="34" charset="0"/>
              </a:rPr>
              <a:t> and </a:t>
            </a:r>
            <a:r>
              <a:rPr lang="en-US" sz="2000" spc="-10" dirty="0" smtClean="0">
                <a:latin typeface="Calibri" panose="020F0502020204030204" pitchFamily="34" charset="0"/>
                <a:cs typeface="Calibri" panose="020F0502020204030204" pitchFamily="34" charset="0"/>
              </a:rPr>
              <a:t>gear</a:t>
            </a:r>
            <a:r>
              <a:rPr lang="en-US" sz="2000" dirty="0" smtClean="0">
                <a:latin typeface="Calibri" panose="020F0502020204030204" pitchFamily="34" charset="0"/>
                <a:cs typeface="Calibri" panose="020F0502020204030204" pitchFamily="34" charset="0"/>
              </a:rPr>
              <a:t> </a:t>
            </a:r>
            <a:r>
              <a:rPr lang="en-US" sz="2000" spc="-15" dirty="0" smtClean="0">
                <a:latin typeface="Calibri" panose="020F0502020204030204" pitchFamily="34" charset="0"/>
                <a:cs typeface="Calibri" panose="020F0502020204030204" pitchFamily="34" charset="0"/>
              </a:rPr>
              <a:t>levers</a:t>
            </a:r>
          </a:p>
          <a:p>
            <a:pPr marL="505447" marR="6773" indent="-489361">
              <a:lnSpc>
                <a:spcPct val="114999"/>
              </a:lnSpc>
              <a:buFont typeface="Arial MT"/>
              <a:buChar char="●"/>
              <a:tabLst>
                <a:tab pos="505447" algn="l"/>
                <a:tab pos="506294" algn="l"/>
              </a:tabLst>
            </a:pPr>
            <a:endParaRPr lang="en-US" sz="2000" spc="-15" dirty="0" smtClean="0">
              <a:latin typeface="Calibri" panose="020F0502020204030204" pitchFamily="34" charset="0"/>
              <a:cs typeface="Calibri" panose="020F0502020204030204" pitchFamily="34" charset="0"/>
            </a:endParaRPr>
          </a:p>
          <a:p>
            <a:pPr marL="505447" marR="6773" indent="-489361">
              <a:lnSpc>
                <a:spcPct val="114999"/>
              </a:lnSpc>
              <a:buFont typeface="Arial MT"/>
              <a:buChar char="●"/>
              <a:tabLst>
                <a:tab pos="505447" algn="l"/>
                <a:tab pos="506294" algn="l"/>
              </a:tabLst>
            </a:pPr>
            <a:r>
              <a:rPr lang="en-US" sz="2000" b="1" dirty="0" smtClean="0">
                <a:latin typeface="Calibri" panose="020F0502020204030204" pitchFamily="34" charset="0"/>
                <a:cs typeface="Calibri" panose="020F0502020204030204" pitchFamily="34" charset="0"/>
              </a:rPr>
              <a:t>Gearbox</a:t>
            </a:r>
            <a:r>
              <a:rPr lang="en-US" sz="2000" dirty="0" smtClean="0">
                <a:latin typeface="Calibri" panose="020F0502020204030204" pitchFamily="34" charset="0"/>
                <a:cs typeface="Calibri" panose="020F0502020204030204" pitchFamily="34" charset="0"/>
              </a:rPr>
              <a:t> : A</a:t>
            </a:r>
            <a:r>
              <a:rPr lang="en-US" sz="2000" spc="-7" dirty="0" smtClean="0">
                <a:latin typeface="Calibri" panose="020F0502020204030204" pitchFamily="34" charset="0"/>
                <a:cs typeface="Calibri" panose="020F0502020204030204" pitchFamily="34" charset="0"/>
              </a:rPr>
              <a:t> </a:t>
            </a:r>
            <a:r>
              <a:rPr lang="en-US" sz="2000" spc="-13" dirty="0" smtClean="0">
                <a:latin typeface="Calibri" panose="020F0502020204030204" pitchFamily="34" charset="0"/>
                <a:cs typeface="Calibri" panose="020F0502020204030204" pitchFamily="34" charset="0"/>
              </a:rPr>
              <a:t>two</a:t>
            </a:r>
            <a:r>
              <a:rPr lang="en-US" sz="2000" spc="-7" dirty="0" smtClean="0">
                <a:latin typeface="Calibri" panose="020F0502020204030204" pitchFamily="34" charset="0"/>
                <a:cs typeface="Calibri" panose="020F0502020204030204" pitchFamily="34" charset="0"/>
              </a:rPr>
              <a:t> </a:t>
            </a:r>
            <a:r>
              <a:rPr lang="en-US" sz="2000" spc="-20" dirty="0" smtClean="0">
                <a:latin typeface="Calibri" panose="020F0502020204030204" pitchFamily="34" charset="0"/>
                <a:cs typeface="Calibri" panose="020F0502020204030204" pitchFamily="34" charset="0"/>
              </a:rPr>
              <a:t>stage</a:t>
            </a:r>
            <a:r>
              <a:rPr lang="en-US" sz="2000" spc="-7" dirty="0" smtClean="0">
                <a:latin typeface="Calibri" panose="020F0502020204030204" pitchFamily="34" charset="0"/>
                <a:cs typeface="Calibri" panose="020F0502020204030204" pitchFamily="34" charset="0"/>
              </a:rPr>
              <a:t> </a:t>
            </a:r>
            <a:r>
              <a:rPr lang="en-US" sz="2000" spc="-13" dirty="0" smtClean="0">
                <a:latin typeface="Calibri" panose="020F0502020204030204" pitchFamily="34" charset="0"/>
                <a:cs typeface="Calibri" panose="020F0502020204030204" pitchFamily="34" charset="0"/>
              </a:rPr>
              <a:t>reduction</a:t>
            </a:r>
            <a:r>
              <a:rPr lang="en-US" sz="2000" dirty="0" smtClean="0">
                <a:latin typeface="Calibri" panose="020F0502020204030204" pitchFamily="34" charset="0"/>
                <a:cs typeface="Calibri" panose="020F0502020204030204" pitchFamily="34" charset="0"/>
              </a:rPr>
              <a:t> </a:t>
            </a:r>
            <a:r>
              <a:rPr lang="en-US" sz="2000" spc="-20" dirty="0" smtClean="0">
                <a:latin typeface="Calibri" panose="020F0502020204030204" pitchFamily="34" charset="0"/>
                <a:cs typeface="Calibri" panose="020F0502020204030204" pitchFamily="34" charset="0"/>
              </a:rPr>
              <a:t>gearbox</a:t>
            </a:r>
            <a:r>
              <a:rPr lang="en-US" sz="2000" spc="-7" dirty="0" smtClean="0">
                <a:latin typeface="Calibri" panose="020F0502020204030204" pitchFamily="34" charset="0"/>
                <a:cs typeface="Calibri" panose="020F0502020204030204" pitchFamily="34" charset="0"/>
              </a:rPr>
              <a:t> with </a:t>
            </a:r>
            <a:r>
              <a:rPr lang="en-US" sz="2000" spc="-13" dirty="0" smtClean="0">
                <a:latin typeface="Calibri" panose="020F0502020204030204" pitchFamily="34" charset="0"/>
                <a:cs typeface="Calibri" panose="020F0502020204030204" pitchFamily="34" charset="0"/>
              </a:rPr>
              <a:t>gear</a:t>
            </a:r>
            <a:r>
              <a:rPr lang="en-US" sz="2000" spc="-7" dirty="0" smtClean="0">
                <a:latin typeface="Calibri" panose="020F0502020204030204" pitchFamily="34" charset="0"/>
                <a:cs typeface="Calibri" panose="020F0502020204030204" pitchFamily="34" charset="0"/>
              </a:rPr>
              <a:t> </a:t>
            </a:r>
            <a:r>
              <a:rPr lang="en-US" sz="2000" spc="-20" dirty="0" smtClean="0">
                <a:latin typeface="Calibri" panose="020F0502020204030204" pitchFamily="34" charset="0"/>
                <a:cs typeface="Calibri" panose="020F0502020204030204" pitchFamily="34" charset="0"/>
              </a:rPr>
              <a:t>ratio</a:t>
            </a:r>
            <a:r>
              <a:rPr lang="en-US" sz="2000" dirty="0" smtClean="0">
                <a:latin typeface="Calibri" panose="020F0502020204030204" pitchFamily="34" charset="0"/>
                <a:cs typeface="Calibri" panose="020F0502020204030204" pitchFamily="34" charset="0"/>
              </a:rPr>
              <a:t> </a:t>
            </a:r>
            <a:r>
              <a:rPr lang="en-US" sz="2000" spc="-7" dirty="0" smtClean="0">
                <a:latin typeface="Calibri" panose="020F0502020204030204" pitchFamily="34" charset="0"/>
                <a:cs typeface="Calibri" panose="020F0502020204030204" pitchFamily="34" charset="0"/>
              </a:rPr>
              <a:t>12:1 is used </a:t>
            </a:r>
            <a:r>
              <a:rPr lang="en-US" sz="2000" spc="-20" dirty="0" smtClean="0">
                <a:latin typeface="Calibri" panose="020F0502020204030204" pitchFamily="34" charset="0"/>
                <a:cs typeface="Calibri" panose="020F0502020204030204" pitchFamily="34" charset="0"/>
              </a:rPr>
              <a:t>for</a:t>
            </a:r>
            <a:r>
              <a:rPr lang="en-US" sz="2000" dirty="0" smtClean="0">
                <a:latin typeface="Calibri" panose="020F0502020204030204" pitchFamily="34" charset="0"/>
                <a:cs typeface="Calibri" panose="020F0502020204030204" pitchFamily="34" charset="0"/>
              </a:rPr>
              <a:t> </a:t>
            </a:r>
            <a:r>
              <a:rPr lang="en-US" sz="2000" spc="-7" dirty="0" smtClean="0">
                <a:latin typeface="Calibri" panose="020F0502020204030204" pitchFamily="34" charset="0"/>
                <a:cs typeface="Calibri" panose="020F0502020204030204" pitchFamily="34" charset="0"/>
              </a:rPr>
              <a:t>the </a:t>
            </a:r>
            <a:r>
              <a:rPr lang="en-US" sz="2000" spc="-13" dirty="0" smtClean="0">
                <a:latin typeface="Calibri" panose="020F0502020204030204" pitchFamily="34" charset="0"/>
                <a:cs typeface="Calibri" panose="020F0502020204030204" pitchFamily="34" charset="0"/>
              </a:rPr>
              <a:t>rear</a:t>
            </a:r>
            <a:r>
              <a:rPr lang="en-US" sz="2000" spc="-7" dirty="0" smtClean="0">
                <a:latin typeface="Calibri" panose="020F0502020204030204" pitchFamily="34" charset="0"/>
                <a:cs typeface="Calibri" panose="020F0502020204030204" pitchFamily="34" charset="0"/>
              </a:rPr>
              <a:t> wheels and it has a bevel gear system which sends power to the front by means of a propeller shaft.</a:t>
            </a:r>
          </a:p>
          <a:p>
            <a:pPr marL="505447" marR="6773" indent="-489361">
              <a:lnSpc>
                <a:spcPct val="114999"/>
              </a:lnSpc>
              <a:buFont typeface="Arial MT"/>
              <a:buChar char="●"/>
              <a:tabLst>
                <a:tab pos="505447" algn="l"/>
                <a:tab pos="506294" algn="l"/>
              </a:tabLst>
            </a:pPr>
            <a:endParaRPr lang="en-US" sz="2000" spc="-15" dirty="0" smtClean="0">
              <a:latin typeface="Calibri" panose="020F0502020204030204" pitchFamily="34" charset="0"/>
              <a:cs typeface="Calibri" panose="020F0502020204030204" pitchFamily="34" charset="0"/>
            </a:endParaRPr>
          </a:p>
          <a:p>
            <a:pPr marL="505447" marR="6773" indent="-489361">
              <a:lnSpc>
                <a:spcPct val="114999"/>
              </a:lnSpc>
              <a:buFont typeface="Arial MT"/>
              <a:buChar char="●"/>
              <a:tabLst>
                <a:tab pos="505447" algn="l"/>
                <a:tab pos="506294" algn="l"/>
              </a:tabLst>
            </a:pPr>
            <a:endParaRPr sz="2000" dirty="0">
              <a:latin typeface="Calibri" panose="020F0502020204030204" pitchFamily="34" charset="0"/>
              <a:cs typeface="Calibri" panose="020F0502020204030204" pitchFamily="34" charset="0"/>
            </a:endParaRPr>
          </a:p>
          <a:p>
            <a:pPr marL="505447" indent="-489361">
              <a:spcBef>
                <a:spcPts val="427"/>
              </a:spcBef>
              <a:buFont typeface="Arial MT"/>
              <a:buChar char="●"/>
              <a:tabLst>
                <a:tab pos="505447" algn="l"/>
                <a:tab pos="506294" algn="l"/>
              </a:tabLst>
            </a:pPr>
            <a:endParaRPr lang="en-US" sz="2000" spc="-20" dirty="0" smtClean="0">
              <a:latin typeface="Calibri" panose="020F0502020204030204" pitchFamily="34" charset="0"/>
              <a:cs typeface="Calibri" panose="020F0502020204030204" pitchFamily="34" charset="0"/>
            </a:endParaRPr>
          </a:p>
          <a:p>
            <a:pPr marL="505447" indent="-489361">
              <a:spcBef>
                <a:spcPts val="427"/>
              </a:spcBef>
              <a:buFont typeface="Arial MT"/>
              <a:buChar char="●"/>
              <a:tabLst>
                <a:tab pos="505447" algn="l"/>
                <a:tab pos="506294" algn="l"/>
              </a:tabLst>
            </a:pPr>
            <a:endParaRPr sz="2000" dirty="0">
              <a:latin typeface="Calibri" panose="020F0502020204030204" pitchFamily="34" charset="0"/>
              <a:cs typeface="Calibri" panose="020F0502020204030204" pitchFamily="34" charset="0"/>
            </a:endParaRPr>
          </a:p>
        </p:txBody>
      </p:sp>
      <p:pic>
        <p:nvPicPr>
          <p:cNvPr id="9" name="object 4"/>
          <p:cNvPicPr/>
          <p:nvPr/>
        </p:nvPicPr>
        <p:blipFill>
          <a:blip r:embed="rId2"/>
          <a:stretch>
            <a:fillRect/>
          </a:stretch>
        </p:blipFill>
        <p:spPr>
          <a:xfrm>
            <a:off x="6649712" y="4683209"/>
            <a:ext cx="2278856" cy="2066925"/>
          </a:xfrm>
          <a:prstGeom prst="rect">
            <a:avLst/>
          </a:prstGeom>
        </p:spPr>
      </p:pic>
      <p:pic>
        <p:nvPicPr>
          <p:cNvPr id="2050" name="Picture 2" descr="https://lh7-us.googleusercontent.com/pAaE-acTct9_LDmcKdR8XU8lqrxtNEj2-h3Nu5u59WMQwek_gadVBq-39N9aGQv00_7ULq9dCQsM1JjkQUpshaPZ3MgFzcZq4cJh2G7RBmG1j8ky_muX7YiOJexpLXXxLEUwuVbYl8Jk8yX1xmMdod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9712" y="2763618"/>
            <a:ext cx="2262333" cy="186213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9712" y="152400"/>
            <a:ext cx="2143125" cy="2553766"/>
          </a:xfrm>
          <a:prstGeom prst="rect">
            <a:avLst/>
          </a:prstGeom>
        </p:spPr>
      </p:pic>
    </p:spTree>
    <p:extLst>
      <p:ext uri="{BB962C8B-B14F-4D97-AF65-F5344CB8AC3E}">
        <p14:creationId xmlns:p14="http://schemas.microsoft.com/office/powerpoint/2010/main" val="2552455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2532" y="201930"/>
            <a:ext cx="5672137" cy="4811574"/>
          </a:xfrm>
          <a:prstGeom prst="rect">
            <a:avLst/>
          </a:prstGeom>
          <a:noFill/>
        </p:spPr>
        <p:txBody>
          <a:bodyPr wrap="square" rtlCol="0">
            <a:spAutoFit/>
          </a:bodyPr>
          <a:lstStyle/>
          <a:p>
            <a:pPr marL="505447" indent="-489361">
              <a:spcBef>
                <a:spcPts val="433"/>
              </a:spcBef>
              <a:buFont typeface="Arial MT"/>
              <a:buChar char="●"/>
              <a:tabLst>
                <a:tab pos="505447" algn="l"/>
                <a:tab pos="506294" algn="l"/>
              </a:tabLst>
            </a:pPr>
            <a:endParaRPr lang="en-US" sz="2000" dirty="0">
              <a:cs typeface="Calibri"/>
            </a:endParaRPr>
          </a:p>
          <a:p>
            <a:pPr marL="358986" indent="-342900">
              <a:spcBef>
                <a:spcPts val="427"/>
              </a:spcBef>
              <a:buFont typeface="Arial" panose="020B0604020202020204" pitchFamily="34" charset="0"/>
              <a:buChar char="•"/>
              <a:tabLst>
                <a:tab pos="505447" algn="l"/>
                <a:tab pos="506294" algn="l"/>
              </a:tabLst>
            </a:pPr>
            <a:r>
              <a:rPr lang="en-US" sz="2000" b="1" dirty="0">
                <a:cs typeface="Calibri"/>
              </a:rPr>
              <a:t>Front Gearbox </a:t>
            </a:r>
            <a:r>
              <a:rPr lang="en-US" sz="2000" dirty="0">
                <a:cs typeface="Calibri"/>
              </a:rPr>
              <a:t>: A</a:t>
            </a:r>
            <a:r>
              <a:rPr lang="en-US" sz="2000" spc="-7" dirty="0">
                <a:cs typeface="Calibri"/>
              </a:rPr>
              <a:t> open </a:t>
            </a:r>
            <a:r>
              <a:rPr lang="en-US" sz="2000" spc="-20" dirty="0">
                <a:cs typeface="Calibri"/>
              </a:rPr>
              <a:t>differential</a:t>
            </a:r>
            <a:r>
              <a:rPr lang="en-US" sz="2000" spc="-7" dirty="0">
                <a:cs typeface="Calibri"/>
              </a:rPr>
              <a:t> with </a:t>
            </a:r>
            <a:r>
              <a:rPr lang="en-US" sz="2000" spc="-13" dirty="0">
                <a:cs typeface="Calibri"/>
              </a:rPr>
              <a:t>gear</a:t>
            </a:r>
            <a:r>
              <a:rPr lang="en-US" sz="2000" spc="-7" dirty="0">
                <a:cs typeface="Calibri"/>
              </a:rPr>
              <a:t> </a:t>
            </a:r>
            <a:r>
              <a:rPr lang="en-US" sz="2000" spc="-20" dirty="0">
                <a:cs typeface="Calibri"/>
              </a:rPr>
              <a:t>ratio</a:t>
            </a:r>
            <a:r>
              <a:rPr lang="en-US" sz="2000" spc="-7" dirty="0">
                <a:cs typeface="Calibri"/>
              </a:rPr>
              <a:t> 12.75:1 is used in the </a:t>
            </a:r>
            <a:r>
              <a:rPr lang="en-US" sz="2000" spc="-20" dirty="0">
                <a:cs typeface="Calibri"/>
              </a:rPr>
              <a:t>front</a:t>
            </a:r>
            <a:r>
              <a:rPr lang="en-US" sz="2000" spc="-20" dirty="0" smtClean="0">
                <a:cs typeface="Calibri"/>
              </a:rPr>
              <a:t>.</a:t>
            </a:r>
            <a:r>
              <a:rPr lang="en-US" sz="2000" spc="-20" dirty="0">
                <a:cs typeface="Calibri"/>
              </a:rPr>
              <a:t> </a:t>
            </a:r>
            <a:r>
              <a:rPr lang="en-US" sz="2000" spc="-20" dirty="0" smtClean="0">
                <a:cs typeface="Calibri"/>
              </a:rPr>
              <a:t>We chose this so that these  </a:t>
            </a:r>
            <a:r>
              <a:rPr lang="en-US" sz="2000" spc="-20" dirty="0">
                <a:cs typeface="Calibri"/>
              </a:rPr>
              <a:t>give independence to the wheels which is better for overall force flow in the front axles</a:t>
            </a:r>
          </a:p>
          <a:p>
            <a:pPr marL="358986" indent="-342900">
              <a:spcBef>
                <a:spcPts val="427"/>
              </a:spcBef>
              <a:buFont typeface="Arial" panose="020B0604020202020204" pitchFamily="34" charset="0"/>
              <a:buChar char="•"/>
              <a:tabLst>
                <a:tab pos="505447" algn="l"/>
                <a:tab pos="506294" algn="l"/>
              </a:tabLst>
            </a:pPr>
            <a:r>
              <a:rPr lang="en-US" sz="2000" b="1" spc="-20" dirty="0" smtClean="0">
                <a:cs typeface="Calibri"/>
              </a:rPr>
              <a:t>Drive </a:t>
            </a:r>
            <a:r>
              <a:rPr lang="en-US" sz="2000" b="1" spc="-20" dirty="0">
                <a:cs typeface="Calibri"/>
              </a:rPr>
              <a:t>Shafts : </a:t>
            </a:r>
            <a:br>
              <a:rPr lang="en-US" sz="2000" b="1" spc="-20" dirty="0">
                <a:cs typeface="Calibri"/>
              </a:rPr>
            </a:br>
            <a:r>
              <a:rPr lang="en-US" sz="2000" b="1" spc="-20" dirty="0">
                <a:cs typeface="Calibri"/>
              </a:rPr>
              <a:t>1.</a:t>
            </a:r>
            <a:r>
              <a:rPr lang="en-US" sz="2000" spc="-20" dirty="0">
                <a:cs typeface="Calibri"/>
              </a:rPr>
              <a:t>UV axles are used in rear for their simple design and high articulation to accommodate the suspension.</a:t>
            </a:r>
            <a:br>
              <a:rPr lang="en-US" sz="2000" spc="-20" dirty="0">
                <a:cs typeface="Calibri"/>
              </a:rPr>
            </a:br>
            <a:r>
              <a:rPr lang="en-US" sz="2000" b="1" spc="-20" dirty="0">
                <a:cs typeface="Calibri"/>
              </a:rPr>
              <a:t>2.</a:t>
            </a:r>
            <a:r>
              <a:rPr lang="en-US" sz="2000" spc="-20" dirty="0">
                <a:cs typeface="Calibri"/>
              </a:rPr>
              <a:t>CV axles(</a:t>
            </a:r>
            <a:r>
              <a:rPr lang="en-US" sz="2000" spc="-20" dirty="0" err="1">
                <a:cs typeface="Calibri"/>
              </a:rPr>
              <a:t>Plungable</a:t>
            </a:r>
            <a:r>
              <a:rPr lang="en-US" sz="2000" spc="-20" dirty="0">
                <a:cs typeface="Calibri"/>
              </a:rPr>
              <a:t> Tripod) are used in the front, these are used to accommodate the drag by steering and suspension system.</a:t>
            </a:r>
            <a:br>
              <a:rPr lang="en-US" sz="2000" spc="-20" dirty="0">
                <a:cs typeface="Calibri"/>
              </a:rPr>
            </a:br>
            <a:r>
              <a:rPr lang="en-US" sz="2000" b="1" spc="-20" dirty="0">
                <a:cs typeface="Calibri"/>
              </a:rPr>
              <a:t>3.</a:t>
            </a:r>
            <a:r>
              <a:rPr lang="en-US" sz="2000" spc="-20" dirty="0">
                <a:cs typeface="Calibri"/>
              </a:rPr>
              <a:t>To transmit power to the front, a propeller shaft with UV joints at ends is used. </a:t>
            </a:r>
            <a:endParaRPr lang="en-US" sz="2000" b="1" spc="-20" dirty="0">
              <a:cs typeface="Calibri"/>
            </a:endParaRPr>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544" y="201930"/>
            <a:ext cx="2436019" cy="250561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032" y="4786312"/>
            <a:ext cx="3075041" cy="204787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8816" y="2453546"/>
            <a:ext cx="2657475" cy="2214342"/>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4724" t="48625" r="6351" b="31871"/>
          <a:stretch/>
        </p:blipFill>
        <p:spPr>
          <a:xfrm>
            <a:off x="592931" y="5338404"/>
            <a:ext cx="4712691" cy="943689"/>
          </a:xfrm>
          <a:prstGeom prst="rect">
            <a:avLst/>
          </a:prstGeom>
        </p:spPr>
      </p:pic>
    </p:spTree>
    <p:extLst>
      <p:ext uri="{BB962C8B-B14F-4D97-AF65-F5344CB8AC3E}">
        <p14:creationId xmlns:p14="http://schemas.microsoft.com/office/powerpoint/2010/main" val="3819592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3743"/>
            <a:ext cx="6552467" cy="698744"/>
          </a:xfrm>
        </p:spPr>
        <p:txBody>
          <a:bodyPr>
            <a:normAutofit fontScale="90000"/>
          </a:bodyPr>
          <a:lstStyle/>
          <a:p>
            <a:r>
              <a:rPr lang="en-US" sz="2400" b="1" dirty="0" smtClean="0"/>
              <a:t>Approach to calculate the gear ratios for gearbox and open differential</a:t>
            </a:r>
            <a:endParaRPr lang="en-US" sz="2400" b="1" dirty="0"/>
          </a:p>
        </p:txBody>
      </p:sp>
      <p:sp>
        <p:nvSpPr>
          <p:cNvPr id="3" name="Content Placeholder 2"/>
          <p:cNvSpPr>
            <a:spLocks noGrp="1"/>
          </p:cNvSpPr>
          <p:nvPr>
            <p:ph idx="1"/>
          </p:nvPr>
        </p:nvSpPr>
        <p:spPr>
          <a:xfrm>
            <a:off x="55785" y="1439199"/>
            <a:ext cx="8867042" cy="6157791"/>
          </a:xfrm>
        </p:spPr>
        <p:txBody>
          <a:bodyPr>
            <a:normAutofit fontScale="25000" lnSpcReduction="20000"/>
          </a:bodyPr>
          <a:lstStyle/>
          <a:p>
            <a:pPr marL="0" indent="0">
              <a:buNone/>
            </a:pPr>
            <a:r>
              <a:rPr lang="en-US" sz="5600" b="1" dirty="0" smtClean="0"/>
              <a:t>1.Assuming </a:t>
            </a:r>
            <a:r>
              <a:rPr lang="en-US" sz="5600" b="1" dirty="0" err="1"/>
              <a:t>gradability</a:t>
            </a:r>
            <a:r>
              <a:rPr lang="en-US" sz="5600" b="1" dirty="0"/>
              <a:t> (say 65%) and finding total tractive forces acting </a:t>
            </a:r>
            <a:endParaRPr lang="en-US" sz="5600" b="1" dirty="0" smtClean="0"/>
          </a:p>
          <a:p>
            <a:pPr marL="0" indent="0">
              <a:buNone/>
            </a:pPr>
            <a:r>
              <a:rPr lang="en-US" sz="5600" b="1" dirty="0" smtClean="0"/>
              <a:t>on </a:t>
            </a:r>
            <a:r>
              <a:rPr lang="en-US" sz="5600" b="1" dirty="0"/>
              <a:t>the vehicle on an inclined plane</a:t>
            </a:r>
            <a:endParaRPr lang="en-US" sz="5600" b="1" dirty="0" smtClean="0">
              <a:effectLst/>
            </a:endParaRPr>
          </a:p>
          <a:p>
            <a:pPr marL="0" indent="0">
              <a:buNone/>
            </a:pPr>
            <a:r>
              <a:rPr lang="en-US" sz="5600" dirty="0" smtClean="0"/>
              <a:t> Total </a:t>
            </a:r>
            <a:r>
              <a:rPr lang="en-US" sz="5600" dirty="0"/>
              <a:t>tractive force= (air) + (friction) + (inclination</a:t>
            </a:r>
            <a:r>
              <a:rPr lang="en-US" sz="5600" dirty="0" smtClean="0"/>
              <a:t>)</a:t>
            </a:r>
          </a:p>
          <a:p>
            <a:pPr marL="0" indent="0">
              <a:buNone/>
            </a:pPr>
            <a:r>
              <a:rPr lang="en-US" sz="5600" dirty="0" smtClean="0"/>
              <a:t>=</a:t>
            </a:r>
            <a:r>
              <a:rPr lang="en-US" sz="5600" dirty="0"/>
              <a:t>  (</a:t>
            </a:r>
            <a:r>
              <a:rPr lang="en-US" sz="5600" dirty="0" smtClean="0"/>
              <a:t>1/2x</a:t>
            </a:r>
            <a:r>
              <a:rPr lang="el-GR" sz="5600" dirty="0"/>
              <a:t>ρ</a:t>
            </a:r>
            <a:r>
              <a:rPr lang="en-US" sz="5600" dirty="0"/>
              <a:t>xC</a:t>
            </a:r>
            <a:r>
              <a:rPr lang="en-US" sz="5600" baseline="-25000" dirty="0"/>
              <a:t>d</a:t>
            </a:r>
            <a:r>
              <a:rPr lang="en-US" sz="5600" dirty="0"/>
              <a:t>xAxv2) + (</a:t>
            </a:r>
            <a:r>
              <a:rPr lang="el-GR" sz="5600" dirty="0"/>
              <a:t>μ</a:t>
            </a:r>
            <a:r>
              <a:rPr lang="en-US" sz="5600" dirty="0"/>
              <a:t>N) + (</a:t>
            </a:r>
            <a:r>
              <a:rPr lang="en-US" sz="5600" dirty="0" err="1"/>
              <a:t>mgsin</a:t>
            </a:r>
            <a:r>
              <a:rPr lang="el-GR" sz="5600" dirty="0"/>
              <a:t>ϴ) </a:t>
            </a:r>
            <a:r>
              <a:rPr lang="el-GR" sz="5600" dirty="0" smtClean="0"/>
              <a:t>= 1740.88 </a:t>
            </a:r>
            <a:r>
              <a:rPr lang="en-US" sz="5600" dirty="0" smtClean="0"/>
              <a:t>N</a:t>
            </a:r>
          </a:p>
          <a:p>
            <a:pPr marL="0" indent="0">
              <a:buNone/>
            </a:pPr>
            <a:endParaRPr lang="en-US" sz="5600" b="0" dirty="0" smtClean="0">
              <a:effectLst/>
            </a:endParaRPr>
          </a:p>
          <a:p>
            <a:pPr marL="0" indent="0">
              <a:buNone/>
            </a:pPr>
            <a:r>
              <a:rPr lang="en-US" sz="5600" b="1" dirty="0" smtClean="0"/>
              <a:t>2.Finding </a:t>
            </a:r>
            <a:r>
              <a:rPr lang="en-US" sz="5600" b="1" dirty="0"/>
              <a:t>torque </a:t>
            </a:r>
            <a:r>
              <a:rPr lang="en-US" sz="5600" b="1" dirty="0" err="1"/>
              <a:t>req</a:t>
            </a:r>
            <a:r>
              <a:rPr lang="en-US" sz="5600" b="1" dirty="0"/>
              <a:t> to overcome the above tractive </a:t>
            </a:r>
            <a:r>
              <a:rPr lang="en-US" sz="5600" b="1" dirty="0" smtClean="0"/>
              <a:t>force</a:t>
            </a:r>
            <a:r>
              <a:rPr lang="en-US" sz="5600" dirty="0"/>
              <a:t>   </a:t>
            </a:r>
            <a:endParaRPr lang="en-US" sz="5600" dirty="0" smtClean="0"/>
          </a:p>
          <a:p>
            <a:pPr marL="0" indent="0">
              <a:buNone/>
            </a:pPr>
            <a:r>
              <a:rPr lang="en-US" sz="5600" dirty="0"/>
              <a:t>  </a:t>
            </a:r>
            <a:r>
              <a:rPr lang="en-US" sz="5600" dirty="0" err="1"/>
              <a:t>Τ</a:t>
            </a:r>
            <a:r>
              <a:rPr lang="en-US" sz="5600" baseline="-25000" dirty="0" err="1"/>
              <a:t>.req</a:t>
            </a:r>
            <a:r>
              <a:rPr lang="en-US" sz="5600" dirty="0"/>
              <a:t> = r x </a:t>
            </a:r>
            <a:r>
              <a:rPr lang="en-US" sz="5600" dirty="0" smtClean="0"/>
              <a:t>F =</a:t>
            </a:r>
            <a:r>
              <a:rPr lang="en-US" sz="5600" b="1" dirty="0" smtClean="0">
                <a:effectLst>
                  <a:outerShdw blurRad="38100" dist="38100" dir="2700000" algn="tl">
                    <a:srgbClr val="000000">
                      <a:alpha val="43137"/>
                    </a:srgbClr>
                  </a:outerShdw>
                </a:effectLst>
              </a:rPr>
              <a:t>508.51 Nm</a:t>
            </a:r>
          </a:p>
          <a:p>
            <a:pPr marL="0" indent="0">
              <a:buNone/>
            </a:pPr>
            <a:endParaRPr lang="en-US" sz="5600" b="0" dirty="0" smtClean="0">
              <a:effectLst/>
            </a:endParaRPr>
          </a:p>
          <a:p>
            <a:pPr marL="0" indent="0">
              <a:buNone/>
            </a:pPr>
            <a:r>
              <a:rPr lang="en-US" sz="5600" b="1" dirty="0" smtClean="0"/>
              <a:t>3.Finding gear ratio(multiplication factor) to achieve the </a:t>
            </a:r>
            <a:r>
              <a:rPr lang="en-US" sz="5600" b="1" dirty="0" err="1" smtClean="0"/>
              <a:t>req</a:t>
            </a:r>
            <a:r>
              <a:rPr lang="en-US" sz="5600" b="1" dirty="0" smtClean="0"/>
              <a:t> </a:t>
            </a:r>
          </a:p>
          <a:p>
            <a:pPr marL="0" indent="0">
              <a:buNone/>
            </a:pPr>
            <a:r>
              <a:rPr lang="en-US" sz="5600" b="1" dirty="0" smtClean="0"/>
              <a:t>torque from engine torque for REAR</a:t>
            </a:r>
            <a:endParaRPr lang="en-US" sz="5600" b="1" dirty="0"/>
          </a:p>
          <a:p>
            <a:pPr marL="0" indent="0">
              <a:buNone/>
            </a:pPr>
            <a:r>
              <a:rPr lang="en-US" sz="5600" dirty="0" err="1" smtClean="0"/>
              <a:t>T</a:t>
            </a:r>
            <a:r>
              <a:rPr lang="en-US" sz="5600" baseline="-25000" dirty="0" err="1" smtClean="0"/>
              <a:t>req</a:t>
            </a:r>
            <a:r>
              <a:rPr lang="en-US" sz="5600" dirty="0" smtClean="0"/>
              <a:t> </a:t>
            </a:r>
            <a:r>
              <a:rPr lang="en-US" sz="5600" dirty="0"/>
              <a:t>= </a:t>
            </a:r>
            <a:r>
              <a:rPr lang="en-US" sz="5600" dirty="0" err="1"/>
              <a:t>T</a:t>
            </a:r>
            <a:r>
              <a:rPr lang="en-US" sz="5600" baseline="-25000" dirty="0" err="1"/>
              <a:t>engine</a:t>
            </a:r>
            <a:r>
              <a:rPr lang="en-US" sz="5600" dirty="0"/>
              <a:t> x (G.R x CVT.R) x (</a:t>
            </a:r>
            <a:r>
              <a:rPr lang="el-GR" sz="5600" dirty="0"/>
              <a:t>η</a:t>
            </a:r>
            <a:r>
              <a:rPr lang="en-US" sz="5600" baseline="-25000" dirty="0" err="1"/>
              <a:t>cvt</a:t>
            </a:r>
            <a:r>
              <a:rPr lang="en-US" sz="5600" dirty="0"/>
              <a:t> x </a:t>
            </a:r>
            <a:r>
              <a:rPr lang="el-GR" sz="5600" dirty="0"/>
              <a:t>η</a:t>
            </a:r>
            <a:r>
              <a:rPr lang="en-US" sz="5600" baseline="-25000" dirty="0" err="1"/>
              <a:t>gb</a:t>
            </a:r>
            <a:r>
              <a:rPr lang="en-US" sz="5600" baseline="-25000" dirty="0"/>
              <a:t>)</a:t>
            </a:r>
            <a:endParaRPr lang="en-US" sz="5600" b="0" dirty="0" smtClean="0">
              <a:effectLst/>
            </a:endParaRPr>
          </a:p>
          <a:p>
            <a:pPr marL="0" indent="0">
              <a:buNone/>
            </a:pPr>
            <a:r>
              <a:rPr lang="en-US" sz="5600" dirty="0"/>
              <a:t>     G.R = 11.64 :1 </a:t>
            </a:r>
            <a:r>
              <a:rPr lang="en-US" sz="5600" dirty="0" err="1"/>
              <a:t>i.e</a:t>
            </a:r>
            <a:r>
              <a:rPr lang="en-US" sz="5600" dirty="0"/>
              <a:t> rounded to </a:t>
            </a:r>
            <a:r>
              <a:rPr lang="en-US" sz="5600" b="1" dirty="0">
                <a:effectLst>
                  <a:outerShdw blurRad="38100" dist="38100" dir="2700000" algn="tl">
                    <a:srgbClr val="000000">
                      <a:alpha val="43137"/>
                    </a:srgbClr>
                  </a:outerShdw>
                </a:effectLst>
              </a:rPr>
              <a:t>12 : </a:t>
            </a:r>
            <a:r>
              <a:rPr lang="en-US" sz="5600" b="1" dirty="0" smtClean="0">
                <a:effectLst>
                  <a:outerShdw blurRad="38100" dist="38100" dir="2700000" algn="tl">
                    <a:srgbClr val="000000">
                      <a:alpha val="43137"/>
                    </a:srgbClr>
                  </a:outerShdw>
                </a:effectLst>
              </a:rPr>
              <a:t>1</a:t>
            </a:r>
          </a:p>
          <a:p>
            <a:pPr marL="0" indent="0">
              <a:buNone/>
            </a:pPr>
            <a:r>
              <a:rPr lang="en-US" sz="5600" dirty="0"/>
              <a:t/>
            </a:r>
            <a:br>
              <a:rPr lang="en-US" sz="5600" dirty="0"/>
            </a:br>
            <a:r>
              <a:rPr lang="en-US" sz="5600" dirty="0" smtClean="0"/>
              <a:t>Torque </a:t>
            </a:r>
            <a:r>
              <a:rPr lang="en-US" sz="5600" dirty="0"/>
              <a:t>achieved at rear  is </a:t>
            </a:r>
            <a:endParaRPr lang="en-US" sz="5600" dirty="0" smtClean="0"/>
          </a:p>
          <a:p>
            <a:pPr marL="0" indent="0">
              <a:buNone/>
            </a:pPr>
            <a:r>
              <a:rPr lang="en-US" sz="5600" dirty="0" err="1" smtClean="0"/>
              <a:t>T</a:t>
            </a:r>
            <a:r>
              <a:rPr lang="en-US" sz="5600" baseline="-25000" dirty="0" err="1" smtClean="0"/>
              <a:t>achieved</a:t>
            </a:r>
            <a:r>
              <a:rPr lang="en-US" sz="5600" dirty="0" smtClean="0"/>
              <a:t> </a:t>
            </a:r>
            <a:r>
              <a:rPr lang="en-US" sz="5600" dirty="0"/>
              <a:t>= </a:t>
            </a:r>
            <a:r>
              <a:rPr lang="en-US" sz="5600" dirty="0" err="1"/>
              <a:t>T</a:t>
            </a:r>
            <a:r>
              <a:rPr lang="en-US" sz="5600" baseline="-25000" dirty="0" err="1"/>
              <a:t>engine</a:t>
            </a:r>
            <a:r>
              <a:rPr lang="en-US" sz="5600" dirty="0"/>
              <a:t> x (G.R x CVT.R) x </a:t>
            </a:r>
            <a:r>
              <a:rPr lang="el-GR" sz="5600" dirty="0"/>
              <a:t>η</a:t>
            </a:r>
            <a:r>
              <a:rPr lang="en-US" sz="5600" baseline="-25000" dirty="0" err="1"/>
              <a:t>cvt</a:t>
            </a:r>
            <a:r>
              <a:rPr lang="en-US" sz="5600" dirty="0"/>
              <a:t> x </a:t>
            </a:r>
            <a:r>
              <a:rPr lang="el-GR" sz="5600" dirty="0"/>
              <a:t>η</a:t>
            </a:r>
            <a:r>
              <a:rPr lang="en-US" sz="5600" baseline="-25000" dirty="0" err="1" smtClean="0"/>
              <a:t>gb</a:t>
            </a:r>
            <a:r>
              <a:rPr lang="en-US" sz="5600" dirty="0"/>
              <a:t> </a:t>
            </a:r>
            <a:r>
              <a:rPr lang="en-US" sz="5600" dirty="0" smtClean="0"/>
              <a:t>= </a:t>
            </a:r>
            <a:r>
              <a:rPr lang="en-US" sz="5600" b="1" dirty="0">
                <a:effectLst>
                  <a:outerShdw blurRad="38100" dist="38100" dir="2700000" algn="tl">
                    <a:srgbClr val="000000">
                      <a:alpha val="43137"/>
                    </a:srgbClr>
                  </a:outerShdw>
                </a:effectLst>
              </a:rPr>
              <a:t>524.20 </a:t>
            </a:r>
            <a:r>
              <a:rPr lang="en-US" sz="5600" b="1" dirty="0" smtClean="0">
                <a:effectLst>
                  <a:outerShdw blurRad="38100" dist="38100" dir="2700000" algn="tl">
                    <a:srgbClr val="000000">
                      <a:alpha val="43137"/>
                    </a:srgbClr>
                  </a:outerShdw>
                </a:effectLst>
              </a:rPr>
              <a:t>Nm</a:t>
            </a:r>
          </a:p>
          <a:p>
            <a:pPr marL="0" indent="0">
              <a:buNone/>
            </a:pPr>
            <a:endParaRPr lang="en-US" sz="5600" b="0" dirty="0" smtClean="0">
              <a:effectLst/>
            </a:endParaRPr>
          </a:p>
          <a:p>
            <a:pPr marL="0" indent="0">
              <a:buNone/>
            </a:pPr>
            <a:r>
              <a:rPr lang="en-US" sz="5600" b="1" dirty="0" smtClean="0"/>
              <a:t>4.Finding </a:t>
            </a:r>
            <a:r>
              <a:rPr lang="en-US" sz="5600" b="1" dirty="0"/>
              <a:t>gear ratio for front(Diff) to achieve same torque as rear</a:t>
            </a:r>
            <a:endParaRPr lang="en-US" sz="5600" b="0" dirty="0" smtClean="0">
              <a:effectLst/>
            </a:endParaRPr>
          </a:p>
          <a:p>
            <a:pPr marL="0" indent="0">
              <a:buNone/>
            </a:pPr>
            <a:r>
              <a:rPr lang="en-US" sz="5600" dirty="0" err="1"/>
              <a:t>T</a:t>
            </a:r>
            <a:r>
              <a:rPr lang="en-US" sz="5600" baseline="-25000" dirty="0" err="1"/>
              <a:t>achieved</a:t>
            </a:r>
            <a:r>
              <a:rPr lang="en-US" sz="5600" baseline="-25000" dirty="0"/>
              <a:t> at rear </a:t>
            </a:r>
            <a:r>
              <a:rPr lang="en-US" sz="5600" dirty="0"/>
              <a:t> = </a:t>
            </a:r>
            <a:r>
              <a:rPr lang="en-US" sz="5600" dirty="0" err="1"/>
              <a:t>T</a:t>
            </a:r>
            <a:r>
              <a:rPr lang="en-US" sz="5600" baseline="-25000" dirty="0" err="1"/>
              <a:t>engine</a:t>
            </a:r>
            <a:r>
              <a:rPr lang="en-US" sz="5600" dirty="0"/>
              <a:t> x (G.R x CVT.R) x (</a:t>
            </a:r>
            <a:r>
              <a:rPr lang="el-GR" sz="5600" dirty="0"/>
              <a:t>η</a:t>
            </a:r>
            <a:r>
              <a:rPr lang="en-US" sz="5600" baseline="-25000" dirty="0" err="1"/>
              <a:t>cvt</a:t>
            </a:r>
            <a:r>
              <a:rPr lang="en-US" sz="5600" dirty="0"/>
              <a:t> x </a:t>
            </a:r>
            <a:r>
              <a:rPr lang="el-GR" sz="5600" dirty="0"/>
              <a:t>η</a:t>
            </a:r>
            <a:r>
              <a:rPr lang="en-US" sz="5600" baseline="-25000" dirty="0" err="1"/>
              <a:t>gb</a:t>
            </a:r>
            <a:r>
              <a:rPr lang="en-US" sz="5600" baseline="-25000" dirty="0"/>
              <a:t> </a:t>
            </a:r>
            <a:r>
              <a:rPr lang="en-US" sz="5600" dirty="0"/>
              <a:t>x</a:t>
            </a:r>
            <a:r>
              <a:rPr lang="en-US" sz="5600" baseline="-25000" dirty="0"/>
              <a:t> </a:t>
            </a:r>
            <a:r>
              <a:rPr lang="el-GR" sz="5600" dirty="0"/>
              <a:t>η</a:t>
            </a:r>
            <a:r>
              <a:rPr lang="en-US" sz="5600" baseline="-25000" dirty="0"/>
              <a:t>bevel gears</a:t>
            </a:r>
            <a:r>
              <a:rPr lang="en-US" sz="5600" dirty="0"/>
              <a:t> x </a:t>
            </a:r>
            <a:r>
              <a:rPr lang="el-GR" sz="5600" dirty="0"/>
              <a:t>η</a:t>
            </a:r>
            <a:r>
              <a:rPr lang="en-US" sz="5600" baseline="-25000" dirty="0"/>
              <a:t>diff</a:t>
            </a:r>
            <a:r>
              <a:rPr lang="en-US" sz="5600" dirty="0"/>
              <a:t>)</a:t>
            </a:r>
            <a:endParaRPr lang="en-US" sz="5600" b="0" dirty="0" smtClean="0">
              <a:effectLst/>
            </a:endParaRPr>
          </a:p>
          <a:p>
            <a:pPr marL="0" indent="0">
              <a:buNone/>
            </a:pPr>
            <a:r>
              <a:rPr lang="en-US" sz="5600" dirty="0"/>
              <a:t>                   G.R for </a:t>
            </a:r>
            <a:r>
              <a:rPr lang="en-US" sz="5600" b="1" dirty="0">
                <a:effectLst>
                  <a:outerShdw blurRad="38100" dist="38100" dir="2700000" algn="tl">
                    <a:srgbClr val="000000">
                      <a:alpha val="43137"/>
                    </a:srgbClr>
                  </a:outerShdw>
                </a:effectLst>
              </a:rPr>
              <a:t>front=12.75:1</a:t>
            </a:r>
            <a:endParaRPr lang="en-US" sz="5600" b="1" dirty="0" smtClean="0">
              <a:effectLst>
                <a:outerShdw blurRad="38100" dist="38100" dir="2700000" algn="tl">
                  <a:srgbClr val="000000">
                    <a:alpha val="43137"/>
                  </a:srgbClr>
                </a:outerShdw>
              </a:effectLst>
            </a:endParaRPr>
          </a:p>
          <a:p>
            <a:pPr marL="0" indent="0">
              <a:buNone/>
            </a:pPr>
            <a:r>
              <a:rPr lang="en-US" sz="5600" dirty="0" smtClean="0"/>
              <a:t/>
            </a:r>
            <a:br>
              <a:rPr lang="en-US" sz="5600" dirty="0" smtClean="0"/>
            </a:br>
            <a:r>
              <a:rPr lang="en-US" sz="5600" b="1" dirty="0"/>
              <a:t>5.Finding max velocity achieved</a:t>
            </a:r>
            <a:endParaRPr lang="en-US" sz="5600" b="0" dirty="0" smtClean="0">
              <a:effectLst/>
            </a:endParaRPr>
          </a:p>
          <a:p>
            <a:pPr marL="0" indent="0">
              <a:buNone/>
            </a:pPr>
            <a:r>
              <a:rPr lang="en-US" sz="5600" dirty="0"/>
              <a:t>Case 1 : Vehicle is 2WD </a:t>
            </a:r>
            <a:endParaRPr lang="en-US" sz="5600" b="0" dirty="0" smtClean="0">
              <a:effectLst/>
            </a:endParaRPr>
          </a:p>
          <a:p>
            <a:pPr marL="0" indent="0">
              <a:buNone/>
            </a:pPr>
            <a:r>
              <a:rPr lang="en-US" sz="5600" dirty="0" err="1"/>
              <a:t>v</a:t>
            </a:r>
            <a:r>
              <a:rPr lang="en-US" sz="5600" baseline="-25000" dirty="0" err="1"/>
              <a:t>max</a:t>
            </a:r>
            <a:r>
              <a:rPr lang="en-US" sz="5600" dirty="0"/>
              <a:t> = r x </a:t>
            </a:r>
            <a:r>
              <a:rPr lang="el-GR" sz="5600" dirty="0"/>
              <a:t>ω </a:t>
            </a:r>
            <a:r>
              <a:rPr lang="en-US" sz="5600" dirty="0"/>
              <a:t>x G.R x </a:t>
            </a:r>
            <a:r>
              <a:rPr lang="el-GR" sz="5600" dirty="0" smtClean="0"/>
              <a:t>η</a:t>
            </a:r>
            <a:r>
              <a:rPr lang="en-US" sz="5600" dirty="0"/>
              <a:t> </a:t>
            </a:r>
            <a:r>
              <a:rPr lang="en-US" sz="5600" dirty="0" smtClean="0"/>
              <a:t>= </a:t>
            </a:r>
            <a:r>
              <a:rPr lang="en-US" sz="5600" b="1" dirty="0" smtClean="0">
                <a:effectLst>
                  <a:outerShdw blurRad="38100" dist="38100" dir="2700000" algn="tl">
                    <a:srgbClr val="000000">
                      <a:alpha val="43137"/>
                    </a:srgbClr>
                  </a:outerShdw>
                </a:effectLst>
              </a:rPr>
              <a:t>57.22 Km/</a:t>
            </a:r>
            <a:r>
              <a:rPr lang="en-US" sz="5600" b="1" dirty="0" err="1" smtClean="0">
                <a:effectLst>
                  <a:outerShdw blurRad="38100" dist="38100" dir="2700000" algn="tl">
                    <a:srgbClr val="000000">
                      <a:alpha val="43137"/>
                    </a:srgbClr>
                  </a:outerShdw>
                </a:effectLst>
              </a:rPr>
              <a:t>hr</a:t>
            </a:r>
            <a:endParaRPr lang="en-US" sz="5600" b="1" dirty="0" smtClean="0">
              <a:effectLst>
                <a:outerShdw blurRad="38100" dist="38100" dir="2700000" algn="tl">
                  <a:srgbClr val="000000">
                    <a:alpha val="43137"/>
                  </a:srgbClr>
                </a:outerShdw>
              </a:effectLst>
            </a:endParaRPr>
          </a:p>
          <a:p>
            <a:pPr marL="0" indent="0">
              <a:buNone/>
            </a:pPr>
            <a:r>
              <a:rPr lang="en-US" sz="5600" dirty="0" smtClean="0"/>
              <a:t>Case </a:t>
            </a:r>
            <a:r>
              <a:rPr lang="en-US" sz="5600" dirty="0"/>
              <a:t>2 : Vehicle is AWD</a:t>
            </a:r>
            <a:endParaRPr lang="en-US" sz="5600" b="0" dirty="0" smtClean="0">
              <a:effectLst/>
            </a:endParaRPr>
          </a:p>
          <a:p>
            <a:pPr marL="0" indent="0">
              <a:buNone/>
            </a:pPr>
            <a:r>
              <a:rPr lang="en-US" sz="5600" dirty="0" err="1" smtClean="0"/>
              <a:t>v</a:t>
            </a:r>
            <a:r>
              <a:rPr lang="en-US" sz="5600" baseline="-25000" dirty="0" err="1" smtClean="0"/>
              <a:t>max</a:t>
            </a:r>
            <a:r>
              <a:rPr lang="en-US" sz="5600" dirty="0" smtClean="0"/>
              <a:t> </a:t>
            </a:r>
            <a:r>
              <a:rPr lang="en-US" sz="5600" dirty="0"/>
              <a:t>= r x </a:t>
            </a:r>
            <a:r>
              <a:rPr lang="el-GR" sz="5600" dirty="0"/>
              <a:t>ω </a:t>
            </a:r>
            <a:r>
              <a:rPr lang="en-US" sz="5600" dirty="0"/>
              <a:t>x G.R </a:t>
            </a:r>
            <a:r>
              <a:rPr lang="en-US" sz="5600" dirty="0" smtClean="0"/>
              <a:t>x </a:t>
            </a:r>
            <a:r>
              <a:rPr lang="el-GR" sz="5600" dirty="0" smtClean="0"/>
              <a:t>η</a:t>
            </a:r>
            <a:r>
              <a:rPr lang="en-US" sz="5600" dirty="0" smtClean="0"/>
              <a:t> = </a:t>
            </a:r>
            <a:r>
              <a:rPr lang="en-US" sz="5600" b="1" dirty="0" smtClean="0">
                <a:effectLst>
                  <a:outerShdw blurRad="38100" dist="38100" dir="2700000" algn="tl">
                    <a:srgbClr val="000000">
                      <a:alpha val="43137"/>
                    </a:srgbClr>
                  </a:outerShdw>
                </a:effectLst>
              </a:rPr>
              <a:t>52.24 Km/</a:t>
            </a:r>
            <a:r>
              <a:rPr lang="en-US" sz="5600" b="1" dirty="0" err="1" smtClean="0">
                <a:effectLst>
                  <a:outerShdw blurRad="38100" dist="38100" dir="2700000" algn="tl">
                    <a:srgbClr val="000000">
                      <a:alpha val="43137"/>
                    </a:srgbClr>
                  </a:outerShdw>
                </a:effectLst>
              </a:rPr>
              <a:t>hr</a:t>
            </a:r>
            <a:endParaRPr lang="en-US" sz="5600" b="1" dirty="0" smtClean="0">
              <a:effectLst>
                <a:outerShdw blurRad="38100" dist="38100" dir="2700000" algn="tl">
                  <a:srgbClr val="000000">
                    <a:alpha val="43137"/>
                  </a:srgbClr>
                </a:outerShdw>
              </a:effectLst>
            </a:endParaRPr>
          </a:p>
          <a:p>
            <a:pPr marL="0" indent="0">
              <a:buNone/>
            </a:pPr>
            <a:r>
              <a:rPr lang="en-US" sz="5600" dirty="0" smtClean="0"/>
              <a:t/>
            </a:r>
            <a:br>
              <a:rPr lang="en-US" sz="5600" dirty="0" smtClean="0"/>
            </a:br>
            <a:endParaRPr lang="en-US" sz="5600" b="0" dirty="0" smtClean="0">
              <a:effectLst/>
            </a:endParaRPr>
          </a:p>
          <a:p>
            <a:r>
              <a:rPr lang="en-US" sz="1600" dirty="0" smtClean="0"/>
              <a:t/>
            </a:r>
            <a:br>
              <a:rPr lang="en-US" sz="1600" dirty="0" smtClean="0"/>
            </a:br>
            <a:r>
              <a:rPr lang="en-US" sz="1600" dirty="0" smtClean="0"/>
              <a:t/>
            </a:r>
            <a:br>
              <a:rPr lang="en-US" sz="1600" dirty="0" smtClean="0"/>
            </a:br>
            <a:r>
              <a:rPr lang="en-US" sz="1600" dirty="0" smtClean="0"/>
              <a:t/>
            </a:r>
            <a:br>
              <a:rPr lang="en-US" sz="1600" dirty="0" smtClean="0"/>
            </a:br>
            <a:r>
              <a:rPr lang="en-US" sz="1600" dirty="0" smtClean="0"/>
              <a:t/>
            </a:r>
            <a:br>
              <a:rPr lang="en-US" sz="1600" dirty="0" smtClean="0"/>
            </a:br>
            <a:endParaRPr lang="el-GR" sz="1600" b="0" dirty="0" smtClean="0">
              <a:effectLst/>
            </a:endParaRPr>
          </a:p>
          <a:p>
            <a:pPr marL="0" indent="0">
              <a:buNone/>
            </a:pPr>
            <a:r>
              <a:rPr lang="el-GR" sz="1600" dirty="0"/>
              <a:t>                                    </a:t>
            </a:r>
            <a:endParaRPr lang="el-GR" sz="1600" b="0" dirty="0" smtClean="0">
              <a:effectLst/>
            </a:endParaRPr>
          </a:p>
          <a:p>
            <a:pPr marL="0" indent="0">
              <a:buNone/>
            </a:pPr>
            <a:r>
              <a:rPr lang="en-US" dirty="0" smtClean="0"/>
              <a:t/>
            </a:r>
            <a:br>
              <a:rPr lang="en-US" dirty="0" smtClean="0"/>
            </a:br>
            <a:r>
              <a:rPr lang="en-US" dirty="0" smtClean="0"/>
              <a:t/>
            </a:r>
            <a:br>
              <a:rPr lang="en-US" dirty="0" smtClean="0"/>
            </a:br>
            <a:endParaRPr lang="en-US" dirty="0"/>
          </a:p>
        </p:txBody>
      </p:sp>
      <p:sp>
        <p:nvSpPr>
          <p:cNvPr id="4" name="TextBox 3"/>
          <p:cNvSpPr txBox="1"/>
          <p:nvPr/>
        </p:nvSpPr>
        <p:spPr>
          <a:xfrm>
            <a:off x="5174797" y="2924944"/>
            <a:ext cx="4581777" cy="3785652"/>
          </a:xfrm>
          <a:prstGeom prst="rect">
            <a:avLst/>
          </a:prstGeom>
          <a:noFill/>
        </p:spPr>
        <p:txBody>
          <a:bodyPr wrap="square" rtlCol="0">
            <a:spAutoFit/>
          </a:bodyPr>
          <a:lstStyle/>
          <a:p>
            <a:r>
              <a:rPr lang="en-US" sz="1600" b="1" dirty="0"/>
              <a:t>5. Finding max acceleration</a:t>
            </a:r>
            <a:r>
              <a:rPr lang="en-US" sz="1600" dirty="0"/>
              <a:t> </a:t>
            </a:r>
            <a:br>
              <a:rPr lang="en-US" sz="1600" dirty="0"/>
            </a:br>
            <a:r>
              <a:rPr lang="en-US" sz="1600" dirty="0" err="1"/>
              <a:t>F</a:t>
            </a:r>
            <a:r>
              <a:rPr lang="en-US" sz="1600" baseline="-25000" dirty="0" err="1"/>
              <a:t>net</a:t>
            </a:r>
            <a:r>
              <a:rPr lang="en-US" sz="1600" dirty="0"/>
              <a:t> = m x a</a:t>
            </a:r>
          </a:p>
          <a:p>
            <a:r>
              <a:rPr lang="en-US" sz="1600" dirty="0"/>
              <a:t>    </a:t>
            </a:r>
            <a:r>
              <a:rPr lang="en-US" sz="1600" dirty="0" err="1"/>
              <a:t>F</a:t>
            </a:r>
            <a:r>
              <a:rPr lang="en-US" sz="1600" baseline="-25000" dirty="0" err="1"/>
              <a:t>net</a:t>
            </a:r>
            <a:r>
              <a:rPr lang="en-US" sz="1600" dirty="0"/>
              <a:t> = </a:t>
            </a:r>
            <a:r>
              <a:rPr lang="en-US" sz="1600" dirty="0" err="1"/>
              <a:t>F</a:t>
            </a:r>
            <a:r>
              <a:rPr lang="en-US" sz="1600" baseline="-25000" dirty="0" err="1"/>
              <a:t>Tyre</a:t>
            </a:r>
            <a:r>
              <a:rPr lang="en-US" sz="1600" dirty="0"/>
              <a:t> - </a:t>
            </a:r>
            <a:r>
              <a:rPr lang="en-US" sz="1600" dirty="0" err="1"/>
              <a:t>F</a:t>
            </a:r>
            <a:r>
              <a:rPr lang="en-US" sz="1600" baseline="-25000" dirty="0" err="1"/>
              <a:t>tractive</a:t>
            </a:r>
            <a:endParaRPr lang="en-US" sz="1600" dirty="0"/>
          </a:p>
          <a:p>
            <a:r>
              <a:rPr lang="en-US" sz="1600" dirty="0"/>
              <a:t> F on </a:t>
            </a:r>
            <a:r>
              <a:rPr lang="en-US" sz="1600" dirty="0" err="1"/>
              <a:t>tyre</a:t>
            </a:r>
            <a:r>
              <a:rPr lang="en-US" sz="1600" dirty="0"/>
              <a:t>                                               </a:t>
            </a:r>
          </a:p>
          <a:p>
            <a:r>
              <a:rPr lang="en-US" sz="1600" dirty="0" err="1"/>
              <a:t>T</a:t>
            </a:r>
            <a:r>
              <a:rPr lang="en-US" sz="1600" baseline="-25000" dirty="0" err="1"/>
              <a:t>achived</a:t>
            </a:r>
            <a:r>
              <a:rPr lang="en-US" sz="1600" dirty="0"/>
              <a:t> = r </a:t>
            </a:r>
            <a:r>
              <a:rPr lang="en-US" sz="1600" dirty="0" smtClean="0"/>
              <a:t>x </a:t>
            </a:r>
            <a:r>
              <a:rPr lang="en-US" sz="1600" dirty="0" err="1" smtClean="0"/>
              <a:t>F</a:t>
            </a:r>
            <a:r>
              <a:rPr lang="en-US" sz="1600" baseline="-25000" dirty="0" err="1" smtClean="0"/>
              <a:t>Tyre</a:t>
            </a:r>
            <a:r>
              <a:rPr lang="en-US" sz="1600" baseline="-25000" dirty="0" smtClean="0"/>
              <a:t>  </a:t>
            </a:r>
            <a:r>
              <a:rPr lang="en-US" sz="1600" baseline="-25000" dirty="0"/>
              <a:t>                                                                                           </a:t>
            </a:r>
            <a:endParaRPr lang="en-US" sz="1600" dirty="0"/>
          </a:p>
          <a:p>
            <a:r>
              <a:rPr lang="en-US" sz="1600" dirty="0" err="1"/>
              <a:t>F</a:t>
            </a:r>
            <a:r>
              <a:rPr lang="en-US" sz="1600" baseline="-25000" dirty="0" err="1"/>
              <a:t>Tyre</a:t>
            </a:r>
            <a:r>
              <a:rPr lang="en-US" sz="1600" dirty="0"/>
              <a:t> = </a:t>
            </a:r>
            <a:r>
              <a:rPr lang="en-US" sz="1600" b="1" dirty="0">
                <a:effectLst>
                  <a:outerShdw blurRad="38100" dist="38100" dir="2700000" algn="tl">
                    <a:srgbClr val="000000">
                      <a:alpha val="43137"/>
                    </a:srgbClr>
                  </a:outerShdw>
                </a:effectLst>
              </a:rPr>
              <a:t>1850.33 N</a:t>
            </a:r>
          </a:p>
          <a:p>
            <a:r>
              <a:rPr lang="en-US" sz="1600" dirty="0"/>
              <a:t/>
            </a:r>
            <a:br>
              <a:rPr lang="en-US" sz="1600" dirty="0"/>
            </a:br>
            <a:r>
              <a:rPr lang="en-US" sz="1600" dirty="0"/>
              <a:t>Case 1 : Vehicle is 2WD</a:t>
            </a:r>
          </a:p>
          <a:p>
            <a:r>
              <a:rPr lang="en-US" sz="1600" dirty="0"/>
              <a:t>F Tractive </a:t>
            </a:r>
            <a:r>
              <a:rPr lang="el-GR" sz="1600" dirty="0"/>
              <a:t>  = 414.21 </a:t>
            </a:r>
            <a:r>
              <a:rPr lang="en-US" sz="1600" dirty="0"/>
              <a:t>N</a:t>
            </a:r>
          </a:p>
          <a:p>
            <a:r>
              <a:rPr lang="en-US" sz="1600" dirty="0"/>
              <a:t> </a:t>
            </a:r>
            <a:r>
              <a:rPr lang="en-US" sz="1600" dirty="0" err="1"/>
              <a:t>F</a:t>
            </a:r>
            <a:r>
              <a:rPr lang="en-US" sz="1600" baseline="-25000" dirty="0" err="1"/>
              <a:t>net</a:t>
            </a:r>
            <a:r>
              <a:rPr lang="en-US" sz="1600" dirty="0"/>
              <a:t> = </a:t>
            </a:r>
            <a:r>
              <a:rPr lang="en-US" sz="1600" dirty="0" err="1"/>
              <a:t>F</a:t>
            </a:r>
            <a:r>
              <a:rPr lang="en-US" sz="1600" baseline="-25000" dirty="0" err="1"/>
              <a:t>Tyre</a:t>
            </a:r>
            <a:r>
              <a:rPr lang="en-US" sz="1600" dirty="0"/>
              <a:t> – </a:t>
            </a:r>
            <a:r>
              <a:rPr lang="en-US" sz="1600" dirty="0" err="1"/>
              <a:t>F</a:t>
            </a:r>
            <a:r>
              <a:rPr lang="en-US" sz="1600" baseline="-25000" dirty="0" err="1"/>
              <a:t>tractive</a:t>
            </a:r>
            <a:r>
              <a:rPr lang="en-US" sz="1600" dirty="0"/>
              <a:t> = </a:t>
            </a:r>
            <a:r>
              <a:rPr lang="en-US" sz="1600" b="1" dirty="0">
                <a:effectLst>
                  <a:outerShdw blurRad="38100" dist="38100" dir="2700000" algn="tl">
                    <a:srgbClr val="000000">
                      <a:alpha val="43137"/>
                    </a:srgbClr>
                  </a:outerShdw>
                </a:effectLst>
              </a:rPr>
              <a:t>1436.12 </a:t>
            </a:r>
            <a:r>
              <a:rPr lang="en-US" sz="1600" dirty="0"/>
              <a:t>N</a:t>
            </a:r>
          </a:p>
          <a:p>
            <a:r>
              <a:rPr lang="en-US" sz="1600" dirty="0"/>
              <a:t/>
            </a:r>
            <a:br>
              <a:rPr lang="en-US" sz="1600" dirty="0"/>
            </a:br>
            <a:r>
              <a:rPr lang="en-US" sz="1600" dirty="0"/>
              <a:t>F = m x a= </a:t>
            </a:r>
            <a:r>
              <a:rPr lang="en-US" sz="1600" dirty="0" err="1"/>
              <a:t>a</a:t>
            </a:r>
            <a:r>
              <a:rPr lang="en-US" sz="1600" baseline="-25000" dirty="0" err="1"/>
              <a:t>max</a:t>
            </a:r>
            <a:r>
              <a:rPr lang="en-US" sz="1600" dirty="0"/>
              <a:t>= </a:t>
            </a:r>
            <a:r>
              <a:rPr lang="en-US" sz="1600" b="1" dirty="0">
                <a:effectLst>
                  <a:outerShdw blurRad="38100" dist="38100" dir="2700000" algn="tl">
                    <a:srgbClr val="000000">
                      <a:alpha val="43137"/>
                    </a:srgbClr>
                  </a:outerShdw>
                </a:effectLst>
              </a:rPr>
              <a:t>5.74 m/s</a:t>
            </a:r>
            <a:r>
              <a:rPr lang="en-US" sz="1600" b="1" baseline="30000" dirty="0">
                <a:effectLst>
                  <a:outerShdw blurRad="38100" dist="38100" dir="2700000" algn="tl">
                    <a:srgbClr val="000000">
                      <a:alpha val="43137"/>
                    </a:srgbClr>
                  </a:outerShdw>
                </a:effectLst>
              </a:rPr>
              <a:t>2</a:t>
            </a:r>
            <a:endParaRPr lang="en-US" sz="1600" b="1" dirty="0">
              <a:effectLst>
                <a:outerShdw blurRad="38100" dist="38100" dir="2700000" algn="tl">
                  <a:srgbClr val="000000">
                    <a:alpha val="43137"/>
                  </a:srgbClr>
                </a:outerShdw>
              </a:effectLst>
            </a:endParaRPr>
          </a:p>
          <a:p>
            <a:r>
              <a:rPr lang="en-US" sz="1600" dirty="0"/>
              <a:t/>
            </a:r>
            <a:br>
              <a:rPr lang="en-US" sz="1600" dirty="0"/>
            </a:br>
            <a:r>
              <a:rPr lang="en-US" sz="1600" dirty="0"/>
              <a:t>Case 2 : Vehicle is AWD</a:t>
            </a:r>
          </a:p>
          <a:p>
            <a:r>
              <a:rPr lang="en-US" sz="1600" dirty="0"/>
              <a:t> </a:t>
            </a:r>
            <a:r>
              <a:rPr lang="en-US" sz="1600" dirty="0" err="1"/>
              <a:t>a</a:t>
            </a:r>
            <a:r>
              <a:rPr lang="en-US" sz="1600" baseline="-25000" dirty="0" err="1"/>
              <a:t>max</a:t>
            </a:r>
            <a:r>
              <a:rPr lang="en-US" sz="1600" dirty="0"/>
              <a:t>= </a:t>
            </a:r>
            <a:r>
              <a:rPr lang="en-US" sz="1600" b="1" dirty="0">
                <a:effectLst>
                  <a:outerShdw blurRad="38100" dist="38100" dir="2700000" algn="tl">
                    <a:srgbClr val="000000">
                      <a:alpha val="43137"/>
                    </a:srgbClr>
                  </a:outerShdw>
                </a:effectLst>
              </a:rPr>
              <a:t>5.72 m/s</a:t>
            </a:r>
            <a:r>
              <a:rPr lang="en-US" sz="1600" b="1" baseline="30000" dirty="0">
                <a:effectLst>
                  <a:outerShdw blurRad="38100" dist="38100" dir="2700000" algn="tl">
                    <a:srgbClr val="000000">
                      <a:alpha val="43137"/>
                    </a:srgbClr>
                  </a:outerShdw>
                </a:effectLst>
              </a:rPr>
              <a:t>2</a:t>
            </a:r>
            <a:endParaRPr lang="en-US" sz="1600" b="1" dirty="0">
              <a:effectLst>
                <a:outerShdw blurRad="38100" dist="38100" dir="2700000" algn="tl">
                  <a:srgbClr val="000000">
                    <a:alpha val="43137"/>
                  </a:srgbClr>
                </a:outerShdw>
              </a:effectLst>
            </a:endParaRPr>
          </a:p>
        </p:txBody>
      </p:sp>
      <p:pic>
        <p:nvPicPr>
          <p:cNvPr id="7" name="object 14"/>
          <p:cNvPicPr/>
          <p:nvPr/>
        </p:nvPicPr>
        <p:blipFill>
          <a:blip r:embed="rId2"/>
          <a:stretch>
            <a:fillRect/>
          </a:stretch>
        </p:blipFill>
        <p:spPr>
          <a:xfrm>
            <a:off x="6563264" y="1524349"/>
            <a:ext cx="2386950" cy="1243298"/>
          </a:xfrm>
          <a:prstGeom prst="rect">
            <a:avLst/>
          </a:prstGeom>
        </p:spPr>
      </p:pic>
      <p:pic>
        <p:nvPicPr>
          <p:cNvPr id="8" name="object 15"/>
          <p:cNvPicPr/>
          <p:nvPr/>
        </p:nvPicPr>
        <p:blipFill>
          <a:blip r:embed="rId3"/>
          <a:stretch>
            <a:fillRect/>
          </a:stretch>
        </p:blipFill>
        <p:spPr>
          <a:xfrm>
            <a:off x="6599063" y="12181"/>
            <a:ext cx="2512889" cy="1512168"/>
          </a:xfrm>
          <a:prstGeom prst="rect">
            <a:avLst/>
          </a:prstGeom>
        </p:spPr>
      </p:pic>
    </p:spTree>
    <p:extLst>
      <p:ext uri="{BB962C8B-B14F-4D97-AF65-F5344CB8AC3E}">
        <p14:creationId xmlns:p14="http://schemas.microsoft.com/office/powerpoint/2010/main" val="2666285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536" y="365125"/>
            <a:ext cx="6979444" cy="682625"/>
          </a:xfrm>
        </p:spPr>
        <p:txBody>
          <a:bodyPr>
            <a:normAutofit fontScale="90000"/>
          </a:bodyPr>
          <a:lstStyle/>
          <a:p>
            <a:r>
              <a:rPr lang="en-US" b="1" dirty="0" smtClean="0"/>
              <a:t>Design of Gearbox</a:t>
            </a:r>
            <a:endParaRPr lang="en-US" b="1" dirty="0"/>
          </a:p>
        </p:txBody>
      </p:sp>
      <p:sp>
        <p:nvSpPr>
          <p:cNvPr id="3" name="Content Placeholder 2"/>
          <p:cNvSpPr>
            <a:spLocks noGrp="1"/>
          </p:cNvSpPr>
          <p:nvPr>
            <p:ph idx="1"/>
          </p:nvPr>
        </p:nvSpPr>
        <p:spPr>
          <a:xfrm>
            <a:off x="428625" y="1047751"/>
            <a:ext cx="5715000" cy="5129213"/>
          </a:xfrm>
        </p:spPr>
        <p:txBody>
          <a:bodyPr>
            <a:noAutofit/>
          </a:bodyPr>
          <a:lstStyle/>
          <a:p>
            <a:r>
              <a:rPr lang="en-US" sz="1800" dirty="0" smtClean="0"/>
              <a:t>The</a:t>
            </a:r>
            <a:r>
              <a:rPr lang="en-US" sz="1800" dirty="0"/>
              <a:t> </a:t>
            </a:r>
            <a:r>
              <a:rPr lang="en-US" sz="1800" dirty="0" smtClean="0"/>
              <a:t>reduction gearbox was designed according to the Lewis Buckingham equations and were modelled in the Solidworks 2021 software .Later, proper testing of the gears was done using the </a:t>
            </a:r>
            <a:r>
              <a:rPr lang="en-US" sz="1800" dirty="0" err="1" smtClean="0"/>
              <a:t>ansys</a:t>
            </a:r>
            <a:r>
              <a:rPr lang="en-US" sz="1800" dirty="0" smtClean="0"/>
              <a:t> workbench software and the results looked promising.</a:t>
            </a:r>
          </a:p>
          <a:p>
            <a:r>
              <a:rPr lang="en-US" sz="1800" dirty="0" smtClean="0"/>
              <a:t>The approach for calculating the properties of gears was to design according to the weaker gear identified and find all the forces acting on them after which the properties were calculated.</a:t>
            </a:r>
          </a:p>
          <a:p>
            <a:r>
              <a:rPr lang="en-US" sz="1800" dirty="0" smtClean="0"/>
              <a:t>The total reduction required was 12:1 which is done in 2 stages and one pair of bevel gears which transmit power to the front.</a:t>
            </a:r>
          </a:p>
          <a:p>
            <a:r>
              <a:rPr lang="en-US" sz="1800" dirty="0" smtClean="0"/>
              <a:t>The material we have chosen after doing the analysis was EN 353 for the gears due to its high yield strength and Al 6061 for the casing due to its high strength and less weight.</a:t>
            </a:r>
          </a:p>
          <a:p>
            <a:r>
              <a:rPr lang="en-US" sz="1800" dirty="0" smtClean="0"/>
              <a:t>The total reduction for front is 12.75 which is </a:t>
            </a:r>
            <a:r>
              <a:rPr lang="en-US" sz="1800" dirty="0" err="1" smtClean="0"/>
              <a:t>achived</a:t>
            </a:r>
            <a:r>
              <a:rPr lang="en-US" sz="1800" dirty="0" smtClean="0"/>
              <a:t> in 2 stages </a:t>
            </a:r>
            <a:r>
              <a:rPr lang="en-US" sz="1800" dirty="0" err="1" smtClean="0"/>
              <a:t>i.e</a:t>
            </a:r>
            <a:r>
              <a:rPr lang="en-US" sz="1800" dirty="0" smtClean="0"/>
              <a:t> at the bevel gears at rear and differential at front</a:t>
            </a:r>
            <a:endParaRPr lang="en-US" sz="18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7254" t="20608" r="43282" b="28783"/>
          <a:stretch/>
        </p:blipFill>
        <p:spPr>
          <a:xfrm>
            <a:off x="6454415" y="365125"/>
            <a:ext cx="2575285" cy="236220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7499" t="21062" r="43093" b="27055"/>
          <a:stretch/>
        </p:blipFill>
        <p:spPr>
          <a:xfrm>
            <a:off x="6454415" y="3536605"/>
            <a:ext cx="2575285" cy="2425211"/>
          </a:xfrm>
          <a:prstGeom prst="rect">
            <a:avLst/>
          </a:prstGeom>
        </p:spPr>
      </p:pic>
      <p:sp>
        <p:nvSpPr>
          <p:cNvPr id="7" name="TextBox 6"/>
          <p:cNvSpPr txBox="1"/>
          <p:nvPr/>
        </p:nvSpPr>
        <p:spPr>
          <a:xfrm>
            <a:off x="7449163" y="2721873"/>
            <a:ext cx="928688" cy="369332"/>
          </a:xfrm>
          <a:prstGeom prst="rect">
            <a:avLst/>
          </a:prstGeom>
          <a:noFill/>
        </p:spPr>
        <p:txBody>
          <a:bodyPr wrap="square" rtlCol="0">
            <a:spAutoFit/>
          </a:bodyPr>
          <a:lstStyle/>
          <a:p>
            <a:r>
              <a:rPr lang="en-US" dirty="0" smtClean="0"/>
              <a:t>Stage 1</a:t>
            </a:r>
            <a:endParaRPr lang="en-US" dirty="0"/>
          </a:p>
        </p:txBody>
      </p:sp>
      <p:sp>
        <p:nvSpPr>
          <p:cNvPr id="9" name="TextBox 8"/>
          <p:cNvSpPr txBox="1"/>
          <p:nvPr/>
        </p:nvSpPr>
        <p:spPr>
          <a:xfrm>
            <a:off x="7588153" y="6037882"/>
            <a:ext cx="867610" cy="369332"/>
          </a:xfrm>
          <a:prstGeom prst="rect">
            <a:avLst/>
          </a:prstGeom>
          <a:noFill/>
        </p:spPr>
        <p:txBody>
          <a:bodyPr wrap="none" rtlCol="0">
            <a:spAutoFit/>
          </a:bodyPr>
          <a:lstStyle/>
          <a:p>
            <a:r>
              <a:rPr lang="en-US" dirty="0" smtClean="0"/>
              <a:t>Stage 2</a:t>
            </a:r>
            <a:endParaRPr lang="en-US" dirty="0"/>
          </a:p>
        </p:txBody>
      </p:sp>
    </p:spTree>
    <p:extLst>
      <p:ext uri="{BB962C8B-B14F-4D97-AF65-F5344CB8AC3E}">
        <p14:creationId xmlns:p14="http://schemas.microsoft.com/office/powerpoint/2010/main" val="2046076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200001"/>
            <a:ext cx="3971251" cy="591551"/>
          </a:xfrm>
          <a:prstGeom prst="rect">
            <a:avLst/>
          </a:prstGeom>
        </p:spPr>
        <p:txBody>
          <a:bodyPr vert="horz" wrap="square" lIns="0" tIns="16933" rIns="0" bIns="0" rtlCol="0" anchor="ctr">
            <a:spAutoFit/>
          </a:bodyPr>
          <a:lstStyle/>
          <a:p>
            <a:pPr marL="16933">
              <a:lnSpc>
                <a:spcPct val="100000"/>
              </a:lnSpc>
              <a:spcBef>
                <a:spcPts val="133"/>
              </a:spcBef>
            </a:pPr>
            <a:r>
              <a:rPr sz="3733" b="1" spc="-20" dirty="0"/>
              <a:t>DFMEA/PFMEA</a:t>
            </a:r>
            <a:endParaRPr sz="3733" b="1" dirty="0"/>
          </a:p>
        </p:txBody>
      </p:sp>
      <p:sp>
        <p:nvSpPr>
          <p:cNvPr id="3" name="object 3"/>
          <p:cNvSpPr txBox="1"/>
          <p:nvPr/>
        </p:nvSpPr>
        <p:spPr>
          <a:xfrm>
            <a:off x="384726" y="890265"/>
            <a:ext cx="4935420" cy="6070037"/>
          </a:xfrm>
          <a:prstGeom prst="rect">
            <a:avLst/>
          </a:prstGeom>
        </p:spPr>
        <p:txBody>
          <a:bodyPr vert="horz" wrap="square" lIns="0" tIns="16933" rIns="0" bIns="0" rtlCol="0">
            <a:spAutoFit/>
          </a:bodyPr>
          <a:lstStyle/>
          <a:p>
            <a:pPr marL="16933">
              <a:spcBef>
                <a:spcPts val="133"/>
              </a:spcBef>
            </a:pPr>
            <a:r>
              <a:rPr sz="1600" spc="-13" dirty="0">
                <a:latin typeface="Calibri"/>
                <a:cs typeface="Calibri"/>
              </a:rPr>
              <a:t>Damage</a:t>
            </a:r>
            <a:r>
              <a:rPr sz="1600" spc="-33" dirty="0">
                <a:latin typeface="Calibri"/>
                <a:cs typeface="Calibri"/>
              </a:rPr>
              <a:t> </a:t>
            </a:r>
            <a:r>
              <a:rPr sz="1600" spc="-13" dirty="0">
                <a:latin typeface="Calibri"/>
                <a:cs typeface="Calibri"/>
              </a:rPr>
              <a:t>to</a:t>
            </a:r>
            <a:r>
              <a:rPr sz="1600" spc="-27" dirty="0">
                <a:latin typeface="Calibri"/>
                <a:cs typeface="Calibri"/>
              </a:rPr>
              <a:t> </a:t>
            </a:r>
            <a:r>
              <a:rPr sz="1600" spc="-7" dirty="0">
                <a:latin typeface="Calibri"/>
                <a:cs typeface="Calibri"/>
              </a:rPr>
              <a:t>the</a:t>
            </a:r>
            <a:r>
              <a:rPr sz="1600" spc="-27" dirty="0">
                <a:latin typeface="Calibri"/>
                <a:cs typeface="Calibri"/>
              </a:rPr>
              <a:t> </a:t>
            </a:r>
            <a:r>
              <a:rPr sz="1600" spc="-7" dirty="0" smtClean="0">
                <a:latin typeface="Calibri"/>
                <a:cs typeface="Calibri"/>
              </a:rPr>
              <a:t>engine</a:t>
            </a:r>
            <a:r>
              <a:rPr lang="en-US" sz="1600" spc="-7" dirty="0" smtClean="0">
                <a:latin typeface="Calibri"/>
                <a:cs typeface="Calibri"/>
              </a:rPr>
              <a:t>:</a:t>
            </a:r>
            <a:endParaRPr sz="1600" dirty="0">
              <a:latin typeface="Calibri"/>
              <a:cs typeface="Calibri"/>
            </a:endParaRPr>
          </a:p>
          <a:p>
            <a:pPr marL="626518" indent="-489361">
              <a:spcBef>
                <a:spcPts val="1740"/>
              </a:spcBef>
              <a:buFont typeface="Arial MT"/>
              <a:buChar char="●"/>
              <a:tabLst>
                <a:tab pos="625671" algn="l"/>
                <a:tab pos="626518" algn="l"/>
              </a:tabLst>
            </a:pPr>
            <a:r>
              <a:rPr sz="1600" spc="-7" dirty="0">
                <a:latin typeface="Calibri"/>
                <a:cs typeface="Calibri"/>
              </a:rPr>
              <a:t>Caused by </a:t>
            </a:r>
            <a:r>
              <a:rPr sz="1600" dirty="0">
                <a:latin typeface="Calibri"/>
                <a:cs typeface="Calibri"/>
              </a:rPr>
              <a:t>air</a:t>
            </a:r>
            <a:r>
              <a:rPr sz="1600" spc="-7" dirty="0">
                <a:latin typeface="Calibri"/>
                <a:cs typeface="Calibri"/>
              </a:rPr>
              <a:t> </a:t>
            </a:r>
            <a:r>
              <a:rPr sz="1600" spc="-13" dirty="0">
                <a:latin typeface="Calibri"/>
                <a:cs typeface="Calibri"/>
              </a:rPr>
              <a:t>filter</a:t>
            </a:r>
            <a:r>
              <a:rPr sz="1600" spc="-7" dirty="0">
                <a:latin typeface="Calibri"/>
                <a:cs typeface="Calibri"/>
              </a:rPr>
              <a:t> </a:t>
            </a:r>
            <a:r>
              <a:rPr sz="1600" spc="-13" dirty="0">
                <a:latin typeface="Calibri"/>
                <a:cs typeface="Calibri"/>
              </a:rPr>
              <a:t>blocks</a:t>
            </a:r>
            <a:r>
              <a:rPr sz="1600" spc="-7" dirty="0">
                <a:latin typeface="Calibri"/>
                <a:cs typeface="Calibri"/>
              </a:rPr>
              <a:t> </a:t>
            </a:r>
            <a:r>
              <a:rPr sz="1600" dirty="0">
                <a:latin typeface="Calibri"/>
                <a:cs typeface="Calibri"/>
              </a:rPr>
              <a:t>and</a:t>
            </a:r>
            <a:r>
              <a:rPr sz="1600" spc="-7" dirty="0">
                <a:latin typeface="Calibri"/>
                <a:cs typeface="Calibri"/>
              </a:rPr>
              <a:t> </a:t>
            </a:r>
            <a:r>
              <a:rPr sz="1600" spc="-13" dirty="0">
                <a:latin typeface="Calibri"/>
                <a:cs typeface="Calibri"/>
              </a:rPr>
              <a:t>result</a:t>
            </a:r>
            <a:r>
              <a:rPr sz="1600" spc="-7" dirty="0">
                <a:latin typeface="Calibri"/>
                <a:cs typeface="Calibri"/>
              </a:rPr>
              <a:t> in </a:t>
            </a:r>
            <a:r>
              <a:rPr sz="1600" spc="-13" dirty="0">
                <a:latin typeface="Calibri"/>
                <a:cs typeface="Calibri"/>
              </a:rPr>
              <a:t>improper</a:t>
            </a:r>
            <a:r>
              <a:rPr sz="1600" spc="-7" dirty="0">
                <a:latin typeface="Calibri"/>
                <a:cs typeface="Calibri"/>
              </a:rPr>
              <a:t> </a:t>
            </a:r>
            <a:r>
              <a:rPr sz="1600" spc="-13" dirty="0">
                <a:latin typeface="Calibri"/>
                <a:cs typeface="Calibri"/>
              </a:rPr>
              <a:t>combustion</a:t>
            </a:r>
            <a:endParaRPr sz="1600" dirty="0">
              <a:latin typeface="Calibri"/>
              <a:cs typeface="Calibri"/>
            </a:endParaRPr>
          </a:p>
          <a:p>
            <a:pPr marL="626518" indent="-489361">
              <a:spcBef>
                <a:spcPts val="147"/>
              </a:spcBef>
              <a:buFont typeface="Arial MT"/>
              <a:buChar char="●"/>
              <a:tabLst>
                <a:tab pos="625671" algn="l"/>
                <a:tab pos="626518" algn="l"/>
              </a:tabLst>
            </a:pPr>
            <a:r>
              <a:rPr sz="1600" spc="-7" dirty="0">
                <a:latin typeface="Calibri"/>
                <a:cs typeface="Calibri"/>
              </a:rPr>
              <a:t>Can be </a:t>
            </a:r>
            <a:r>
              <a:rPr sz="1600" spc="-20" dirty="0">
                <a:latin typeface="Calibri"/>
                <a:cs typeface="Calibri"/>
              </a:rPr>
              <a:t>controlled</a:t>
            </a:r>
            <a:r>
              <a:rPr sz="1600" spc="-7" dirty="0">
                <a:latin typeface="Calibri"/>
                <a:cs typeface="Calibri"/>
              </a:rPr>
              <a:t> by</a:t>
            </a:r>
            <a:r>
              <a:rPr sz="1600" spc="20" dirty="0">
                <a:latin typeface="Calibri"/>
                <a:cs typeface="Calibri"/>
              </a:rPr>
              <a:t> </a:t>
            </a:r>
            <a:r>
              <a:rPr sz="1600" spc="-13" dirty="0">
                <a:latin typeface="Calibri"/>
                <a:cs typeface="Calibri"/>
              </a:rPr>
              <a:t>Positioning</a:t>
            </a:r>
            <a:r>
              <a:rPr sz="1600" spc="-7" dirty="0">
                <a:latin typeface="Calibri"/>
                <a:cs typeface="Calibri"/>
              </a:rPr>
              <a:t> </a:t>
            </a:r>
            <a:r>
              <a:rPr sz="1600" spc="-13" dirty="0">
                <a:latin typeface="Calibri"/>
                <a:cs typeface="Calibri"/>
              </a:rPr>
              <a:t>where</a:t>
            </a:r>
            <a:r>
              <a:rPr sz="1600" spc="-7" dirty="0">
                <a:latin typeface="Calibri"/>
                <a:cs typeface="Calibri"/>
              </a:rPr>
              <a:t> </a:t>
            </a:r>
            <a:r>
              <a:rPr sz="1600" spc="-13" dirty="0">
                <a:latin typeface="Calibri"/>
                <a:cs typeface="Calibri"/>
              </a:rPr>
              <a:t>free</a:t>
            </a:r>
            <a:r>
              <a:rPr sz="1600" spc="-7" dirty="0">
                <a:latin typeface="Calibri"/>
                <a:cs typeface="Calibri"/>
              </a:rPr>
              <a:t> </a:t>
            </a:r>
            <a:r>
              <a:rPr sz="1600" dirty="0">
                <a:latin typeface="Calibri"/>
                <a:cs typeface="Calibri"/>
              </a:rPr>
              <a:t>access</a:t>
            </a:r>
            <a:r>
              <a:rPr sz="1600" spc="-7" dirty="0">
                <a:latin typeface="Calibri"/>
                <a:cs typeface="Calibri"/>
              </a:rPr>
              <a:t> of </a:t>
            </a:r>
            <a:r>
              <a:rPr sz="1600" dirty="0">
                <a:latin typeface="Calibri"/>
                <a:cs typeface="Calibri"/>
              </a:rPr>
              <a:t>air</a:t>
            </a:r>
          </a:p>
          <a:p>
            <a:pPr marL="626518" indent="-489361">
              <a:spcBef>
                <a:spcPts val="147"/>
              </a:spcBef>
              <a:buFont typeface="Arial MT"/>
              <a:buChar char="●"/>
              <a:tabLst>
                <a:tab pos="625671" algn="l"/>
                <a:tab pos="626518" algn="l"/>
              </a:tabLst>
            </a:pPr>
            <a:r>
              <a:rPr sz="1600" spc="-7" dirty="0">
                <a:latin typeface="Calibri"/>
                <a:cs typeface="Calibri"/>
              </a:rPr>
              <a:t>S=9,O=4,D=1,</a:t>
            </a:r>
            <a:r>
              <a:rPr sz="1600" spc="-60" dirty="0">
                <a:latin typeface="Calibri"/>
                <a:cs typeface="Calibri"/>
              </a:rPr>
              <a:t> </a:t>
            </a:r>
            <a:r>
              <a:rPr sz="1600" spc="-7" dirty="0">
                <a:latin typeface="Calibri"/>
                <a:cs typeface="Calibri"/>
              </a:rPr>
              <a:t>rpn=36</a:t>
            </a:r>
            <a:endParaRPr sz="1600" dirty="0">
              <a:latin typeface="Calibri"/>
              <a:cs typeface="Calibri"/>
            </a:endParaRPr>
          </a:p>
          <a:p>
            <a:pPr marL="16933">
              <a:spcBef>
                <a:spcPts val="1740"/>
              </a:spcBef>
            </a:pPr>
            <a:r>
              <a:rPr sz="1600" spc="-7" dirty="0">
                <a:latin typeface="Calibri"/>
                <a:cs typeface="Calibri"/>
              </a:rPr>
              <a:t>Backlash</a:t>
            </a:r>
            <a:r>
              <a:rPr sz="1600" spc="-40" dirty="0">
                <a:latin typeface="Calibri"/>
                <a:cs typeface="Calibri"/>
              </a:rPr>
              <a:t> </a:t>
            </a:r>
            <a:r>
              <a:rPr sz="1600" spc="-7" dirty="0">
                <a:latin typeface="Calibri"/>
                <a:cs typeface="Calibri"/>
              </a:rPr>
              <a:t>of</a:t>
            </a:r>
            <a:r>
              <a:rPr sz="1600" spc="-33" dirty="0">
                <a:latin typeface="Calibri"/>
                <a:cs typeface="Calibri"/>
              </a:rPr>
              <a:t> </a:t>
            </a:r>
            <a:r>
              <a:rPr sz="1600" spc="-20" dirty="0" smtClean="0">
                <a:latin typeface="Calibri"/>
                <a:cs typeface="Calibri"/>
              </a:rPr>
              <a:t>gears</a:t>
            </a:r>
            <a:r>
              <a:rPr lang="en-US" sz="1600" spc="-20" dirty="0" smtClean="0">
                <a:latin typeface="Calibri"/>
                <a:cs typeface="Calibri"/>
              </a:rPr>
              <a:t>:</a:t>
            </a:r>
            <a:endParaRPr sz="1600" dirty="0">
              <a:latin typeface="Calibri"/>
              <a:cs typeface="Calibri"/>
            </a:endParaRPr>
          </a:p>
          <a:p>
            <a:pPr marL="626518" indent="-489361">
              <a:spcBef>
                <a:spcPts val="1747"/>
              </a:spcBef>
              <a:buFont typeface="Arial MT"/>
              <a:buChar char="●"/>
              <a:tabLst>
                <a:tab pos="625671" algn="l"/>
                <a:tab pos="626518" algn="l"/>
              </a:tabLst>
            </a:pPr>
            <a:r>
              <a:rPr sz="1600" spc="-7" dirty="0">
                <a:latin typeface="Calibri"/>
                <a:cs typeface="Calibri"/>
              </a:rPr>
              <a:t>Caused</a:t>
            </a:r>
            <a:r>
              <a:rPr sz="1600" spc="-20" dirty="0">
                <a:latin typeface="Calibri"/>
                <a:cs typeface="Calibri"/>
              </a:rPr>
              <a:t> </a:t>
            </a:r>
            <a:r>
              <a:rPr sz="1600" spc="-7" dirty="0">
                <a:latin typeface="Calibri"/>
                <a:cs typeface="Calibri"/>
              </a:rPr>
              <a:t>by</a:t>
            </a:r>
            <a:r>
              <a:rPr sz="1600" spc="-20" dirty="0">
                <a:latin typeface="Calibri"/>
                <a:cs typeface="Calibri"/>
              </a:rPr>
              <a:t> </a:t>
            </a:r>
            <a:r>
              <a:rPr sz="1600" spc="-13" dirty="0">
                <a:latin typeface="Calibri"/>
                <a:cs typeface="Calibri"/>
              </a:rPr>
              <a:t>movement</a:t>
            </a:r>
            <a:r>
              <a:rPr sz="1600" spc="-20" dirty="0">
                <a:latin typeface="Calibri"/>
                <a:cs typeface="Calibri"/>
              </a:rPr>
              <a:t> </a:t>
            </a:r>
            <a:r>
              <a:rPr sz="1600" spc="-7" dirty="0">
                <a:latin typeface="Calibri"/>
                <a:cs typeface="Calibri"/>
              </a:rPr>
              <a:t>of</a:t>
            </a:r>
            <a:r>
              <a:rPr sz="1600" spc="-20" dirty="0">
                <a:latin typeface="Calibri"/>
                <a:cs typeface="Calibri"/>
              </a:rPr>
              <a:t> </a:t>
            </a:r>
            <a:r>
              <a:rPr sz="1600" spc="-7" dirty="0">
                <a:latin typeface="Calibri"/>
                <a:cs typeface="Calibri"/>
              </a:rPr>
              <a:t>UV</a:t>
            </a:r>
            <a:r>
              <a:rPr sz="1600" spc="-20" dirty="0">
                <a:latin typeface="Calibri"/>
                <a:cs typeface="Calibri"/>
              </a:rPr>
              <a:t> </a:t>
            </a:r>
            <a:r>
              <a:rPr sz="1600" spc="-13" dirty="0">
                <a:latin typeface="Calibri"/>
                <a:cs typeface="Calibri"/>
              </a:rPr>
              <a:t>joint</a:t>
            </a:r>
            <a:endParaRPr sz="1600" dirty="0">
              <a:latin typeface="Calibri"/>
              <a:cs typeface="Calibri"/>
            </a:endParaRPr>
          </a:p>
          <a:p>
            <a:pPr marL="626518" marR="6773" indent="-489361">
              <a:lnSpc>
                <a:spcPct val="105000"/>
              </a:lnSpc>
              <a:buFont typeface="Arial MT"/>
              <a:buChar char="●"/>
              <a:tabLst>
                <a:tab pos="625671" algn="l"/>
                <a:tab pos="626518" algn="l"/>
              </a:tabLst>
            </a:pPr>
            <a:r>
              <a:rPr sz="1600" spc="-7" dirty="0">
                <a:latin typeface="Calibri"/>
                <a:cs typeface="Calibri"/>
              </a:rPr>
              <a:t>Can be </a:t>
            </a:r>
            <a:r>
              <a:rPr sz="1600" spc="-20" dirty="0">
                <a:latin typeface="Calibri"/>
                <a:cs typeface="Calibri"/>
              </a:rPr>
              <a:t>controlled</a:t>
            </a:r>
            <a:r>
              <a:rPr sz="1600" spc="-7" dirty="0">
                <a:latin typeface="Calibri"/>
                <a:cs typeface="Calibri"/>
              </a:rPr>
              <a:t> by doing</a:t>
            </a:r>
            <a:r>
              <a:rPr sz="1600" dirty="0">
                <a:latin typeface="Calibri"/>
                <a:cs typeface="Calibri"/>
              </a:rPr>
              <a:t> an</a:t>
            </a:r>
            <a:r>
              <a:rPr sz="1600" spc="-7" dirty="0">
                <a:latin typeface="Calibri"/>
                <a:cs typeface="Calibri"/>
              </a:rPr>
              <a:t> </a:t>
            </a:r>
            <a:r>
              <a:rPr sz="1600" spc="-27" dirty="0">
                <a:latin typeface="Calibri"/>
                <a:cs typeface="Calibri"/>
              </a:rPr>
              <a:t>Effective</a:t>
            </a:r>
            <a:r>
              <a:rPr sz="1600" spc="-7" dirty="0">
                <a:latin typeface="Calibri"/>
                <a:cs typeface="Calibri"/>
              </a:rPr>
              <a:t> design </a:t>
            </a:r>
            <a:r>
              <a:rPr sz="1600" spc="-13" dirty="0">
                <a:latin typeface="Calibri"/>
                <a:cs typeface="Calibri"/>
              </a:rPr>
              <a:t>according</a:t>
            </a:r>
            <a:r>
              <a:rPr sz="1600" dirty="0">
                <a:latin typeface="Calibri"/>
                <a:cs typeface="Calibri"/>
              </a:rPr>
              <a:t> </a:t>
            </a:r>
            <a:r>
              <a:rPr sz="1600" spc="-13" dirty="0">
                <a:latin typeface="Calibri"/>
                <a:cs typeface="Calibri"/>
              </a:rPr>
              <a:t>to</a:t>
            </a:r>
            <a:r>
              <a:rPr sz="1600" spc="-7" dirty="0">
                <a:latin typeface="Calibri"/>
                <a:cs typeface="Calibri"/>
              </a:rPr>
              <a:t> the calculations </a:t>
            </a:r>
            <a:r>
              <a:rPr sz="1600" dirty="0">
                <a:latin typeface="Calibri"/>
                <a:cs typeface="Calibri"/>
              </a:rPr>
              <a:t>and </a:t>
            </a:r>
            <a:r>
              <a:rPr sz="1600" spc="-520" dirty="0">
                <a:latin typeface="Calibri"/>
                <a:cs typeface="Calibri"/>
              </a:rPr>
              <a:t> </a:t>
            </a:r>
            <a:r>
              <a:rPr sz="1600" spc="-7" dirty="0">
                <a:latin typeface="Calibri"/>
                <a:cs typeface="Calibri"/>
              </a:rPr>
              <a:t>analysis</a:t>
            </a:r>
            <a:r>
              <a:rPr sz="1600" spc="-13" dirty="0">
                <a:latin typeface="Calibri"/>
                <a:cs typeface="Calibri"/>
              </a:rPr>
              <a:t> accordingly</a:t>
            </a:r>
            <a:endParaRPr sz="1600" dirty="0">
              <a:latin typeface="Calibri"/>
              <a:cs typeface="Calibri"/>
            </a:endParaRPr>
          </a:p>
          <a:p>
            <a:pPr marL="626518" indent="-489361">
              <a:spcBef>
                <a:spcPts val="140"/>
              </a:spcBef>
              <a:buFont typeface="Arial MT"/>
              <a:buChar char="●"/>
              <a:tabLst>
                <a:tab pos="625671" algn="l"/>
                <a:tab pos="626518" algn="l"/>
              </a:tabLst>
            </a:pPr>
            <a:r>
              <a:rPr sz="1600" spc="-7" dirty="0">
                <a:latin typeface="Calibri"/>
                <a:cs typeface="Calibri"/>
              </a:rPr>
              <a:t>S=6,O=4,D=6,</a:t>
            </a:r>
            <a:r>
              <a:rPr sz="1600" spc="-60" dirty="0">
                <a:latin typeface="Calibri"/>
                <a:cs typeface="Calibri"/>
              </a:rPr>
              <a:t> </a:t>
            </a:r>
            <a:r>
              <a:rPr sz="1600" spc="-7" dirty="0" err="1" smtClean="0">
                <a:latin typeface="Calibri"/>
                <a:cs typeface="Calibri"/>
              </a:rPr>
              <a:t>rpn</a:t>
            </a:r>
            <a:r>
              <a:rPr sz="1600" spc="-7" dirty="0" smtClean="0">
                <a:latin typeface="Calibri"/>
                <a:cs typeface="Calibri"/>
              </a:rPr>
              <a:t>=144</a:t>
            </a:r>
            <a:endParaRPr lang="en-US" sz="1600" spc="-7" dirty="0" smtClean="0">
              <a:latin typeface="Calibri"/>
              <a:cs typeface="Calibri"/>
            </a:endParaRPr>
          </a:p>
          <a:p>
            <a:pPr marL="16933">
              <a:spcBef>
                <a:spcPts val="133"/>
              </a:spcBef>
            </a:pPr>
            <a:endParaRPr lang="en-US" sz="1600" spc="-13" dirty="0" smtClean="0">
              <a:cs typeface="Calibri"/>
            </a:endParaRPr>
          </a:p>
          <a:p>
            <a:pPr marL="16933">
              <a:spcBef>
                <a:spcPts val="133"/>
              </a:spcBef>
            </a:pPr>
            <a:r>
              <a:rPr lang="en-US" sz="1600" spc="-13" dirty="0" smtClean="0">
                <a:cs typeface="Calibri"/>
              </a:rPr>
              <a:t>Deformation/bursting</a:t>
            </a:r>
            <a:r>
              <a:rPr lang="en-US" sz="1600" spc="-47" dirty="0" smtClean="0">
                <a:cs typeface="Calibri"/>
              </a:rPr>
              <a:t> </a:t>
            </a:r>
            <a:r>
              <a:rPr lang="en-US" sz="1600" spc="-7" dirty="0">
                <a:cs typeface="Calibri"/>
              </a:rPr>
              <a:t>of</a:t>
            </a:r>
            <a:r>
              <a:rPr lang="en-US" sz="1600" spc="-40" dirty="0">
                <a:cs typeface="Calibri"/>
              </a:rPr>
              <a:t> </a:t>
            </a:r>
            <a:r>
              <a:rPr lang="en-US" sz="1600" spc="-13" dirty="0" err="1" smtClean="0">
                <a:cs typeface="Calibri"/>
              </a:rPr>
              <a:t>tyre</a:t>
            </a:r>
            <a:r>
              <a:rPr lang="en-US" sz="1600" spc="-13" dirty="0" smtClean="0">
                <a:cs typeface="Calibri"/>
              </a:rPr>
              <a:t>:</a:t>
            </a:r>
            <a:endParaRPr lang="en-US" sz="1600" dirty="0">
              <a:cs typeface="Calibri"/>
            </a:endParaRPr>
          </a:p>
          <a:p>
            <a:pPr marL="626518" indent="-489361">
              <a:spcBef>
                <a:spcPts val="1740"/>
              </a:spcBef>
              <a:buFont typeface="Arial MT"/>
              <a:buChar char="●"/>
              <a:tabLst>
                <a:tab pos="625671" algn="l"/>
                <a:tab pos="626518" algn="l"/>
              </a:tabLst>
            </a:pPr>
            <a:r>
              <a:rPr lang="en-US" sz="1600" spc="-7" dirty="0">
                <a:cs typeface="Calibri"/>
              </a:rPr>
              <a:t>Caused</a:t>
            </a:r>
            <a:r>
              <a:rPr lang="en-US" sz="1600" spc="-20" dirty="0">
                <a:cs typeface="Calibri"/>
              </a:rPr>
              <a:t> </a:t>
            </a:r>
            <a:r>
              <a:rPr lang="en-US" sz="1600" spc="-7" dirty="0">
                <a:cs typeface="Calibri"/>
              </a:rPr>
              <a:t>by </a:t>
            </a:r>
            <a:r>
              <a:rPr lang="en-US" sz="1600" spc="-13" dirty="0">
                <a:cs typeface="Calibri"/>
              </a:rPr>
              <a:t>Punctures/ </a:t>
            </a:r>
            <a:r>
              <a:rPr lang="en-US" sz="1600" spc="-20" dirty="0">
                <a:cs typeface="Calibri"/>
              </a:rPr>
              <a:t>Excess</a:t>
            </a:r>
            <a:r>
              <a:rPr lang="en-US" sz="1600" spc="-13" dirty="0">
                <a:cs typeface="Calibri"/>
              </a:rPr>
              <a:t> Pressure</a:t>
            </a:r>
            <a:endParaRPr lang="en-US" sz="1600" dirty="0">
              <a:cs typeface="Calibri"/>
            </a:endParaRPr>
          </a:p>
          <a:p>
            <a:pPr marL="626518" marR="6773" indent="-489361">
              <a:lnSpc>
                <a:spcPct val="105000"/>
              </a:lnSpc>
              <a:buFont typeface="Arial MT"/>
              <a:buChar char="●"/>
              <a:tabLst>
                <a:tab pos="625671" algn="l"/>
                <a:tab pos="626518" algn="l"/>
              </a:tabLst>
            </a:pPr>
            <a:r>
              <a:rPr lang="en-US" sz="1600" spc="-7" dirty="0">
                <a:cs typeface="Calibri"/>
              </a:rPr>
              <a:t>Can be </a:t>
            </a:r>
            <a:r>
              <a:rPr lang="en-US" sz="1600" spc="-20" dirty="0">
                <a:cs typeface="Calibri"/>
              </a:rPr>
              <a:t>controlled</a:t>
            </a:r>
            <a:r>
              <a:rPr lang="en-US" sz="1600" dirty="0">
                <a:cs typeface="Calibri"/>
              </a:rPr>
              <a:t> </a:t>
            </a:r>
            <a:r>
              <a:rPr lang="en-US" sz="1600" spc="-7" dirty="0">
                <a:cs typeface="Calibri"/>
              </a:rPr>
              <a:t>by</a:t>
            </a:r>
            <a:r>
              <a:rPr lang="en-US" sz="1600" spc="20" dirty="0">
                <a:cs typeface="Calibri"/>
              </a:rPr>
              <a:t> </a:t>
            </a:r>
            <a:r>
              <a:rPr lang="en-US" sz="1600" spc="-13" dirty="0">
                <a:cs typeface="Calibri"/>
              </a:rPr>
              <a:t>Proper</a:t>
            </a:r>
            <a:r>
              <a:rPr lang="en-US" sz="1600" dirty="0">
                <a:cs typeface="Calibri"/>
              </a:rPr>
              <a:t> </a:t>
            </a:r>
            <a:r>
              <a:rPr lang="en-US" sz="1600" spc="-7" dirty="0">
                <a:cs typeface="Calibri"/>
              </a:rPr>
              <a:t>suitable </a:t>
            </a:r>
            <a:r>
              <a:rPr lang="en-US" sz="1600" spc="-13" dirty="0">
                <a:cs typeface="Calibri"/>
              </a:rPr>
              <a:t>terrain</a:t>
            </a:r>
            <a:r>
              <a:rPr lang="en-US" sz="1600" dirty="0">
                <a:cs typeface="Calibri"/>
              </a:rPr>
              <a:t> </a:t>
            </a:r>
            <a:r>
              <a:rPr lang="en-US" sz="1600" spc="-13" dirty="0" err="1">
                <a:cs typeface="Calibri"/>
              </a:rPr>
              <a:t>tyres</a:t>
            </a:r>
            <a:r>
              <a:rPr lang="en-US" sz="1600" spc="-13" dirty="0">
                <a:cs typeface="Calibri"/>
              </a:rPr>
              <a:t>,</a:t>
            </a:r>
            <a:r>
              <a:rPr lang="en-US" sz="1600" spc="-7" dirty="0">
                <a:cs typeface="Calibri"/>
              </a:rPr>
              <a:t> </a:t>
            </a:r>
            <a:r>
              <a:rPr lang="en-US" sz="1600" spc="-13" dirty="0">
                <a:cs typeface="Calibri"/>
              </a:rPr>
              <a:t>correct</a:t>
            </a:r>
            <a:r>
              <a:rPr lang="en-US" sz="1600" dirty="0">
                <a:cs typeface="Calibri"/>
              </a:rPr>
              <a:t> </a:t>
            </a:r>
            <a:r>
              <a:rPr lang="en-US" sz="1600" spc="-7" dirty="0">
                <a:cs typeface="Calibri"/>
              </a:rPr>
              <a:t>psi is </a:t>
            </a:r>
            <a:r>
              <a:rPr lang="en-US" sz="1600" spc="-13" dirty="0">
                <a:cs typeface="Calibri"/>
              </a:rPr>
              <a:t>maintained</a:t>
            </a:r>
            <a:r>
              <a:rPr lang="en-US" sz="1600" dirty="0">
                <a:cs typeface="Calibri"/>
              </a:rPr>
              <a:t> </a:t>
            </a:r>
            <a:r>
              <a:rPr lang="en-US" sz="1600" spc="-7" dirty="0" err="1">
                <a:cs typeface="Calibri"/>
              </a:rPr>
              <a:t>Acc</a:t>
            </a:r>
            <a:r>
              <a:rPr lang="en-US" sz="1600" spc="-7" dirty="0">
                <a:cs typeface="Calibri"/>
              </a:rPr>
              <a:t> </a:t>
            </a:r>
            <a:r>
              <a:rPr lang="en-US" sz="1600" spc="-13" dirty="0">
                <a:cs typeface="Calibri"/>
              </a:rPr>
              <a:t>to </a:t>
            </a:r>
            <a:r>
              <a:rPr lang="en-US" sz="1600" spc="-520" dirty="0">
                <a:cs typeface="Calibri"/>
              </a:rPr>
              <a:t> </a:t>
            </a:r>
            <a:r>
              <a:rPr lang="en-US" sz="1600" spc="-13" dirty="0">
                <a:cs typeface="Calibri"/>
              </a:rPr>
              <a:t>specification</a:t>
            </a:r>
            <a:endParaRPr lang="en-US" sz="1600" dirty="0">
              <a:cs typeface="Calibri"/>
            </a:endParaRPr>
          </a:p>
          <a:p>
            <a:pPr marL="626518" indent="-489361">
              <a:spcBef>
                <a:spcPts val="147"/>
              </a:spcBef>
              <a:buFont typeface="Arial MT"/>
              <a:buChar char="●"/>
              <a:tabLst>
                <a:tab pos="625671" algn="l"/>
                <a:tab pos="626518" algn="l"/>
              </a:tabLst>
            </a:pPr>
            <a:r>
              <a:rPr lang="en-US" sz="1600" spc="-7" dirty="0">
                <a:cs typeface="Calibri"/>
              </a:rPr>
              <a:t>S=7,O=3,D=1,</a:t>
            </a:r>
            <a:r>
              <a:rPr lang="en-US" sz="1600" spc="-60" dirty="0">
                <a:cs typeface="Calibri"/>
              </a:rPr>
              <a:t> </a:t>
            </a:r>
            <a:r>
              <a:rPr lang="en-US" sz="1600" spc="-7" dirty="0" err="1">
                <a:cs typeface="Calibri"/>
              </a:rPr>
              <a:t>rpn</a:t>
            </a:r>
            <a:r>
              <a:rPr lang="en-US" sz="1600" spc="-7" dirty="0">
                <a:cs typeface="Calibri"/>
              </a:rPr>
              <a:t>=21</a:t>
            </a:r>
            <a:endParaRPr lang="en-US" sz="1600" dirty="0">
              <a:cs typeface="Calibri"/>
            </a:endParaRPr>
          </a:p>
          <a:p>
            <a:pPr marL="626518" indent="-489361">
              <a:spcBef>
                <a:spcPts val="140"/>
              </a:spcBef>
              <a:buFont typeface="Arial MT"/>
              <a:buChar char="●"/>
              <a:tabLst>
                <a:tab pos="625671" algn="l"/>
                <a:tab pos="626518" algn="l"/>
              </a:tabLst>
            </a:pPr>
            <a:endParaRPr sz="1600" dirty="0">
              <a:latin typeface="Calibri"/>
              <a:cs typeface="Calibri"/>
            </a:endParaRPr>
          </a:p>
          <a:p>
            <a:pPr marL="137157">
              <a:spcBef>
                <a:spcPts val="147"/>
              </a:spcBef>
            </a:pPr>
            <a:endParaRPr sz="1600" dirty="0">
              <a:latin typeface="Arial MT"/>
              <a:cs typeface="Arial MT"/>
            </a:endParaRPr>
          </a:p>
        </p:txBody>
      </p:sp>
      <p:sp>
        <p:nvSpPr>
          <p:cNvPr id="4" name="TextBox 3"/>
          <p:cNvSpPr txBox="1"/>
          <p:nvPr/>
        </p:nvSpPr>
        <p:spPr>
          <a:xfrm>
            <a:off x="5320146" y="791552"/>
            <a:ext cx="3775363" cy="3139321"/>
          </a:xfrm>
          <a:prstGeom prst="rect">
            <a:avLst/>
          </a:prstGeom>
          <a:noFill/>
        </p:spPr>
        <p:txBody>
          <a:bodyPr wrap="square" rtlCol="0">
            <a:spAutoFit/>
          </a:bodyPr>
          <a:lstStyle/>
          <a:p>
            <a:r>
              <a:rPr lang="en-US" b="1" dirty="0" smtClean="0"/>
              <a:t>Damage to CVT</a:t>
            </a:r>
          </a:p>
          <a:p>
            <a:pPr marL="285750" indent="-285750">
              <a:buFont typeface="Arial" panose="020B0604020202020204" pitchFamily="34" charset="0"/>
              <a:buChar char="•"/>
            </a:pPr>
            <a:r>
              <a:rPr lang="en-US" dirty="0" smtClean="0"/>
              <a:t>Caused when the CVT casing is not mounted properly. It can damage the CVT.</a:t>
            </a:r>
          </a:p>
          <a:p>
            <a:pPr marL="285750" indent="-285750">
              <a:buFont typeface="Arial" panose="020B0604020202020204" pitchFamily="34" charset="0"/>
              <a:buChar char="•"/>
            </a:pPr>
            <a:r>
              <a:rPr lang="en-US" dirty="0" smtClean="0"/>
              <a:t>Can be controlled by sound mounting of CVT casing and tightening the nuts and bolts tightly</a:t>
            </a:r>
          </a:p>
          <a:p>
            <a:pPr marL="285750" indent="-285750">
              <a:buFont typeface="Arial" panose="020B0604020202020204" pitchFamily="34" charset="0"/>
              <a:buChar char="•"/>
            </a:pPr>
            <a:r>
              <a:rPr lang="en-US" dirty="0" smtClean="0"/>
              <a:t>S = 7, O =5 ,D =4 ,</a:t>
            </a:r>
            <a:r>
              <a:rPr lang="en-US" dirty="0" err="1" smtClean="0"/>
              <a:t>rpn</a:t>
            </a:r>
            <a:r>
              <a:rPr lang="en-US" dirty="0" smtClean="0"/>
              <a:t>=140</a:t>
            </a:r>
          </a:p>
          <a:p>
            <a:pPr marL="285750" indent="-285750">
              <a:buFont typeface="Arial" panose="020B0604020202020204" pitchFamily="34" charset="0"/>
              <a:buChar char="•"/>
            </a:pPr>
            <a:endParaRPr lang="en-US" dirty="0"/>
          </a:p>
          <a:p>
            <a:endParaRPr lang="en-US" dirty="0" smtClean="0"/>
          </a:p>
        </p:txBody>
      </p:sp>
    </p:spTree>
    <p:extLst>
      <p:ext uri="{BB962C8B-B14F-4D97-AF65-F5344CB8AC3E}">
        <p14:creationId xmlns:p14="http://schemas.microsoft.com/office/powerpoint/2010/main" val="3423921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6" y="402465"/>
            <a:ext cx="4403298" cy="591551"/>
          </a:xfrm>
          <a:prstGeom prst="rect">
            <a:avLst/>
          </a:prstGeom>
        </p:spPr>
        <p:txBody>
          <a:bodyPr vert="horz" wrap="square" lIns="0" tIns="16933" rIns="0" bIns="0" rtlCol="0" anchor="ctr">
            <a:spAutoFit/>
          </a:bodyPr>
          <a:lstStyle/>
          <a:p>
            <a:pPr marL="16933">
              <a:lnSpc>
                <a:spcPct val="100000"/>
              </a:lnSpc>
              <a:spcBef>
                <a:spcPts val="133"/>
              </a:spcBef>
            </a:pPr>
            <a:r>
              <a:rPr sz="3733" b="1" spc="-7" dirty="0"/>
              <a:t>Lessons</a:t>
            </a:r>
            <a:r>
              <a:rPr sz="3733" spc="-107" dirty="0"/>
              <a:t> </a:t>
            </a:r>
            <a:r>
              <a:rPr sz="3733" b="1" spc="-13" dirty="0"/>
              <a:t>learnt</a:t>
            </a:r>
            <a:endParaRPr sz="3733" b="1" dirty="0"/>
          </a:p>
        </p:txBody>
      </p:sp>
      <p:sp>
        <p:nvSpPr>
          <p:cNvPr id="3" name="object 3"/>
          <p:cNvSpPr txBox="1"/>
          <p:nvPr/>
        </p:nvSpPr>
        <p:spPr>
          <a:xfrm>
            <a:off x="384725" y="1128134"/>
            <a:ext cx="8265795" cy="4461051"/>
          </a:xfrm>
          <a:prstGeom prst="rect">
            <a:avLst/>
          </a:prstGeom>
        </p:spPr>
        <p:txBody>
          <a:bodyPr vert="horz" wrap="square" lIns="0" tIns="178647" rIns="0" bIns="0" rtlCol="0">
            <a:spAutoFit/>
          </a:bodyPr>
          <a:lstStyle/>
          <a:p>
            <a:pPr marL="359833" indent="-342900">
              <a:spcBef>
                <a:spcPts val="1407"/>
              </a:spcBef>
              <a:buFont typeface="Arial" panose="020B0604020202020204" pitchFamily="34" charset="0"/>
              <a:buChar char="•"/>
            </a:pPr>
            <a:r>
              <a:rPr sz="2000" spc="-13" dirty="0">
                <a:latin typeface="Calibri"/>
                <a:cs typeface="Calibri"/>
              </a:rPr>
              <a:t>Proper</a:t>
            </a:r>
            <a:r>
              <a:rPr sz="2000" spc="-7" dirty="0">
                <a:latin typeface="Calibri"/>
                <a:cs typeface="Calibri"/>
              </a:rPr>
              <a:t> </a:t>
            </a:r>
            <a:r>
              <a:rPr sz="2000" dirty="0">
                <a:latin typeface="Calibri"/>
                <a:cs typeface="Calibri"/>
              </a:rPr>
              <a:t>cvt</a:t>
            </a:r>
            <a:r>
              <a:rPr sz="2000" spc="-7" dirty="0">
                <a:latin typeface="Calibri"/>
                <a:cs typeface="Calibri"/>
              </a:rPr>
              <a:t> tuning has </a:t>
            </a:r>
            <a:r>
              <a:rPr sz="2000" spc="-13" dirty="0">
                <a:latin typeface="Calibri"/>
                <a:cs typeface="Calibri"/>
              </a:rPr>
              <a:t>to</a:t>
            </a:r>
            <a:r>
              <a:rPr sz="2000" spc="-7" dirty="0">
                <a:latin typeface="Calibri"/>
                <a:cs typeface="Calibri"/>
              </a:rPr>
              <a:t> be done </a:t>
            </a:r>
            <a:r>
              <a:rPr sz="2000" spc="-13" dirty="0">
                <a:latin typeface="Calibri"/>
                <a:cs typeface="Calibri"/>
              </a:rPr>
              <a:t>according</a:t>
            </a:r>
            <a:r>
              <a:rPr sz="2000" spc="-7" dirty="0">
                <a:latin typeface="Calibri"/>
                <a:cs typeface="Calibri"/>
              </a:rPr>
              <a:t> </a:t>
            </a:r>
            <a:r>
              <a:rPr sz="2000" spc="-13" dirty="0">
                <a:latin typeface="Calibri"/>
                <a:cs typeface="Calibri"/>
              </a:rPr>
              <a:t>to</a:t>
            </a:r>
            <a:r>
              <a:rPr sz="2000" spc="-7" dirty="0">
                <a:latin typeface="Calibri"/>
                <a:cs typeface="Calibri"/>
              </a:rPr>
              <a:t> the </a:t>
            </a:r>
            <a:r>
              <a:rPr sz="2000" spc="-13" dirty="0">
                <a:latin typeface="Calibri"/>
                <a:cs typeface="Calibri"/>
              </a:rPr>
              <a:t>requirements</a:t>
            </a:r>
            <a:r>
              <a:rPr sz="2000" spc="-7" dirty="0">
                <a:latin typeface="Calibri"/>
                <a:cs typeface="Calibri"/>
              </a:rPr>
              <a:t> of the </a:t>
            </a:r>
            <a:r>
              <a:rPr sz="2000" spc="-13" dirty="0" smtClean="0">
                <a:latin typeface="Calibri"/>
                <a:cs typeface="Calibri"/>
              </a:rPr>
              <a:t>vehicle</a:t>
            </a:r>
            <a:r>
              <a:rPr lang="en-US" sz="2000" spc="-13" dirty="0" smtClean="0">
                <a:latin typeface="Calibri"/>
                <a:cs typeface="Calibri"/>
              </a:rPr>
              <a:t>.</a:t>
            </a:r>
          </a:p>
          <a:p>
            <a:pPr marL="359833" indent="-342900">
              <a:spcBef>
                <a:spcPts val="1407"/>
              </a:spcBef>
              <a:buFont typeface="Arial" panose="020B0604020202020204" pitchFamily="34" charset="0"/>
              <a:buChar char="•"/>
            </a:pPr>
            <a:r>
              <a:rPr lang="en-US" sz="2000" spc="-13" dirty="0" smtClean="0">
                <a:latin typeface="Calibri"/>
                <a:cs typeface="Calibri"/>
              </a:rPr>
              <a:t>More focus is given to casings and clearances in the assembly.</a:t>
            </a:r>
            <a:endParaRPr sz="2000" dirty="0">
              <a:latin typeface="Calibri"/>
              <a:cs typeface="Calibri"/>
            </a:endParaRPr>
          </a:p>
          <a:p>
            <a:pPr marL="16933">
              <a:spcBef>
                <a:spcPts val="1973"/>
              </a:spcBef>
            </a:pPr>
            <a:r>
              <a:rPr sz="3600" b="1" spc="-7" dirty="0">
                <a:latin typeface="Calibri"/>
                <a:cs typeface="Calibri"/>
              </a:rPr>
              <a:t>Design</a:t>
            </a:r>
            <a:r>
              <a:rPr sz="3600" b="1" spc="-40" dirty="0">
                <a:latin typeface="Calibri"/>
                <a:cs typeface="Calibri"/>
              </a:rPr>
              <a:t> </a:t>
            </a:r>
            <a:r>
              <a:rPr sz="3600" b="1" spc="-20" dirty="0">
                <a:latin typeface="Calibri"/>
                <a:cs typeface="Calibri"/>
              </a:rPr>
              <a:t>validation</a:t>
            </a:r>
            <a:endParaRPr sz="3600" b="1" dirty="0">
              <a:latin typeface="Calibri"/>
              <a:cs typeface="Calibri"/>
            </a:endParaRPr>
          </a:p>
          <a:p>
            <a:pPr marL="16933" marR="6773">
              <a:lnSpc>
                <a:spcPct val="114999"/>
              </a:lnSpc>
              <a:spcBef>
                <a:spcPts val="1893"/>
              </a:spcBef>
            </a:pPr>
            <a:r>
              <a:rPr sz="2000" spc="-13" dirty="0">
                <a:latin typeface="Calibri"/>
                <a:cs typeface="Calibri"/>
              </a:rPr>
              <a:t>According to</a:t>
            </a:r>
            <a:r>
              <a:rPr sz="2000" spc="-7" dirty="0">
                <a:latin typeface="Calibri"/>
                <a:cs typeface="Calibri"/>
              </a:rPr>
              <a:t> our calculations,</a:t>
            </a:r>
            <a:r>
              <a:rPr sz="2000" spc="-13" dirty="0">
                <a:latin typeface="Calibri"/>
                <a:cs typeface="Calibri"/>
              </a:rPr>
              <a:t> </a:t>
            </a:r>
            <a:r>
              <a:rPr sz="2000" spc="-7" dirty="0">
                <a:latin typeface="Calibri"/>
                <a:cs typeface="Calibri"/>
              </a:rPr>
              <a:t>our </a:t>
            </a:r>
            <a:r>
              <a:rPr sz="2000" spc="-13" dirty="0">
                <a:latin typeface="Calibri"/>
                <a:cs typeface="Calibri"/>
              </a:rPr>
              <a:t>vehicle</a:t>
            </a:r>
            <a:r>
              <a:rPr sz="2000" spc="-7" dirty="0">
                <a:latin typeface="Calibri"/>
                <a:cs typeface="Calibri"/>
              </a:rPr>
              <a:t> should</a:t>
            </a:r>
            <a:r>
              <a:rPr sz="2000" spc="-13" dirty="0">
                <a:latin typeface="Calibri"/>
                <a:cs typeface="Calibri"/>
              </a:rPr>
              <a:t> </a:t>
            </a:r>
            <a:r>
              <a:rPr sz="2000" spc="-7" dirty="0">
                <a:latin typeface="Calibri"/>
                <a:cs typeface="Calibri"/>
              </a:rPr>
              <a:t>be </a:t>
            </a:r>
            <a:r>
              <a:rPr sz="2000" dirty="0">
                <a:latin typeface="Calibri"/>
                <a:cs typeface="Calibri"/>
              </a:rPr>
              <a:t>able</a:t>
            </a:r>
            <a:r>
              <a:rPr sz="2000" spc="-7" dirty="0">
                <a:latin typeface="Calibri"/>
                <a:cs typeface="Calibri"/>
              </a:rPr>
              <a:t> </a:t>
            </a:r>
            <a:r>
              <a:rPr sz="2000" spc="-13" dirty="0">
                <a:latin typeface="Calibri"/>
                <a:cs typeface="Calibri"/>
              </a:rPr>
              <a:t>to</a:t>
            </a:r>
            <a:r>
              <a:rPr sz="2000" spc="-7" dirty="0">
                <a:latin typeface="Calibri"/>
                <a:cs typeface="Calibri"/>
              </a:rPr>
              <a:t> achieve</a:t>
            </a:r>
            <a:r>
              <a:rPr sz="2000" spc="-13" dirty="0">
                <a:latin typeface="Calibri"/>
                <a:cs typeface="Calibri"/>
              </a:rPr>
              <a:t> </a:t>
            </a:r>
            <a:r>
              <a:rPr sz="2000" spc="-7" dirty="0">
                <a:latin typeface="Calibri"/>
                <a:cs typeface="Calibri"/>
              </a:rPr>
              <a:t>57kmph </a:t>
            </a:r>
            <a:r>
              <a:rPr sz="2000" spc="-27" dirty="0">
                <a:latin typeface="Calibri"/>
                <a:cs typeface="Calibri"/>
              </a:rPr>
              <a:t>velocity.</a:t>
            </a:r>
            <a:r>
              <a:rPr sz="2000" spc="-7" dirty="0">
                <a:latin typeface="Calibri"/>
                <a:cs typeface="Calibri"/>
              </a:rPr>
              <a:t> Our </a:t>
            </a:r>
            <a:r>
              <a:rPr sz="2000" spc="-527" dirty="0">
                <a:latin typeface="Calibri"/>
                <a:cs typeface="Calibri"/>
              </a:rPr>
              <a:t> </a:t>
            </a:r>
            <a:r>
              <a:rPr sz="2000" spc="-7" dirty="0">
                <a:latin typeface="Calibri"/>
                <a:cs typeface="Calibri"/>
              </a:rPr>
              <a:t>acceptance </a:t>
            </a:r>
            <a:r>
              <a:rPr sz="2000" spc="-13" dirty="0">
                <a:latin typeface="Calibri"/>
                <a:cs typeface="Calibri"/>
              </a:rPr>
              <a:t>criteria</a:t>
            </a:r>
            <a:r>
              <a:rPr sz="2000" spc="-7" dirty="0">
                <a:latin typeface="Calibri"/>
                <a:cs typeface="Calibri"/>
              </a:rPr>
              <a:t> is</a:t>
            </a:r>
            <a:r>
              <a:rPr sz="2000" dirty="0">
                <a:latin typeface="Calibri"/>
                <a:cs typeface="Calibri"/>
              </a:rPr>
              <a:t> </a:t>
            </a:r>
            <a:r>
              <a:rPr sz="2000" spc="-7" dirty="0">
                <a:latin typeface="Calibri"/>
                <a:cs typeface="Calibri"/>
              </a:rPr>
              <a:t>50kmph. </a:t>
            </a:r>
            <a:r>
              <a:rPr sz="2000" dirty="0">
                <a:latin typeface="Calibri"/>
                <a:cs typeface="Calibri"/>
              </a:rPr>
              <a:t>A</a:t>
            </a:r>
            <a:r>
              <a:rPr sz="2000" spc="-7" dirty="0">
                <a:latin typeface="Calibri"/>
                <a:cs typeface="Calibri"/>
              </a:rPr>
              <a:t> </a:t>
            </a:r>
            <a:r>
              <a:rPr sz="2000" spc="-13" dirty="0">
                <a:latin typeface="Calibri"/>
                <a:cs typeface="Calibri"/>
              </a:rPr>
              <a:t>tachometer</a:t>
            </a:r>
            <a:r>
              <a:rPr sz="2000" dirty="0">
                <a:latin typeface="Calibri"/>
                <a:cs typeface="Calibri"/>
              </a:rPr>
              <a:t> </a:t>
            </a:r>
            <a:r>
              <a:rPr sz="2000" spc="-13" dirty="0">
                <a:latin typeface="Calibri"/>
                <a:cs typeface="Calibri"/>
              </a:rPr>
              <a:t>was</a:t>
            </a:r>
            <a:r>
              <a:rPr sz="2000" spc="-7" dirty="0">
                <a:latin typeface="Calibri"/>
                <a:cs typeface="Calibri"/>
              </a:rPr>
              <a:t> used</a:t>
            </a:r>
            <a:r>
              <a:rPr sz="2000" dirty="0">
                <a:latin typeface="Calibri"/>
                <a:cs typeface="Calibri"/>
              </a:rPr>
              <a:t> </a:t>
            </a:r>
            <a:r>
              <a:rPr sz="2000" spc="-13" dirty="0">
                <a:latin typeface="Calibri"/>
                <a:cs typeface="Calibri"/>
              </a:rPr>
              <a:t>to</a:t>
            </a:r>
            <a:r>
              <a:rPr sz="2000" spc="-7" dirty="0">
                <a:latin typeface="Calibri"/>
                <a:cs typeface="Calibri"/>
              </a:rPr>
              <a:t> </a:t>
            </a:r>
            <a:r>
              <a:rPr sz="2000" spc="-13" dirty="0">
                <a:latin typeface="Calibri"/>
                <a:cs typeface="Calibri"/>
              </a:rPr>
              <a:t>validate</a:t>
            </a:r>
            <a:r>
              <a:rPr sz="2000" spc="-7" dirty="0">
                <a:latin typeface="Calibri"/>
                <a:cs typeface="Calibri"/>
              </a:rPr>
              <a:t> this</a:t>
            </a:r>
            <a:r>
              <a:rPr sz="2000" dirty="0">
                <a:latin typeface="Calibri"/>
                <a:cs typeface="Calibri"/>
              </a:rPr>
              <a:t> </a:t>
            </a:r>
            <a:r>
              <a:rPr sz="2000" spc="-40" dirty="0">
                <a:latin typeface="Calibri"/>
                <a:cs typeface="Calibri"/>
              </a:rPr>
              <a:t>parameter.</a:t>
            </a:r>
            <a:endParaRPr sz="2000" dirty="0">
              <a:latin typeface="Calibri"/>
              <a:cs typeface="Calibri"/>
            </a:endParaRPr>
          </a:p>
          <a:p>
            <a:pPr marL="16933" marR="694249">
              <a:lnSpc>
                <a:spcPct val="114999"/>
              </a:lnSpc>
            </a:pPr>
            <a:r>
              <a:rPr sz="2000" spc="-7" dirty="0">
                <a:latin typeface="Calibri"/>
                <a:cs typeface="Calibri"/>
              </a:rPr>
              <a:t>The</a:t>
            </a:r>
            <a:r>
              <a:rPr sz="2000" spc="-13" dirty="0">
                <a:latin typeface="Calibri"/>
                <a:cs typeface="Calibri"/>
              </a:rPr>
              <a:t> </a:t>
            </a:r>
            <a:r>
              <a:rPr sz="2000" spc="-7" dirty="0">
                <a:latin typeface="Calibri"/>
                <a:cs typeface="Calibri"/>
              </a:rPr>
              <a:t>articulation </a:t>
            </a:r>
            <a:r>
              <a:rPr sz="2000" dirty="0">
                <a:latin typeface="Calibri"/>
                <a:cs typeface="Calibri"/>
              </a:rPr>
              <a:t>angles</a:t>
            </a:r>
            <a:r>
              <a:rPr sz="2000" spc="-7" dirty="0">
                <a:latin typeface="Calibri"/>
                <a:cs typeface="Calibri"/>
              </a:rPr>
              <a:t> of </a:t>
            </a:r>
            <a:r>
              <a:rPr lang="en-US" sz="2000" spc="-7" dirty="0" smtClean="0">
                <a:latin typeface="Calibri"/>
                <a:cs typeface="Calibri"/>
              </a:rPr>
              <a:t>both front and rear</a:t>
            </a:r>
            <a:r>
              <a:rPr sz="2000" spc="-7" dirty="0" smtClean="0">
                <a:latin typeface="Calibri"/>
                <a:cs typeface="Calibri"/>
              </a:rPr>
              <a:t> </a:t>
            </a:r>
            <a:r>
              <a:rPr sz="2000" spc="-27" dirty="0">
                <a:latin typeface="Calibri"/>
                <a:cs typeface="Calibri"/>
              </a:rPr>
              <a:t>axels</a:t>
            </a:r>
            <a:r>
              <a:rPr sz="2000" spc="-7" dirty="0">
                <a:latin typeface="Calibri"/>
                <a:cs typeface="Calibri"/>
              </a:rPr>
              <a:t> </a:t>
            </a:r>
            <a:r>
              <a:rPr sz="2000" spc="-13" dirty="0">
                <a:latin typeface="Calibri"/>
                <a:cs typeface="Calibri"/>
              </a:rPr>
              <a:t>we</a:t>
            </a:r>
            <a:r>
              <a:rPr sz="2000" spc="-7" dirty="0">
                <a:latin typeface="Calibri"/>
                <a:cs typeface="Calibri"/>
              </a:rPr>
              <a:t> chose </a:t>
            </a:r>
            <a:r>
              <a:rPr sz="2000" spc="-13" dirty="0">
                <a:latin typeface="Calibri"/>
                <a:cs typeface="Calibri"/>
              </a:rPr>
              <a:t>to</a:t>
            </a:r>
            <a:r>
              <a:rPr sz="2000" spc="-7" dirty="0">
                <a:latin typeface="Calibri"/>
                <a:cs typeface="Calibri"/>
              </a:rPr>
              <a:t> use </a:t>
            </a:r>
            <a:r>
              <a:rPr sz="2000" spc="-13" dirty="0">
                <a:latin typeface="Calibri"/>
                <a:cs typeface="Calibri"/>
              </a:rPr>
              <a:t>are</a:t>
            </a:r>
            <a:r>
              <a:rPr sz="2000" spc="-7" dirty="0">
                <a:latin typeface="Calibri"/>
                <a:cs typeface="Calibri"/>
              </a:rPr>
              <a:t> </a:t>
            </a:r>
            <a:r>
              <a:rPr sz="2000" spc="-13" dirty="0">
                <a:latin typeface="Calibri"/>
                <a:cs typeface="Calibri"/>
              </a:rPr>
              <a:t>validated</a:t>
            </a:r>
            <a:r>
              <a:rPr sz="2000" spc="-7" dirty="0">
                <a:latin typeface="Calibri"/>
                <a:cs typeface="Calibri"/>
              </a:rPr>
              <a:t> by the suspension </a:t>
            </a:r>
            <a:r>
              <a:rPr sz="2000" spc="-527" dirty="0">
                <a:latin typeface="Calibri"/>
                <a:cs typeface="Calibri"/>
              </a:rPr>
              <a:t> </a:t>
            </a:r>
            <a:r>
              <a:rPr sz="2000" spc="-13" dirty="0">
                <a:latin typeface="Calibri"/>
                <a:cs typeface="Calibri"/>
              </a:rPr>
              <a:t>department</a:t>
            </a:r>
            <a:r>
              <a:rPr sz="2000" spc="-7" dirty="0">
                <a:latin typeface="Calibri"/>
                <a:cs typeface="Calibri"/>
              </a:rPr>
              <a:t> </a:t>
            </a:r>
            <a:r>
              <a:rPr lang="en-US" sz="2000" spc="-7" dirty="0" smtClean="0">
                <a:latin typeface="Calibri"/>
                <a:cs typeface="Calibri"/>
              </a:rPr>
              <a:t>and the steering department </a:t>
            </a:r>
            <a:r>
              <a:rPr sz="2000" spc="-13" dirty="0" smtClean="0">
                <a:latin typeface="Calibri"/>
                <a:cs typeface="Calibri"/>
              </a:rPr>
              <a:t>to</a:t>
            </a:r>
            <a:r>
              <a:rPr sz="2000" spc="-7" dirty="0" smtClean="0">
                <a:latin typeface="Calibri"/>
                <a:cs typeface="Calibri"/>
              </a:rPr>
              <a:t> </a:t>
            </a:r>
            <a:r>
              <a:rPr sz="2000" spc="-27" dirty="0">
                <a:latin typeface="Calibri"/>
                <a:cs typeface="Calibri"/>
              </a:rPr>
              <a:t>make</a:t>
            </a:r>
            <a:r>
              <a:rPr sz="2000" spc="-7" dirty="0">
                <a:latin typeface="Calibri"/>
                <a:cs typeface="Calibri"/>
              </a:rPr>
              <a:t> </a:t>
            </a:r>
            <a:r>
              <a:rPr sz="2000" spc="-13" dirty="0">
                <a:latin typeface="Calibri"/>
                <a:cs typeface="Calibri"/>
              </a:rPr>
              <a:t>sure</a:t>
            </a:r>
            <a:r>
              <a:rPr sz="2000" spc="-7" dirty="0">
                <a:latin typeface="Calibri"/>
                <a:cs typeface="Calibri"/>
              </a:rPr>
              <a:t> </a:t>
            </a:r>
            <a:r>
              <a:rPr sz="2000" spc="-13" dirty="0">
                <a:latin typeface="Calibri"/>
                <a:cs typeface="Calibri"/>
              </a:rPr>
              <a:t>that</a:t>
            </a:r>
            <a:r>
              <a:rPr sz="2000" spc="-7" dirty="0">
                <a:latin typeface="Calibri"/>
                <a:cs typeface="Calibri"/>
              </a:rPr>
              <a:t> the</a:t>
            </a:r>
            <a:r>
              <a:rPr sz="2000" dirty="0">
                <a:latin typeface="Calibri"/>
                <a:cs typeface="Calibri"/>
              </a:rPr>
              <a:t> </a:t>
            </a:r>
            <a:r>
              <a:rPr sz="2000" spc="-13" dirty="0">
                <a:latin typeface="Calibri"/>
                <a:cs typeface="Calibri"/>
              </a:rPr>
              <a:t>vehicle</a:t>
            </a:r>
            <a:r>
              <a:rPr sz="2000" spc="-7" dirty="0">
                <a:latin typeface="Calibri"/>
                <a:cs typeface="Calibri"/>
              </a:rPr>
              <a:t> </a:t>
            </a:r>
            <a:r>
              <a:rPr sz="2000" spc="-20" dirty="0">
                <a:latin typeface="Calibri"/>
                <a:cs typeface="Calibri"/>
              </a:rPr>
              <a:t>integration</a:t>
            </a:r>
            <a:r>
              <a:rPr sz="2000" spc="-7" dirty="0">
                <a:latin typeface="Calibri"/>
                <a:cs typeface="Calibri"/>
              </a:rPr>
              <a:t> is </a:t>
            </a:r>
            <a:r>
              <a:rPr sz="2000" spc="-47" dirty="0">
                <a:latin typeface="Calibri"/>
                <a:cs typeface="Calibri"/>
              </a:rPr>
              <a:t>proper.</a:t>
            </a:r>
            <a:endParaRPr sz="2000" dirty="0">
              <a:latin typeface="Calibri"/>
              <a:cs typeface="Calibri"/>
            </a:endParaRPr>
          </a:p>
        </p:txBody>
      </p:sp>
    </p:spTree>
    <p:extLst>
      <p:ext uri="{BB962C8B-B14F-4D97-AF65-F5344CB8AC3E}">
        <p14:creationId xmlns:p14="http://schemas.microsoft.com/office/powerpoint/2010/main" val="3162150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87208" cy="490066"/>
          </a:xfrm>
        </p:spPr>
        <p:txBody>
          <a:bodyPr>
            <a:normAutofit fontScale="90000"/>
          </a:bodyPr>
          <a:lstStyle/>
          <a:p>
            <a:r>
              <a:rPr lang="en-US" b="1" dirty="0" smtClean="0"/>
              <a:t>Braking system specs</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60942875"/>
              </p:ext>
            </p:extLst>
          </p:nvPr>
        </p:nvGraphicFramePr>
        <p:xfrm>
          <a:off x="1115616" y="836713"/>
          <a:ext cx="7200801" cy="3384375"/>
        </p:xfrm>
        <a:graphic>
          <a:graphicData uri="http://schemas.openxmlformats.org/drawingml/2006/table">
            <a:tbl>
              <a:tblPr firstRow="1" bandRow="1">
                <a:tableStyleId>{5C22544A-7EE6-4342-B048-85BDC9FD1C3A}</a:tableStyleId>
              </a:tblPr>
              <a:tblGrid>
                <a:gridCol w="2400267"/>
                <a:gridCol w="2400267"/>
                <a:gridCol w="2400267"/>
              </a:tblGrid>
              <a:tr h="301798">
                <a:tc>
                  <a:txBody>
                    <a:bodyPr/>
                    <a:lstStyle/>
                    <a:p>
                      <a:pPr algn="l" fontAlgn="b"/>
                      <a:endParaRPr lang="en-IN" sz="1800" b="0" i="0" u="none" strike="noStrike" dirty="0">
                        <a:solidFill>
                          <a:srgbClr val="000000"/>
                        </a:solidFill>
                        <a:effectLst/>
                        <a:latin typeface="Calibri"/>
                      </a:endParaRPr>
                    </a:p>
                  </a:txBody>
                  <a:tcPr marL="9525" marR="9525" marT="9525" marB="0" anchor="b"/>
                </a:tc>
                <a:tc>
                  <a:txBody>
                    <a:bodyPr/>
                    <a:lstStyle/>
                    <a:p>
                      <a:pPr algn="l" fontAlgn="b"/>
                      <a:r>
                        <a:rPr lang="en-IN" sz="1800" b="0" i="0" u="none" strike="noStrike" dirty="0">
                          <a:solidFill>
                            <a:srgbClr val="000000"/>
                          </a:solidFill>
                          <a:effectLst/>
                          <a:latin typeface="Calibri"/>
                        </a:rPr>
                        <a:t>Previous </a:t>
                      </a:r>
                      <a:r>
                        <a:rPr lang="en-IN" sz="1800" b="0" i="0" u="none" strike="noStrike" dirty="0" smtClean="0">
                          <a:solidFill>
                            <a:srgbClr val="000000"/>
                          </a:solidFill>
                          <a:effectLst/>
                          <a:latin typeface="Calibri"/>
                        </a:rPr>
                        <a:t>design</a:t>
                      </a:r>
                      <a:endParaRPr lang="en-IN" sz="1800" b="0" i="0" u="none" strike="noStrike" dirty="0">
                        <a:solidFill>
                          <a:srgbClr val="000000"/>
                        </a:solidFill>
                        <a:effectLst/>
                        <a:latin typeface="Calibri"/>
                      </a:endParaRPr>
                    </a:p>
                  </a:txBody>
                  <a:tcPr marL="9525" marR="9525" marT="9525" marB="0" anchor="b"/>
                </a:tc>
                <a:tc>
                  <a:txBody>
                    <a:bodyPr/>
                    <a:lstStyle/>
                    <a:p>
                      <a:pPr algn="l" fontAlgn="b"/>
                      <a:r>
                        <a:rPr lang="en-IN" sz="1800" b="0" i="0" u="none" strike="noStrike">
                          <a:solidFill>
                            <a:srgbClr val="000000"/>
                          </a:solidFill>
                          <a:effectLst/>
                          <a:latin typeface="Calibri"/>
                        </a:rPr>
                        <a:t>New design</a:t>
                      </a:r>
                    </a:p>
                  </a:txBody>
                  <a:tcPr marL="9525" marR="9525" marT="9525" marB="0" anchor="b"/>
                </a:tc>
              </a:tr>
              <a:tr h="677495">
                <a:tc>
                  <a:txBody>
                    <a:bodyPr/>
                    <a:lstStyle/>
                    <a:p>
                      <a:pPr algn="l" fontAlgn="b"/>
                      <a:r>
                        <a:rPr lang="en-IN" sz="1400" b="0" i="0" u="none" strike="noStrike" dirty="0">
                          <a:solidFill>
                            <a:srgbClr val="000000"/>
                          </a:solidFill>
                          <a:effectLst/>
                          <a:latin typeface="Calibri"/>
                        </a:rPr>
                        <a:t>Master</a:t>
                      </a:r>
                      <a:br>
                        <a:rPr lang="en-IN" sz="1400" b="0" i="0" u="none" strike="noStrike" dirty="0">
                          <a:solidFill>
                            <a:srgbClr val="000000"/>
                          </a:solidFill>
                          <a:effectLst/>
                          <a:latin typeface="Calibri"/>
                        </a:rPr>
                      </a:br>
                      <a:r>
                        <a:rPr lang="en-IN" sz="1400" b="0" i="0" u="none" strike="noStrike" dirty="0">
                          <a:solidFill>
                            <a:srgbClr val="000000"/>
                          </a:solidFill>
                          <a:effectLst/>
                          <a:latin typeface="Calibri"/>
                        </a:rPr>
                        <a:t>cylinder</a:t>
                      </a:r>
                    </a:p>
                  </a:txBody>
                  <a:tcPr marL="9525" marR="9525" marT="9525" marB="0" anchor="b"/>
                </a:tc>
                <a:tc>
                  <a:txBody>
                    <a:bodyPr/>
                    <a:lstStyle/>
                    <a:p>
                      <a:pPr algn="l" fontAlgn="b"/>
                      <a:r>
                        <a:rPr lang="en-IN" sz="1400" b="0" i="0" u="none" strike="noStrike" dirty="0">
                          <a:solidFill>
                            <a:srgbClr val="000000"/>
                          </a:solidFill>
                          <a:effectLst/>
                          <a:latin typeface="Calibri"/>
                        </a:rPr>
                        <a:t>( 19.05mm master</a:t>
                      </a:r>
                      <a:br>
                        <a:rPr lang="en-IN" sz="1400" b="0" i="0" u="none" strike="noStrike" dirty="0">
                          <a:solidFill>
                            <a:srgbClr val="000000"/>
                          </a:solidFill>
                          <a:effectLst/>
                          <a:latin typeface="Calibri"/>
                        </a:rPr>
                      </a:br>
                      <a:r>
                        <a:rPr lang="en-IN" sz="1400" b="0" i="0" u="none" strike="noStrike" dirty="0">
                          <a:solidFill>
                            <a:srgbClr val="000000"/>
                          </a:solidFill>
                          <a:effectLst/>
                          <a:latin typeface="Calibri"/>
                        </a:rPr>
                        <a:t>cylinder , stroke =</a:t>
                      </a:r>
                      <a:br>
                        <a:rPr lang="en-IN" sz="1400" b="0" i="0" u="none" strike="noStrike" dirty="0">
                          <a:solidFill>
                            <a:srgbClr val="000000"/>
                          </a:solidFill>
                          <a:effectLst/>
                          <a:latin typeface="Calibri"/>
                        </a:rPr>
                      </a:br>
                      <a:r>
                        <a:rPr lang="en-IN" sz="1400" b="0" i="0" u="none" strike="noStrike" dirty="0">
                          <a:solidFill>
                            <a:srgbClr val="000000"/>
                          </a:solidFill>
                          <a:effectLst/>
                          <a:latin typeface="Calibri"/>
                        </a:rPr>
                        <a:t>25mm ) * 2</a:t>
                      </a:r>
                    </a:p>
                  </a:txBody>
                  <a:tcPr marL="9525" marR="9525" marT="9525" marB="0" anchor="b"/>
                </a:tc>
                <a:tc>
                  <a:txBody>
                    <a:bodyPr/>
                    <a:lstStyle/>
                    <a:p>
                      <a:pPr algn="l" fontAlgn="b"/>
                      <a:r>
                        <a:rPr lang="en-IN" sz="1400" b="0" i="0" u="none" strike="noStrike">
                          <a:solidFill>
                            <a:srgbClr val="000000"/>
                          </a:solidFill>
                          <a:effectLst/>
                          <a:latin typeface="Calibri"/>
                        </a:rPr>
                        <a:t>19.05mm tandem</a:t>
                      </a:r>
                      <a:br>
                        <a:rPr lang="en-IN" sz="1400" b="0" i="0" u="none" strike="noStrike">
                          <a:solidFill>
                            <a:srgbClr val="000000"/>
                          </a:solidFill>
                          <a:effectLst/>
                          <a:latin typeface="Calibri"/>
                        </a:rPr>
                      </a:br>
                      <a:r>
                        <a:rPr lang="en-IN" sz="1400" b="0" i="0" u="none" strike="noStrike">
                          <a:solidFill>
                            <a:srgbClr val="000000"/>
                          </a:solidFill>
                          <a:effectLst/>
                          <a:latin typeface="Calibri"/>
                        </a:rPr>
                        <a:t>master cylinder ,</a:t>
                      </a:r>
                      <a:br>
                        <a:rPr lang="en-IN" sz="1400" b="0" i="0" u="none" strike="noStrike">
                          <a:solidFill>
                            <a:srgbClr val="000000"/>
                          </a:solidFill>
                          <a:effectLst/>
                          <a:latin typeface="Calibri"/>
                        </a:rPr>
                      </a:br>
                      <a:r>
                        <a:rPr lang="en-IN" sz="1400" b="0" i="0" u="none" strike="noStrike">
                          <a:solidFill>
                            <a:srgbClr val="000000"/>
                          </a:solidFill>
                          <a:effectLst/>
                          <a:latin typeface="Calibri"/>
                        </a:rPr>
                        <a:t>stroke = 25mm</a:t>
                      </a:r>
                    </a:p>
                  </a:txBody>
                  <a:tcPr marL="9525" marR="9525" marT="9525" marB="0" anchor="b"/>
                </a:tc>
              </a:tr>
              <a:tr h="301798">
                <a:tc>
                  <a:txBody>
                    <a:bodyPr/>
                    <a:lstStyle/>
                    <a:p>
                      <a:pPr algn="l" fontAlgn="b"/>
                      <a:r>
                        <a:rPr lang="en-IN" sz="1400" b="0" i="0" u="none" strike="noStrike" dirty="0">
                          <a:solidFill>
                            <a:srgbClr val="000000"/>
                          </a:solidFill>
                          <a:effectLst/>
                          <a:latin typeface="Calibri"/>
                        </a:rPr>
                        <a:t>Split</a:t>
                      </a:r>
                    </a:p>
                  </a:txBody>
                  <a:tcPr marL="9525" marR="9525" marT="9525" marB="0" anchor="b"/>
                </a:tc>
                <a:tc>
                  <a:txBody>
                    <a:bodyPr/>
                    <a:lstStyle/>
                    <a:p>
                      <a:pPr algn="l" fontAlgn="b"/>
                      <a:r>
                        <a:rPr lang="en-IN" sz="1400" b="0" i="0" u="none" strike="noStrike" dirty="0">
                          <a:solidFill>
                            <a:srgbClr val="000000"/>
                          </a:solidFill>
                          <a:effectLst/>
                          <a:latin typeface="Calibri"/>
                        </a:rPr>
                        <a:t>Front - rear split</a:t>
                      </a:r>
                    </a:p>
                  </a:txBody>
                  <a:tcPr marL="9525" marR="9525" marT="9525" marB="0" anchor="b"/>
                </a:tc>
                <a:tc>
                  <a:txBody>
                    <a:bodyPr/>
                    <a:lstStyle/>
                    <a:p>
                      <a:pPr algn="l" fontAlgn="b"/>
                      <a:r>
                        <a:rPr lang="en-IN" sz="1400" b="0" i="0" u="none" strike="noStrike">
                          <a:solidFill>
                            <a:srgbClr val="000000"/>
                          </a:solidFill>
                          <a:effectLst/>
                          <a:latin typeface="Calibri"/>
                        </a:rPr>
                        <a:t>Front - rear split</a:t>
                      </a:r>
                    </a:p>
                  </a:txBody>
                  <a:tcPr marL="9525" marR="9525" marT="9525" marB="0" anchor="b"/>
                </a:tc>
              </a:tr>
              <a:tr h="900743">
                <a:tc>
                  <a:txBody>
                    <a:bodyPr/>
                    <a:lstStyle/>
                    <a:p>
                      <a:pPr algn="l" fontAlgn="b"/>
                      <a:r>
                        <a:rPr lang="en-IN" sz="1400" b="0" i="0" u="none" strike="noStrike" dirty="0">
                          <a:solidFill>
                            <a:srgbClr val="000000"/>
                          </a:solidFill>
                          <a:effectLst/>
                          <a:latin typeface="Calibri"/>
                        </a:rPr>
                        <a:t>Brake</a:t>
                      </a:r>
                      <a:br>
                        <a:rPr lang="en-IN" sz="1400" b="0" i="0" u="none" strike="noStrike" dirty="0">
                          <a:solidFill>
                            <a:srgbClr val="000000"/>
                          </a:solidFill>
                          <a:effectLst/>
                          <a:latin typeface="Calibri"/>
                        </a:rPr>
                      </a:br>
                      <a:r>
                        <a:rPr lang="en-IN" sz="1400" b="0" i="0" u="none" strike="noStrike" dirty="0">
                          <a:solidFill>
                            <a:srgbClr val="000000"/>
                          </a:solidFill>
                          <a:effectLst/>
                          <a:latin typeface="Calibri"/>
                        </a:rPr>
                        <a:t>rotor / disc</a:t>
                      </a:r>
                    </a:p>
                  </a:txBody>
                  <a:tcPr marL="9525" marR="9525" marT="9525" marB="0" anchor="b"/>
                </a:tc>
                <a:tc>
                  <a:txBody>
                    <a:bodyPr/>
                    <a:lstStyle/>
                    <a:p>
                      <a:pPr algn="l" fontAlgn="b"/>
                      <a:r>
                        <a:rPr lang="en-US" sz="1400" b="0" i="0" u="none" strike="noStrike" dirty="0">
                          <a:solidFill>
                            <a:srgbClr val="000000"/>
                          </a:solidFill>
                          <a:effectLst/>
                          <a:latin typeface="Calibri"/>
                        </a:rPr>
                        <a:t>Front : 150mm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Thickness : 3mm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Rear : 150 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Thickness : 3mm</a:t>
                      </a:r>
                    </a:p>
                  </a:txBody>
                  <a:tcPr marL="9525" marR="9525" marT="9525" marB="0" anchor="b"/>
                </a:tc>
                <a:tc>
                  <a:txBody>
                    <a:bodyPr/>
                    <a:lstStyle/>
                    <a:p>
                      <a:pPr algn="l" fontAlgn="b"/>
                      <a:r>
                        <a:rPr lang="en-US" sz="1400" b="0" i="0" u="none" strike="noStrike" dirty="0">
                          <a:solidFill>
                            <a:srgbClr val="000000"/>
                          </a:solidFill>
                          <a:effectLst/>
                          <a:latin typeface="Calibri"/>
                        </a:rPr>
                        <a:t>Front : </a:t>
                      </a:r>
                      <a:r>
                        <a:rPr lang="en-US" sz="1400" b="0" i="0" u="none" strike="noStrike" dirty="0" smtClean="0">
                          <a:solidFill>
                            <a:srgbClr val="000000"/>
                          </a:solidFill>
                          <a:effectLst/>
                          <a:latin typeface="Calibri"/>
                        </a:rPr>
                        <a:t>180mm</a:t>
                      </a:r>
                      <a:r>
                        <a:rPr lang="en-US" sz="1400" b="0" i="0" u="none" strike="noStrike" dirty="0">
                          <a:solidFill>
                            <a:srgbClr val="000000"/>
                          </a:solidFill>
                          <a:effectLst/>
                          <a:latin typeface="Calibri"/>
                        </a:rPr>
                        <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Thickness : 4mm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Rear : 220mm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Thickness : 4mm</a:t>
                      </a:r>
                    </a:p>
                  </a:txBody>
                  <a:tcPr marL="9525" marR="9525" marT="9525" marB="0" anchor="b"/>
                </a:tc>
              </a:tr>
              <a:tr h="900743">
                <a:tc>
                  <a:txBody>
                    <a:bodyPr/>
                    <a:lstStyle/>
                    <a:p>
                      <a:pPr algn="l" fontAlgn="b"/>
                      <a:r>
                        <a:rPr lang="en-IN" sz="1400" b="0" i="0" u="none" strike="noStrike">
                          <a:solidFill>
                            <a:srgbClr val="000000"/>
                          </a:solidFill>
                          <a:effectLst/>
                          <a:latin typeface="Calibri"/>
                        </a:rPr>
                        <a:t>Brake</a:t>
                      </a:r>
                      <a:br>
                        <a:rPr lang="en-IN" sz="1400" b="0" i="0" u="none" strike="noStrike">
                          <a:solidFill>
                            <a:srgbClr val="000000"/>
                          </a:solidFill>
                          <a:effectLst/>
                          <a:latin typeface="Calibri"/>
                        </a:rPr>
                      </a:br>
                      <a:r>
                        <a:rPr lang="en-IN" sz="1400" b="0" i="0" u="none" strike="noStrike">
                          <a:solidFill>
                            <a:srgbClr val="000000"/>
                          </a:solidFill>
                          <a:effectLst/>
                          <a:latin typeface="Calibri"/>
                        </a:rPr>
                        <a:t>calipers</a:t>
                      </a:r>
                    </a:p>
                  </a:txBody>
                  <a:tcPr marL="9525" marR="9525" marT="9525" marB="0" anchor="b"/>
                </a:tc>
                <a:tc>
                  <a:txBody>
                    <a:bodyPr/>
                    <a:lstStyle/>
                    <a:p>
                      <a:pPr algn="l" fontAlgn="b"/>
                      <a:r>
                        <a:rPr lang="en-US" sz="1400" b="0" i="0" u="none" strike="noStrike" dirty="0">
                          <a:solidFill>
                            <a:srgbClr val="000000"/>
                          </a:solidFill>
                          <a:effectLst/>
                          <a:latin typeface="Calibri"/>
                        </a:rPr>
                        <a:t>Front : floating</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25.4mm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Rear : fixed 31.75 mm</a:t>
                      </a:r>
                    </a:p>
                  </a:txBody>
                  <a:tcPr marL="9525" marR="9525" marT="9525" marB="0" anchor="b"/>
                </a:tc>
                <a:tc>
                  <a:txBody>
                    <a:bodyPr/>
                    <a:lstStyle/>
                    <a:p>
                      <a:pPr algn="l" fontAlgn="b"/>
                      <a:r>
                        <a:rPr lang="en-US" sz="1400" b="0" i="0" u="none" strike="noStrike" dirty="0">
                          <a:solidFill>
                            <a:srgbClr val="000000"/>
                          </a:solidFill>
                          <a:effectLst/>
                          <a:latin typeface="Calibri"/>
                        </a:rPr>
                        <a:t>Front : floating</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25.4mm</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Rear : fixed 31.75</a:t>
                      </a:r>
                      <a:br>
                        <a:rPr lang="en-US" sz="1400" b="0" i="0" u="none" strike="noStrike" dirty="0">
                          <a:solidFill>
                            <a:srgbClr val="000000"/>
                          </a:solidFill>
                          <a:effectLst/>
                          <a:latin typeface="Calibri"/>
                        </a:rPr>
                      </a:br>
                      <a:r>
                        <a:rPr lang="en-US" sz="1400" b="0" i="0" u="none" strike="noStrike" dirty="0">
                          <a:solidFill>
                            <a:srgbClr val="000000"/>
                          </a:solidFill>
                          <a:effectLst/>
                          <a:latin typeface="Calibri"/>
                        </a:rPr>
                        <a:t>mm</a:t>
                      </a:r>
                    </a:p>
                  </a:txBody>
                  <a:tcPr marL="9525" marR="9525" marT="9525" marB="0" anchor="b"/>
                </a:tc>
              </a:tr>
              <a:tr h="301798">
                <a:tc>
                  <a:txBody>
                    <a:bodyPr/>
                    <a:lstStyle/>
                    <a:p>
                      <a:pPr algn="l" fontAlgn="b"/>
                      <a:r>
                        <a:rPr lang="en-IN" sz="1400" b="0" i="0" u="none" strike="noStrike">
                          <a:solidFill>
                            <a:srgbClr val="000000"/>
                          </a:solidFill>
                          <a:effectLst/>
                          <a:latin typeface="Calibri"/>
                        </a:rPr>
                        <a:t>Brake fluid</a:t>
                      </a:r>
                    </a:p>
                  </a:txBody>
                  <a:tcPr marL="9525" marR="9525" marT="9525" marB="0" anchor="b"/>
                </a:tc>
                <a:tc>
                  <a:txBody>
                    <a:bodyPr/>
                    <a:lstStyle/>
                    <a:p>
                      <a:pPr algn="l" fontAlgn="b"/>
                      <a:r>
                        <a:rPr lang="en-IN" sz="1400" b="0" i="0" u="none" strike="noStrike">
                          <a:solidFill>
                            <a:srgbClr val="000000"/>
                          </a:solidFill>
                          <a:effectLst/>
                          <a:latin typeface="Calibri"/>
                        </a:rPr>
                        <a:t>DOT 4</a:t>
                      </a:r>
                    </a:p>
                  </a:txBody>
                  <a:tcPr marL="9525" marR="9525" marT="9525" marB="0" anchor="b"/>
                </a:tc>
                <a:tc>
                  <a:txBody>
                    <a:bodyPr/>
                    <a:lstStyle/>
                    <a:p>
                      <a:pPr algn="l" fontAlgn="b"/>
                      <a:r>
                        <a:rPr lang="en-IN" sz="1400" b="0" i="0" u="none" strike="noStrike" dirty="0">
                          <a:solidFill>
                            <a:srgbClr val="000000"/>
                          </a:solidFill>
                          <a:effectLst/>
                          <a:latin typeface="Calibri"/>
                        </a:rPr>
                        <a:t>DOT 4</a:t>
                      </a:r>
                    </a:p>
                  </a:txBody>
                  <a:tcPr marL="9525" marR="9525" marT="9525" marB="0" anchor="b"/>
                </a:tc>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896" y="4221087"/>
            <a:ext cx="4320480" cy="2432442"/>
          </a:xfrm>
          <a:prstGeom prst="rect">
            <a:avLst/>
          </a:prstGeom>
        </p:spPr>
      </p:pic>
      <p:sp>
        <p:nvSpPr>
          <p:cNvPr id="6" name="TextBox 5"/>
          <p:cNvSpPr txBox="1"/>
          <p:nvPr/>
        </p:nvSpPr>
        <p:spPr>
          <a:xfrm>
            <a:off x="1456865" y="5252642"/>
            <a:ext cx="3024336" cy="369332"/>
          </a:xfrm>
          <a:prstGeom prst="rect">
            <a:avLst/>
          </a:prstGeom>
          <a:noFill/>
        </p:spPr>
        <p:txBody>
          <a:bodyPr wrap="square" rtlCol="0">
            <a:spAutoFit/>
          </a:bodyPr>
          <a:lstStyle/>
          <a:p>
            <a:r>
              <a:rPr lang="en-US" b="1" dirty="0" smtClean="0"/>
              <a:t>Braking circuit</a:t>
            </a:r>
            <a:endParaRPr lang="en-IN" b="1" dirty="0"/>
          </a:p>
        </p:txBody>
      </p:sp>
    </p:spTree>
    <p:extLst>
      <p:ext uri="{BB962C8B-B14F-4D97-AF65-F5344CB8AC3E}">
        <p14:creationId xmlns:p14="http://schemas.microsoft.com/office/powerpoint/2010/main" val="3837646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Brakes </a:t>
            </a:r>
            <a:r>
              <a:rPr lang="en-IN" b="1" dirty="0" smtClean="0"/>
              <a:t>System</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Inboard </a:t>
            </a:r>
            <a:r>
              <a:rPr lang="en-US" dirty="0"/>
              <a:t>brakes were employed in the rear instead of outboard to reduce </a:t>
            </a:r>
            <a:r>
              <a:rPr lang="en-US" dirty="0" smtClean="0"/>
              <a:t>the </a:t>
            </a:r>
            <a:r>
              <a:rPr lang="en-US" dirty="0" err="1" smtClean="0"/>
              <a:t>unsprung</a:t>
            </a:r>
            <a:r>
              <a:rPr lang="en-US" dirty="0" smtClean="0"/>
              <a:t> </a:t>
            </a:r>
            <a:r>
              <a:rPr lang="en-US" dirty="0"/>
              <a:t>mass and cost. </a:t>
            </a:r>
            <a:endParaRPr lang="en-US" dirty="0" smtClean="0"/>
          </a:p>
          <a:p>
            <a:r>
              <a:rPr lang="en-US" dirty="0" smtClean="0"/>
              <a:t>In </a:t>
            </a:r>
            <a:r>
              <a:rPr lang="en-US" dirty="0"/>
              <a:t>the front outboard brakes were used along with </a:t>
            </a:r>
            <a:r>
              <a:rPr lang="en-US" dirty="0" smtClean="0"/>
              <a:t>floating </a:t>
            </a:r>
            <a:r>
              <a:rPr lang="en-IN" dirty="0" err="1" smtClean="0"/>
              <a:t>calipers</a:t>
            </a:r>
            <a:r>
              <a:rPr lang="en-IN" dirty="0"/>
              <a:t>.</a:t>
            </a:r>
          </a:p>
          <a:p>
            <a:r>
              <a:rPr lang="en-US" dirty="0" smtClean="0"/>
              <a:t> </a:t>
            </a:r>
            <a:r>
              <a:rPr lang="en-US" dirty="0"/>
              <a:t>Instead of rigid metal brake lines, flexible stainless hoses are used to which </a:t>
            </a:r>
            <a:r>
              <a:rPr lang="en-US" dirty="0" smtClean="0"/>
              <a:t>provide </a:t>
            </a:r>
            <a:r>
              <a:rPr lang="en-IN" dirty="0" smtClean="0"/>
              <a:t>better </a:t>
            </a:r>
            <a:r>
              <a:rPr lang="en-IN" dirty="0" err="1"/>
              <a:t>maneuverability</a:t>
            </a:r>
            <a:r>
              <a:rPr lang="en-IN" dirty="0"/>
              <a:t>.</a:t>
            </a:r>
          </a:p>
          <a:p>
            <a:r>
              <a:rPr lang="en-US" dirty="0" smtClean="0"/>
              <a:t> </a:t>
            </a:r>
            <a:r>
              <a:rPr lang="en-US" dirty="0"/>
              <a:t>A tandem master cylinder is used instead of the balance bar mechanism to </a:t>
            </a:r>
            <a:r>
              <a:rPr lang="en-US" dirty="0" smtClean="0"/>
              <a:t>reduce </a:t>
            </a:r>
            <a:r>
              <a:rPr lang="en-IN" dirty="0" smtClean="0"/>
              <a:t>the </a:t>
            </a:r>
            <a:r>
              <a:rPr lang="en-IN" dirty="0"/>
              <a:t>complexity in manufacturing.</a:t>
            </a:r>
          </a:p>
          <a:p>
            <a:r>
              <a:rPr lang="en-US" dirty="0" smtClean="0"/>
              <a:t>Bleeding </a:t>
            </a:r>
            <a:r>
              <a:rPr lang="en-US" dirty="0"/>
              <a:t>was done several times to ensure perfect brake pedal feel and functioning.</a:t>
            </a:r>
          </a:p>
          <a:p>
            <a:r>
              <a:rPr lang="en-US" dirty="0" smtClean="0"/>
              <a:t>The </a:t>
            </a:r>
            <a:r>
              <a:rPr lang="en-US" dirty="0"/>
              <a:t>stopping distance has been reduced from 3.45m to 3.04m</a:t>
            </a:r>
            <a:endParaRPr lang="en-IN" dirty="0"/>
          </a:p>
        </p:txBody>
      </p:sp>
    </p:spTree>
    <p:extLst>
      <p:ext uri="{BB962C8B-B14F-4D97-AF65-F5344CB8AC3E}">
        <p14:creationId xmlns:p14="http://schemas.microsoft.com/office/powerpoint/2010/main" val="3307104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Brakes System - DFMEA/PFMEA</a:t>
            </a:r>
            <a:endParaRPr lang="en-IN" dirty="0"/>
          </a:p>
        </p:txBody>
      </p:sp>
      <p:sp>
        <p:nvSpPr>
          <p:cNvPr id="3" name="Content Placeholder 2"/>
          <p:cNvSpPr>
            <a:spLocks noGrp="1"/>
          </p:cNvSpPr>
          <p:nvPr>
            <p:ph idx="1"/>
          </p:nvPr>
        </p:nvSpPr>
        <p:spPr/>
        <p:txBody>
          <a:bodyPr>
            <a:normAutofit lnSpcReduction="10000"/>
          </a:bodyPr>
          <a:lstStyle/>
          <a:p>
            <a:r>
              <a:rPr lang="en-IN" dirty="0"/>
              <a:t>Deformation of pedals -</a:t>
            </a:r>
          </a:p>
          <a:p>
            <a:pPr marL="0" indent="0">
              <a:buNone/>
            </a:pPr>
            <a:r>
              <a:rPr lang="en-IN" dirty="0" smtClean="0"/>
              <a:t>   Caused </a:t>
            </a:r>
            <a:r>
              <a:rPr lang="en-IN" dirty="0"/>
              <a:t>by Brake failure</a:t>
            </a:r>
          </a:p>
          <a:p>
            <a:r>
              <a:rPr lang="en-US" dirty="0" smtClean="0"/>
              <a:t>Can </a:t>
            </a:r>
            <a:r>
              <a:rPr lang="en-US" dirty="0"/>
              <a:t>be controlled by Material with high F.O.S</a:t>
            </a:r>
          </a:p>
          <a:p>
            <a:r>
              <a:rPr lang="en-IN" dirty="0" smtClean="0"/>
              <a:t> </a:t>
            </a:r>
            <a:r>
              <a:rPr lang="en-IN" dirty="0"/>
              <a:t>S=9,O=2,D=1, </a:t>
            </a:r>
            <a:r>
              <a:rPr lang="en-IN" dirty="0" err="1"/>
              <a:t>rpn</a:t>
            </a:r>
            <a:r>
              <a:rPr lang="en-IN" dirty="0"/>
              <a:t>=18</a:t>
            </a:r>
          </a:p>
          <a:p>
            <a:r>
              <a:rPr lang="en-IN" dirty="0"/>
              <a:t>Wheels not locking-</a:t>
            </a:r>
          </a:p>
          <a:p>
            <a:r>
              <a:rPr lang="en-US" dirty="0" smtClean="0"/>
              <a:t> </a:t>
            </a:r>
            <a:r>
              <a:rPr lang="en-US" dirty="0"/>
              <a:t>Caused by improper bleeding or brake force</a:t>
            </a:r>
          </a:p>
          <a:p>
            <a:r>
              <a:rPr lang="en-US" dirty="0" smtClean="0"/>
              <a:t> </a:t>
            </a:r>
            <a:r>
              <a:rPr lang="en-US" dirty="0"/>
              <a:t>Can be controlled by proper bleeding</a:t>
            </a:r>
          </a:p>
          <a:p>
            <a:r>
              <a:rPr lang="en-IN" dirty="0" smtClean="0"/>
              <a:t> </a:t>
            </a:r>
            <a:r>
              <a:rPr lang="en-IN" dirty="0"/>
              <a:t>S=9,O=3,D=3, </a:t>
            </a:r>
            <a:r>
              <a:rPr lang="en-IN" dirty="0" err="1"/>
              <a:t>rpn</a:t>
            </a:r>
            <a:r>
              <a:rPr lang="en-IN" dirty="0"/>
              <a:t>=81</a:t>
            </a:r>
          </a:p>
        </p:txBody>
      </p:sp>
    </p:spTree>
    <p:extLst>
      <p:ext uri="{BB962C8B-B14F-4D97-AF65-F5344CB8AC3E}">
        <p14:creationId xmlns:p14="http://schemas.microsoft.com/office/powerpoint/2010/main" val="139691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Suspension</a:t>
            </a:r>
            <a:endParaRPr lang="en-IN" b="1" dirty="0"/>
          </a:p>
        </p:txBody>
      </p:sp>
      <p:sp>
        <p:nvSpPr>
          <p:cNvPr id="3" name="Content Placeholder 2"/>
          <p:cNvSpPr>
            <a:spLocks noGrp="1"/>
          </p:cNvSpPr>
          <p:nvPr>
            <p:ph idx="1"/>
          </p:nvPr>
        </p:nvSpPr>
        <p:spPr/>
        <p:txBody>
          <a:bodyPr/>
          <a:lstStyle/>
          <a:p>
            <a:endParaRPr lang="en-IN"/>
          </a:p>
        </p:txBody>
      </p:sp>
      <p:graphicFrame>
        <p:nvGraphicFramePr>
          <p:cNvPr id="9" name="object 4"/>
          <p:cNvGraphicFramePr>
            <a:graphicFrameLocks noGrp="1"/>
          </p:cNvGraphicFramePr>
          <p:nvPr>
            <p:extLst>
              <p:ext uri="{D42A27DB-BD31-4B8C-83A1-F6EECF244321}">
                <p14:modId xmlns:p14="http://schemas.microsoft.com/office/powerpoint/2010/main" val="3737359726"/>
              </p:ext>
            </p:extLst>
          </p:nvPr>
        </p:nvGraphicFramePr>
        <p:xfrm>
          <a:off x="5617269" y="3924166"/>
          <a:ext cx="2976244" cy="2513329"/>
        </p:xfrm>
        <a:graphic>
          <a:graphicData uri="http://schemas.openxmlformats.org/drawingml/2006/table">
            <a:tbl>
              <a:tblPr firstRow="1" bandRow="1">
                <a:tableStyleId>{2D5ABB26-0587-4C30-8999-92F81FD0307C}</a:tableStyleId>
              </a:tblPr>
              <a:tblGrid>
                <a:gridCol w="1421765">
                  <a:extLst>
                    <a:ext uri="{9D8B030D-6E8A-4147-A177-3AD203B41FA5}">
                      <a16:colId xmlns:a16="http://schemas.microsoft.com/office/drawing/2014/main" xmlns="" val="20000"/>
                    </a:ext>
                  </a:extLst>
                </a:gridCol>
                <a:gridCol w="790574">
                  <a:extLst>
                    <a:ext uri="{9D8B030D-6E8A-4147-A177-3AD203B41FA5}">
                      <a16:colId xmlns:a16="http://schemas.microsoft.com/office/drawing/2014/main" xmlns="" val="20001"/>
                    </a:ext>
                  </a:extLst>
                </a:gridCol>
                <a:gridCol w="763905">
                  <a:extLst>
                    <a:ext uri="{9D8B030D-6E8A-4147-A177-3AD203B41FA5}">
                      <a16:colId xmlns:a16="http://schemas.microsoft.com/office/drawing/2014/main" xmlns="" val="20002"/>
                    </a:ext>
                  </a:extLst>
                </a:gridCol>
              </a:tblGrid>
              <a:tr h="304800">
                <a:tc>
                  <a:txBody>
                    <a:bodyPr/>
                    <a:lstStyle/>
                    <a:p>
                      <a:pPr marL="95885">
                        <a:lnSpc>
                          <a:spcPct val="100000"/>
                        </a:lnSpc>
                        <a:spcBef>
                          <a:spcPts val="265"/>
                        </a:spcBef>
                      </a:pPr>
                      <a:r>
                        <a:rPr sz="1400" b="1" spc="10" dirty="0">
                          <a:latin typeface="Calibri"/>
                          <a:cs typeface="Calibri"/>
                        </a:rPr>
                        <a:t>Parameter</a:t>
                      </a:r>
                      <a:endParaRPr sz="1400">
                        <a:latin typeface="Calibri"/>
                        <a:cs typeface="Calibri"/>
                      </a:endParaRPr>
                    </a:p>
                  </a:txBody>
                  <a:tcPr marL="0" marR="0" marT="33655" marB="0">
                    <a:lnR w="12700">
                      <a:solidFill>
                        <a:srgbClr val="FFFFFF"/>
                      </a:solidFill>
                      <a:prstDash val="solid"/>
                    </a:lnR>
                    <a:solidFill>
                      <a:srgbClr val="EC7C30"/>
                    </a:solidFill>
                  </a:tcPr>
                </a:tc>
                <a:tc>
                  <a:txBody>
                    <a:bodyPr/>
                    <a:lstStyle/>
                    <a:p>
                      <a:pPr marL="97155">
                        <a:lnSpc>
                          <a:spcPct val="100000"/>
                        </a:lnSpc>
                        <a:spcBef>
                          <a:spcPts val="265"/>
                        </a:spcBef>
                      </a:pPr>
                      <a:r>
                        <a:rPr sz="1400" b="1" spc="10" dirty="0">
                          <a:latin typeface="Calibri"/>
                          <a:cs typeface="Calibri"/>
                        </a:rPr>
                        <a:t>Front</a:t>
                      </a:r>
                      <a:endParaRPr sz="1400">
                        <a:latin typeface="Calibri"/>
                        <a:cs typeface="Calibri"/>
                      </a:endParaRPr>
                    </a:p>
                  </a:txBody>
                  <a:tcPr marL="0" marR="0" marT="33655" marB="0">
                    <a:lnL w="12700">
                      <a:solidFill>
                        <a:srgbClr val="FFFFFF"/>
                      </a:solidFill>
                      <a:prstDash val="solid"/>
                    </a:lnL>
                    <a:lnR w="12700">
                      <a:solidFill>
                        <a:srgbClr val="FFFFFF"/>
                      </a:solidFill>
                      <a:prstDash val="solid"/>
                    </a:lnR>
                    <a:solidFill>
                      <a:srgbClr val="EC7C30"/>
                    </a:solidFill>
                  </a:tcPr>
                </a:tc>
                <a:tc>
                  <a:txBody>
                    <a:bodyPr/>
                    <a:lstStyle/>
                    <a:p>
                      <a:pPr marL="97790">
                        <a:lnSpc>
                          <a:spcPct val="100000"/>
                        </a:lnSpc>
                        <a:spcBef>
                          <a:spcPts val="265"/>
                        </a:spcBef>
                      </a:pPr>
                      <a:r>
                        <a:rPr sz="1400" b="1" spc="15" dirty="0">
                          <a:latin typeface="Calibri"/>
                          <a:cs typeface="Calibri"/>
                        </a:rPr>
                        <a:t>Rear</a:t>
                      </a:r>
                      <a:endParaRPr sz="1400">
                        <a:latin typeface="Calibri"/>
                        <a:cs typeface="Calibri"/>
                      </a:endParaRPr>
                    </a:p>
                  </a:txBody>
                  <a:tcPr marL="0" marR="0" marT="33655" marB="0">
                    <a:lnL w="12700">
                      <a:solidFill>
                        <a:srgbClr val="FFFFFF"/>
                      </a:solidFill>
                      <a:prstDash val="solid"/>
                    </a:lnL>
                    <a:solidFill>
                      <a:srgbClr val="EC7C30"/>
                    </a:solidFill>
                  </a:tcPr>
                </a:tc>
                <a:extLst>
                  <a:ext uri="{0D108BD9-81ED-4DB2-BD59-A6C34878D82A}">
                    <a16:rowId xmlns:a16="http://schemas.microsoft.com/office/drawing/2014/main" xmlns="" val="10000"/>
                  </a:ext>
                </a:extLst>
              </a:tr>
              <a:tr h="374523">
                <a:tc>
                  <a:txBody>
                    <a:bodyPr/>
                    <a:lstStyle/>
                    <a:p>
                      <a:pPr marL="95885">
                        <a:lnSpc>
                          <a:spcPct val="100000"/>
                        </a:lnSpc>
                        <a:spcBef>
                          <a:spcPts val="540"/>
                        </a:spcBef>
                      </a:pPr>
                      <a:r>
                        <a:rPr sz="1400" spc="-10" dirty="0">
                          <a:latin typeface="Calibri"/>
                          <a:cs typeface="Calibri"/>
                        </a:rPr>
                        <a:t>Roll</a:t>
                      </a:r>
                      <a:r>
                        <a:rPr sz="1400" spc="-60" dirty="0">
                          <a:latin typeface="Calibri"/>
                          <a:cs typeface="Calibri"/>
                        </a:rPr>
                        <a:t> </a:t>
                      </a:r>
                      <a:r>
                        <a:rPr sz="1400" dirty="0">
                          <a:latin typeface="Calibri"/>
                          <a:cs typeface="Calibri"/>
                        </a:rPr>
                        <a:t>Centre </a:t>
                      </a:r>
                      <a:r>
                        <a:rPr sz="1400" spc="5" dirty="0">
                          <a:latin typeface="Calibri"/>
                          <a:cs typeface="Calibri"/>
                        </a:rPr>
                        <a:t>(mm)</a:t>
                      </a:r>
                      <a:endParaRPr sz="1400">
                        <a:latin typeface="Calibri"/>
                        <a:cs typeface="Calibri"/>
                      </a:endParaRPr>
                    </a:p>
                  </a:txBody>
                  <a:tcPr marL="0" marR="0" marT="6858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tc>
                  <a:txBody>
                    <a:bodyPr/>
                    <a:lstStyle/>
                    <a:p>
                      <a:pPr marL="97155">
                        <a:lnSpc>
                          <a:spcPct val="100000"/>
                        </a:lnSpc>
                        <a:spcBef>
                          <a:spcPts val="540"/>
                        </a:spcBef>
                      </a:pPr>
                      <a:r>
                        <a:rPr sz="1400" spc="35" dirty="0">
                          <a:latin typeface="Calibri"/>
                          <a:cs typeface="Calibri"/>
                        </a:rPr>
                        <a:t>147.01</a:t>
                      </a:r>
                      <a:endParaRPr sz="1400">
                        <a:latin typeface="Calibri"/>
                        <a:cs typeface="Calibri"/>
                      </a:endParaRPr>
                    </a:p>
                  </a:txBody>
                  <a:tcPr marL="0" marR="0" marT="6858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tc>
                  <a:txBody>
                    <a:bodyPr/>
                    <a:lstStyle/>
                    <a:p>
                      <a:pPr marL="97790">
                        <a:lnSpc>
                          <a:spcPct val="100000"/>
                        </a:lnSpc>
                        <a:spcBef>
                          <a:spcPts val="540"/>
                        </a:spcBef>
                      </a:pPr>
                      <a:r>
                        <a:rPr sz="1400" spc="35" dirty="0">
                          <a:latin typeface="Calibri"/>
                          <a:cs typeface="Calibri"/>
                        </a:rPr>
                        <a:t>181.45</a:t>
                      </a:r>
                      <a:endParaRPr sz="1400">
                        <a:latin typeface="Calibri"/>
                        <a:cs typeface="Calibri"/>
                      </a:endParaRPr>
                    </a:p>
                  </a:txBody>
                  <a:tcPr marL="0" marR="0" marT="6858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extLst>
                  <a:ext uri="{0D108BD9-81ED-4DB2-BD59-A6C34878D82A}">
                    <a16:rowId xmlns:a16="http://schemas.microsoft.com/office/drawing/2014/main" xmlns="" val="10001"/>
                  </a:ext>
                </a:extLst>
              </a:tr>
              <a:tr h="310006">
                <a:tc>
                  <a:txBody>
                    <a:bodyPr/>
                    <a:lstStyle/>
                    <a:p>
                      <a:pPr marL="95885">
                        <a:lnSpc>
                          <a:spcPct val="100000"/>
                        </a:lnSpc>
                        <a:spcBef>
                          <a:spcPts val="290"/>
                        </a:spcBef>
                      </a:pPr>
                      <a:r>
                        <a:rPr sz="1400" spc="-5" dirty="0">
                          <a:latin typeface="Calibri"/>
                          <a:cs typeface="Calibri"/>
                        </a:rPr>
                        <a:t>Motion</a:t>
                      </a:r>
                      <a:r>
                        <a:rPr sz="1400" spc="-50" dirty="0">
                          <a:latin typeface="Calibri"/>
                          <a:cs typeface="Calibri"/>
                        </a:rPr>
                        <a:t> </a:t>
                      </a:r>
                      <a:r>
                        <a:rPr sz="1400" spc="-10" dirty="0">
                          <a:latin typeface="Calibri"/>
                          <a:cs typeface="Calibri"/>
                        </a:rPr>
                        <a:t>Ratio</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155">
                        <a:lnSpc>
                          <a:spcPct val="100000"/>
                        </a:lnSpc>
                        <a:spcBef>
                          <a:spcPts val="290"/>
                        </a:spcBef>
                      </a:pPr>
                      <a:r>
                        <a:rPr sz="1400" spc="20" dirty="0">
                          <a:latin typeface="Calibri"/>
                          <a:cs typeface="Calibri"/>
                        </a:rPr>
                        <a:t>0.5</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790">
                        <a:lnSpc>
                          <a:spcPct val="100000"/>
                        </a:lnSpc>
                        <a:spcBef>
                          <a:spcPts val="290"/>
                        </a:spcBef>
                      </a:pPr>
                      <a:r>
                        <a:rPr sz="1400" spc="20" dirty="0">
                          <a:latin typeface="Calibri"/>
                          <a:cs typeface="Calibri"/>
                        </a:rPr>
                        <a:t>0.8</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304800">
                <a:tc>
                  <a:txBody>
                    <a:bodyPr/>
                    <a:lstStyle/>
                    <a:p>
                      <a:pPr marL="95885">
                        <a:lnSpc>
                          <a:spcPct val="100000"/>
                        </a:lnSpc>
                        <a:spcBef>
                          <a:spcPts val="275"/>
                        </a:spcBef>
                      </a:pPr>
                      <a:r>
                        <a:rPr sz="1400" spc="-5" dirty="0">
                          <a:latin typeface="Calibri"/>
                          <a:cs typeface="Calibri"/>
                        </a:rPr>
                        <a:t>Camber</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155">
                        <a:lnSpc>
                          <a:spcPct val="100000"/>
                        </a:lnSpc>
                        <a:spcBef>
                          <a:spcPts val="275"/>
                        </a:spcBef>
                      </a:pPr>
                      <a:r>
                        <a:rPr sz="1400" dirty="0">
                          <a:latin typeface="Calibri"/>
                          <a:cs typeface="Calibri"/>
                        </a:rPr>
                        <a:t>0</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790">
                        <a:lnSpc>
                          <a:spcPct val="100000"/>
                        </a:lnSpc>
                        <a:spcBef>
                          <a:spcPts val="275"/>
                        </a:spcBef>
                      </a:pPr>
                      <a:r>
                        <a:rPr sz="1400" dirty="0">
                          <a:latin typeface="Calibri"/>
                          <a:cs typeface="Calibri"/>
                        </a:rPr>
                        <a:t>0</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304800">
                <a:tc>
                  <a:txBody>
                    <a:bodyPr/>
                    <a:lstStyle/>
                    <a:p>
                      <a:pPr marL="95885">
                        <a:lnSpc>
                          <a:spcPct val="100000"/>
                        </a:lnSpc>
                        <a:spcBef>
                          <a:spcPts val="275"/>
                        </a:spcBef>
                      </a:pPr>
                      <a:r>
                        <a:rPr sz="1400" dirty="0">
                          <a:latin typeface="Calibri"/>
                          <a:cs typeface="Calibri"/>
                        </a:rPr>
                        <a:t>Caster</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155">
                        <a:lnSpc>
                          <a:spcPct val="100000"/>
                        </a:lnSpc>
                        <a:spcBef>
                          <a:spcPts val="275"/>
                        </a:spcBef>
                      </a:pPr>
                      <a:r>
                        <a:rPr sz="1400" spc="30" dirty="0">
                          <a:latin typeface="Calibri"/>
                          <a:cs typeface="Calibri"/>
                        </a:rPr>
                        <a:t>2.45</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790">
                        <a:lnSpc>
                          <a:spcPct val="100000"/>
                        </a:lnSpc>
                        <a:spcBef>
                          <a:spcPts val="275"/>
                        </a:spcBef>
                      </a:pPr>
                      <a:r>
                        <a:rPr sz="1400" dirty="0">
                          <a:latin typeface="Calibri"/>
                          <a:cs typeface="Calibri"/>
                        </a:rPr>
                        <a:t>0</a:t>
                      </a:r>
                      <a:endParaRPr sz="1400">
                        <a:latin typeface="Calibri"/>
                        <a:cs typeface="Calibri"/>
                      </a:endParaRPr>
                    </a:p>
                  </a:txBody>
                  <a:tcPr marL="0" marR="0" marT="3492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r h="304800">
                <a:tc>
                  <a:txBody>
                    <a:bodyPr/>
                    <a:lstStyle/>
                    <a:p>
                      <a:pPr marL="95885">
                        <a:lnSpc>
                          <a:spcPct val="100000"/>
                        </a:lnSpc>
                        <a:spcBef>
                          <a:spcPts val="280"/>
                        </a:spcBef>
                      </a:pPr>
                      <a:r>
                        <a:rPr sz="1400" spc="15" dirty="0">
                          <a:latin typeface="Calibri"/>
                          <a:cs typeface="Calibri"/>
                        </a:rPr>
                        <a:t>KPI</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155">
                        <a:lnSpc>
                          <a:spcPct val="100000"/>
                        </a:lnSpc>
                        <a:spcBef>
                          <a:spcPts val="280"/>
                        </a:spcBef>
                      </a:pPr>
                      <a:r>
                        <a:rPr sz="1400" spc="30" dirty="0">
                          <a:latin typeface="Calibri"/>
                          <a:cs typeface="Calibri"/>
                        </a:rPr>
                        <a:t>8.13</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790">
                        <a:lnSpc>
                          <a:spcPct val="100000"/>
                        </a:lnSpc>
                        <a:spcBef>
                          <a:spcPts val="280"/>
                        </a:spcBef>
                      </a:pPr>
                      <a:r>
                        <a:rPr sz="1400" dirty="0">
                          <a:latin typeface="Calibri"/>
                          <a:cs typeface="Calibri"/>
                        </a:rPr>
                        <a:t>0</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5"/>
                  </a:ext>
                </a:extLst>
              </a:tr>
              <a:tr h="304800">
                <a:tc>
                  <a:txBody>
                    <a:bodyPr/>
                    <a:lstStyle/>
                    <a:p>
                      <a:pPr marL="95885">
                        <a:lnSpc>
                          <a:spcPct val="100000"/>
                        </a:lnSpc>
                        <a:spcBef>
                          <a:spcPts val="285"/>
                        </a:spcBef>
                      </a:pPr>
                      <a:r>
                        <a:rPr sz="1400" spc="15" dirty="0">
                          <a:latin typeface="Calibri"/>
                          <a:cs typeface="Calibri"/>
                        </a:rPr>
                        <a:t>S</a:t>
                      </a:r>
                      <a:r>
                        <a:rPr sz="1400" dirty="0">
                          <a:latin typeface="Calibri"/>
                          <a:cs typeface="Calibri"/>
                        </a:rPr>
                        <a:t>c</a:t>
                      </a:r>
                      <a:r>
                        <a:rPr sz="1400" spc="20" dirty="0">
                          <a:latin typeface="Calibri"/>
                          <a:cs typeface="Calibri"/>
                        </a:rPr>
                        <a:t>r</a:t>
                      </a:r>
                      <a:r>
                        <a:rPr sz="1400" spc="-5" dirty="0">
                          <a:latin typeface="Calibri"/>
                          <a:cs typeface="Calibri"/>
                        </a:rPr>
                        <a:t>u</a:t>
                      </a:r>
                      <a:r>
                        <a:rPr sz="1400" dirty="0">
                          <a:latin typeface="Calibri"/>
                          <a:cs typeface="Calibri"/>
                        </a:rPr>
                        <a:t>b</a:t>
                      </a:r>
                      <a:r>
                        <a:rPr sz="1400" spc="-90" dirty="0">
                          <a:latin typeface="Calibri"/>
                          <a:cs typeface="Calibri"/>
                        </a:rPr>
                        <a:t> </a:t>
                      </a:r>
                      <a:r>
                        <a:rPr sz="1400" spc="15" dirty="0">
                          <a:latin typeface="Calibri"/>
                          <a:cs typeface="Calibri"/>
                        </a:rPr>
                        <a:t>(</a:t>
                      </a:r>
                      <a:r>
                        <a:rPr sz="1400" spc="-20" dirty="0">
                          <a:latin typeface="Calibri"/>
                          <a:cs typeface="Calibri"/>
                        </a:rPr>
                        <a:t>mm</a:t>
                      </a:r>
                      <a:r>
                        <a:rPr sz="1400" dirty="0">
                          <a:latin typeface="Calibri"/>
                          <a:cs typeface="Calibri"/>
                        </a:rPr>
                        <a:t>)</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155">
                        <a:lnSpc>
                          <a:spcPct val="100000"/>
                        </a:lnSpc>
                        <a:spcBef>
                          <a:spcPts val="285"/>
                        </a:spcBef>
                      </a:pPr>
                      <a:r>
                        <a:rPr sz="1400" spc="30" dirty="0">
                          <a:latin typeface="Calibri"/>
                          <a:cs typeface="Calibri"/>
                        </a:rPr>
                        <a:t>28.27</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7790">
                        <a:lnSpc>
                          <a:spcPct val="100000"/>
                        </a:lnSpc>
                        <a:spcBef>
                          <a:spcPts val="285"/>
                        </a:spcBef>
                      </a:pPr>
                      <a:r>
                        <a:rPr sz="1400" dirty="0">
                          <a:latin typeface="Calibri"/>
                          <a:cs typeface="Calibri"/>
                        </a:rPr>
                        <a:t>0</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6"/>
                  </a:ext>
                </a:extLst>
              </a:tr>
              <a:tr h="304800">
                <a:tc>
                  <a:txBody>
                    <a:bodyPr/>
                    <a:lstStyle/>
                    <a:p>
                      <a:pPr marL="95885">
                        <a:lnSpc>
                          <a:spcPct val="100000"/>
                        </a:lnSpc>
                        <a:spcBef>
                          <a:spcPts val="290"/>
                        </a:spcBef>
                      </a:pPr>
                      <a:r>
                        <a:rPr sz="1400" spc="-50" dirty="0">
                          <a:latin typeface="Calibri"/>
                          <a:cs typeface="Calibri"/>
                        </a:rPr>
                        <a:t>Toe</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155">
                        <a:lnSpc>
                          <a:spcPct val="100000"/>
                        </a:lnSpc>
                        <a:spcBef>
                          <a:spcPts val="290"/>
                        </a:spcBef>
                      </a:pPr>
                      <a:r>
                        <a:rPr sz="1400" dirty="0">
                          <a:latin typeface="Calibri"/>
                          <a:cs typeface="Calibri"/>
                        </a:rPr>
                        <a:t>0</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7790">
                        <a:lnSpc>
                          <a:spcPct val="100000"/>
                        </a:lnSpc>
                        <a:spcBef>
                          <a:spcPts val="290"/>
                        </a:spcBef>
                      </a:pPr>
                      <a:r>
                        <a:rPr sz="1400" dirty="0">
                          <a:latin typeface="Calibri"/>
                          <a:cs typeface="Calibri"/>
                        </a:rPr>
                        <a:t>0</a:t>
                      </a: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7"/>
                  </a:ext>
                </a:extLst>
              </a:tr>
            </a:tbl>
          </a:graphicData>
        </a:graphic>
      </p:graphicFrame>
      <p:graphicFrame>
        <p:nvGraphicFramePr>
          <p:cNvPr id="10" name="object 5"/>
          <p:cNvGraphicFramePr>
            <a:graphicFrameLocks noGrp="1"/>
          </p:cNvGraphicFramePr>
          <p:nvPr>
            <p:extLst>
              <p:ext uri="{D42A27DB-BD31-4B8C-83A1-F6EECF244321}">
                <p14:modId xmlns:p14="http://schemas.microsoft.com/office/powerpoint/2010/main" val="1653414129"/>
              </p:ext>
            </p:extLst>
          </p:nvPr>
        </p:nvGraphicFramePr>
        <p:xfrm>
          <a:off x="118188" y="1442367"/>
          <a:ext cx="2772408" cy="822960"/>
        </p:xfrm>
        <a:graphic>
          <a:graphicData uri="http://schemas.openxmlformats.org/drawingml/2006/table">
            <a:tbl>
              <a:tblPr firstRow="1" bandRow="1">
                <a:tableStyleId>{2D5ABB26-0587-4C30-8999-92F81FD0307C}</a:tableStyleId>
              </a:tblPr>
              <a:tblGrid>
                <a:gridCol w="1014094">
                  <a:extLst>
                    <a:ext uri="{9D8B030D-6E8A-4147-A177-3AD203B41FA5}">
                      <a16:colId xmlns:a16="http://schemas.microsoft.com/office/drawing/2014/main" xmlns="" val="20000"/>
                    </a:ext>
                  </a:extLst>
                </a:gridCol>
                <a:gridCol w="1758314">
                  <a:extLst>
                    <a:ext uri="{9D8B030D-6E8A-4147-A177-3AD203B41FA5}">
                      <a16:colId xmlns:a16="http://schemas.microsoft.com/office/drawing/2014/main" xmlns="" val="20001"/>
                    </a:ext>
                  </a:extLst>
                </a:gridCol>
              </a:tblGrid>
              <a:tr h="304800">
                <a:tc>
                  <a:txBody>
                    <a:bodyPr/>
                    <a:lstStyle/>
                    <a:p>
                      <a:pPr marL="91440">
                        <a:lnSpc>
                          <a:spcPct val="100000"/>
                        </a:lnSpc>
                        <a:spcBef>
                          <a:spcPts val="240"/>
                        </a:spcBef>
                      </a:pPr>
                      <a:r>
                        <a:rPr sz="1400" spc="15" dirty="0">
                          <a:latin typeface="Calibri"/>
                          <a:cs typeface="Calibri"/>
                        </a:rPr>
                        <a:t>Front</a:t>
                      </a:r>
                      <a:endParaRPr sz="1400" dirty="0">
                        <a:latin typeface="Calibri"/>
                        <a:cs typeface="Calibri"/>
                      </a:endParaRPr>
                    </a:p>
                  </a:txBody>
                  <a:tcPr marL="0" marR="0" marT="3048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2075">
                        <a:lnSpc>
                          <a:spcPct val="100000"/>
                        </a:lnSpc>
                        <a:spcBef>
                          <a:spcPts val="240"/>
                        </a:spcBef>
                      </a:pPr>
                      <a:r>
                        <a:rPr sz="1400" spc="5" dirty="0">
                          <a:latin typeface="Calibri"/>
                          <a:cs typeface="Calibri"/>
                        </a:rPr>
                        <a:t>Double</a:t>
                      </a:r>
                      <a:r>
                        <a:rPr sz="1400" spc="-75" dirty="0">
                          <a:latin typeface="Calibri"/>
                          <a:cs typeface="Calibri"/>
                        </a:rPr>
                        <a:t> </a:t>
                      </a:r>
                      <a:r>
                        <a:rPr sz="1400" spc="10" dirty="0">
                          <a:latin typeface="Calibri"/>
                          <a:cs typeface="Calibri"/>
                        </a:rPr>
                        <a:t>Wishbone</a:t>
                      </a:r>
                      <a:endParaRPr sz="1400">
                        <a:latin typeface="Calibri"/>
                        <a:cs typeface="Calibri"/>
                      </a:endParaRPr>
                    </a:p>
                  </a:txBody>
                  <a:tcPr marL="0" marR="0" marT="30480"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518160">
                <a:tc>
                  <a:txBody>
                    <a:bodyPr/>
                    <a:lstStyle/>
                    <a:p>
                      <a:pPr marL="91440">
                        <a:lnSpc>
                          <a:spcPct val="100000"/>
                        </a:lnSpc>
                        <a:spcBef>
                          <a:spcPts val="1085"/>
                        </a:spcBef>
                      </a:pPr>
                      <a:r>
                        <a:rPr sz="1400" spc="-10" dirty="0">
                          <a:latin typeface="Calibri"/>
                          <a:cs typeface="Calibri"/>
                        </a:rPr>
                        <a:t>Rear</a:t>
                      </a:r>
                      <a:endParaRPr sz="1400">
                        <a:latin typeface="Calibri"/>
                        <a:cs typeface="Calibri"/>
                      </a:endParaRPr>
                    </a:p>
                  </a:txBody>
                  <a:tcPr marL="0" marR="0" marT="13779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2075" marR="79375">
                        <a:lnSpc>
                          <a:spcPct val="102899"/>
                        </a:lnSpc>
                        <a:spcBef>
                          <a:spcPts val="195"/>
                        </a:spcBef>
                      </a:pPr>
                      <a:r>
                        <a:rPr sz="1400" spc="15" dirty="0">
                          <a:latin typeface="Calibri"/>
                          <a:cs typeface="Calibri"/>
                        </a:rPr>
                        <a:t>H</a:t>
                      </a:r>
                      <a:r>
                        <a:rPr sz="1400" spc="130" dirty="0">
                          <a:latin typeface="Calibri"/>
                          <a:cs typeface="Calibri"/>
                        </a:rPr>
                        <a:t> </a:t>
                      </a:r>
                      <a:r>
                        <a:rPr sz="1400" spc="15" dirty="0">
                          <a:latin typeface="Calibri"/>
                          <a:cs typeface="Calibri"/>
                        </a:rPr>
                        <a:t>arm</a:t>
                      </a:r>
                      <a:r>
                        <a:rPr sz="1400" spc="105" dirty="0">
                          <a:latin typeface="Calibri"/>
                          <a:cs typeface="Calibri"/>
                        </a:rPr>
                        <a:t> </a:t>
                      </a:r>
                      <a:r>
                        <a:rPr sz="1400" dirty="0">
                          <a:latin typeface="Calibri"/>
                          <a:cs typeface="Calibri"/>
                        </a:rPr>
                        <a:t>with</a:t>
                      </a:r>
                      <a:r>
                        <a:rPr sz="1400" spc="125" dirty="0">
                          <a:latin typeface="Calibri"/>
                          <a:cs typeface="Calibri"/>
                        </a:rPr>
                        <a:t> </a:t>
                      </a:r>
                      <a:r>
                        <a:rPr sz="1400" spc="5" dirty="0">
                          <a:latin typeface="Calibri"/>
                          <a:cs typeface="Calibri"/>
                        </a:rPr>
                        <a:t>an</a:t>
                      </a:r>
                      <a:r>
                        <a:rPr sz="1400" spc="125" dirty="0">
                          <a:latin typeface="Calibri"/>
                          <a:cs typeface="Calibri"/>
                        </a:rPr>
                        <a:t> </a:t>
                      </a:r>
                      <a:r>
                        <a:rPr sz="1400" dirty="0">
                          <a:latin typeface="Calibri"/>
                          <a:cs typeface="Calibri"/>
                        </a:rPr>
                        <a:t>upper </a:t>
                      </a:r>
                      <a:r>
                        <a:rPr sz="1400" spc="-300" dirty="0">
                          <a:latin typeface="Calibri"/>
                          <a:cs typeface="Calibri"/>
                        </a:rPr>
                        <a:t> </a:t>
                      </a:r>
                      <a:r>
                        <a:rPr sz="1400" spc="-10" dirty="0">
                          <a:latin typeface="Calibri"/>
                          <a:cs typeface="Calibri"/>
                        </a:rPr>
                        <a:t>link</a:t>
                      </a:r>
                      <a:endParaRPr sz="1400" dirty="0">
                        <a:latin typeface="Calibri"/>
                        <a:cs typeface="Calibri"/>
                      </a:endParaRPr>
                    </a:p>
                  </a:txBody>
                  <a:tcPr marL="0" marR="0" marT="24765"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bl>
          </a:graphicData>
        </a:graphic>
      </p:graphicFrame>
      <p:pic>
        <p:nvPicPr>
          <p:cNvPr id="11" name="object 10"/>
          <p:cNvPicPr/>
          <p:nvPr/>
        </p:nvPicPr>
        <p:blipFill>
          <a:blip r:embed="rId2" cstate="print"/>
          <a:stretch>
            <a:fillRect/>
          </a:stretch>
        </p:blipFill>
        <p:spPr>
          <a:xfrm>
            <a:off x="142875" y="3933056"/>
            <a:ext cx="2781300" cy="1247775"/>
          </a:xfrm>
          <a:prstGeom prst="rect">
            <a:avLst/>
          </a:prstGeom>
        </p:spPr>
      </p:pic>
      <p:pic>
        <p:nvPicPr>
          <p:cNvPr id="12" name="object 11"/>
          <p:cNvPicPr/>
          <p:nvPr/>
        </p:nvPicPr>
        <p:blipFill>
          <a:blip r:embed="rId3" cstate="print"/>
          <a:stretch>
            <a:fillRect/>
          </a:stretch>
        </p:blipFill>
        <p:spPr>
          <a:xfrm>
            <a:off x="142875" y="2504131"/>
            <a:ext cx="2781300" cy="1190625"/>
          </a:xfrm>
          <a:prstGeom prst="rect">
            <a:avLst/>
          </a:prstGeom>
        </p:spPr>
      </p:pic>
      <p:pic>
        <p:nvPicPr>
          <p:cNvPr id="13" name="object 12"/>
          <p:cNvPicPr/>
          <p:nvPr/>
        </p:nvPicPr>
        <p:blipFill>
          <a:blip r:embed="rId4" cstate="print"/>
          <a:stretch>
            <a:fillRect/>
          </a:stretch>
        </p:blipFill>
        <p:spPr>
          <a:xfrm>
            <a:off x="3275856" y="3933056"/>
            <a:ext cx="1787649" cy="2656731"/>
          </a:xfrm>
          <a:prstGeom prst="rect">
            <a:avLst/>
          </a:prstGeom>
        </p:spPr>
      </p:pic>
      <p:pic>
        <p:nvPicPr>
          <p:cNvPr id="14" name="object 13"/>
          <p:cNvPicPr/>
          <p:nvPr/>
        </p:nvPicPr>
        <p:blipFill>
          <a:blip r:embed="rId5" cstate="print"/>
          <a:stretch>
            <a:fillRect/>
          </a:stretch>
        </p:blipFill>
        <p:spPr>
          <a:xfrm>
            <a:off x="158738" y="5445224"/>
            <a:ext cx="2765437" cy="1291210"/>
          </a:xfrm>
          <a:prstGeom prst="rect">
            <a:avLst/>
          </a:prstGeom>
        </p:spPr>
      </p:pic>
      <p:pic>
        <p:nvPicPr>
          <p:cNvPr id="15" name="object 14"/>
          <p:cNvPicPr/>
          <p:nvPr/>
        </p:nvPicPr>
        <p:blipFill>
          <a:blip r:embed="rId6" cstate="print"/>
          <a:stretch>
            <a:fillRect/>
          </a:stretch>
        </p:blipFill>
        <p:spPr>
          <a:xfrm>
            <a:off x="6740526" y="1383408"/>
            <a:ext cx="2226270" cy="2115343"/>
          </a:xfrm>
          <a:prstGeom prst="rect">
            <a:avLst/>
          </a:prstGeom>
        </p:spPr>
      </p:pic>
      <p:pic>
        <p:nvPicPr>
          <p:cNvPr id="16" name="object 15"/>
          <p:cNvPicPr/>
          <p:nvPr/>
        </p:nvPicPr>
        <p:blipFill>
          <a:blip r:embed="rId7" cstate="print"/>
          <a:stretch>
            <a:fillRect/>
          </a:stretch>
        </p:blipFill>
        <p:spPr>
          <a:xfrm>
            <a:off x="4860032" y="1444041"/>
            <a:ext cx="1514475" cy="2076450"/>
          </a:xfrm>
          <a:prstGeom prst="rect">
            <a:avLst/>
          </a:prstGeom>
        </p:spPr>
      </p:pic>
      <p:pic>
        <p:nvPicPr>
          <p:cNvPr id="17" name="object 16"/>
          <p:cNvPicPr/>
          <p:nvPr/>
        </p:nvPicPr>
        <p:blipFill>
          <a:blip r:embed="rId8" cstate="print"/>
          <a:stretch>
            <a:fillRect/>
          </a:stretch>
        </p:blipFill>
        <p:spPr>
          <a:xfrm>
            <a:off x="3114675" y="1412776"/>
            <a:ext cx="1514475" cy="2085975"/>
          </a:xfrm>
          <a:prstGeom prst="rect">
            <a:avLst/>
          </a:prstGeom>
        </p:spPr>
      </p:pic>
    </p:spTree>
    <p:extLst>
      <p:ext uri="{BB962C8B-B14F-4D97-AF65-F5344CB8AC3E}">
        <p14:creationId xmlns:p14="http://schemas.microsoft.com/office/powerpoint/2010/main" val="3224764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Suspension</a:t>
            </a:r>
            <a:endParaRPr lang="en-IN" b="1" dirty="0"/>
          </a:p>
        </p:txBody>
      </p:sp>
      <p:pic>
        <p:nvPicPr>
          <p:cNvPr id="21" name="object 7"/>
          <p:cNvPicPr/>
          <p:nvPr/>
        </p:nvPicPr>
        <p:blipFill>
          <a:blip r:embed="rId2" cstate="print"/>
          <a:stretch>
            <a:fillRect/>
          </a:stretch>
        </p:blipFill>
        <p:spPr>
          <a:xfrm>
            <a:off x="6201210" y="3367942"/>
            <a:ext cx="2644414" cy="1503544"/>
          </a:xfrm>
          <a:prstGeom prst="rect">
            <a:avLst/>
          </a:prstGeom>
        </p:spPr>
      </p:pic>
      <p:pic>
        <p:nvPicPr>
          <p:cNvPr id="22" name="object 8"/>
          <p:cNvPicPr/>
          <p:nvPr/>
        </p:nvPicPr>
        <p:blipFill>
          <a:blip r:embed="rId3" cstate="print"/>
          <a:stretch>
            <a:fillRect/>
          </a:stretch>
        </p:blipFill>
        <p:spPr>
          <a:xfrm>
            <a:off x="6157408" y="1484784"/>
            <a:ext cx="2644414" cy="1512168"/>
          </a:xfrm>
          <a:prstGeom prst="rect">
            <a:avLst/>
          </a:prstGeom>
        </p:spPr>
      </p:pic>
      <p:pic>
        <p:nvPicPr>
          <p:cNvPr id="23" name="object 9"/>
          <p:cNvPicPr>
            <a:picLocks noGrp="1"/>
          </p:cNvPicPr>
          <p:nvPr>
            <p:ph idx="1"/>
          </p:nvPr>
        </p:nvPicPr>
        <p:blipFill>
          <a:blip r:embed="rId4" cstate="print"/>
          <a:stretch>
            <a:fillRect/>
          </a:stretch>
        </p:blipFill>
        <p:spPr>
          <a:xfrm>
            <a:off x="539552" y="4941168"/>
            <a:ext cx="8229600" cy="1711440"/>
          </a:xfrm>
          <a:prstGeom prst="rect">
            <a:avLst/>
          </a:prstGeom>
        </p:spPr>
      </p:pic>
      <p:graphicFrame>
        <p:nvGraphicFramePr>
          <p:cNvPr id="24" name="object 3"/>
          <p:cNvGraphicFramePr>
            <a:graphicFrameLocks noGrp="1"/>
          </p:cNvGraphicFramePr>
          <p:nvPr>
            <p:extLst>
              <p:ext uri="{D42A27DB-BD31-4B8C-83A1-F6EECF244321}">
                <p14:modId xmlns:p14="http://schemas.microsoft.com/office/powerpoint/2010/main" val="3193474249"/>
              </p:ext>
            </p:extLst>
          </p:nvPr>
        </p:nvGraphicFramePr>
        <p:xfrm>
          <a:off x="179512" y="1481321"/>
          <a:ext cx="4032448" cy="3027797"/>
        </p:xfrm>
        <a:graphic>
          <a:graphicData uri="http://schemas.openxmlformats.org/drawingml/2006/table">
            <a:tbl>
              <a:tblPr firstRow="1" bandRow="1">
                <a:tableStyleId>{2D5ABB26-0587-4C30-8999-92F81FD0307C}</a:tableStyleId>
              </a:tblPr>
              <a:tblGrid>
                <a:gridCol w="2279286">
                  <a:extLst>
                    <a:ext uri="{9D8B030D-6E8A-4147-A177-3AD203B41FA5}">
                      <a16:colId xmlns:a16="http://schemas.microsoft.com/office/drawing/2014/main" xmlns="" val="20000"/>
                    </a:ext>
                  </a:extLst>
                </a:gridCol>
                <a:gridCol w="862979">
                  <a:extLst>
                    <a:ext uri="{9D8B030D-6E8A-4147-A177-3AD203B41FA5}">
                      <a16:colId xmlns:a16="http://schemas.microsoft.com/office/drawing/2014/main" xmlns="" val="20001"/>
                    </a:ext>
                  </a:extLst>
                </a:gridCol>
                <a:gridCol w="890183">
                  <a:extLst>
                    <a:ext uri="{9D8B030D-6E8A-4147-A177-3AD203B41FA5}">
                      <a16:colId xmlns:a16="http://schemas.microsoft.com/office/drawing/2014/main" xmlns="" val="20002"/>
                    </a:ext>
                  </a:extLst>
                </a:gridCol>
              </a:tblGrid>
              <a:tr h="315935">
                <a:tc>
                  <a:txBody>
                    <a:bodyPr/>
                    <a:lstStyle/>
                    <a:p>
                      <a:pPr marL="91440">
                        <a:lnSpc>
                          <a:spcPct val="100000"/>
                        </a:lnSpc>
                        <a:spcBef>
                          <a:spcPts val="280"/>
                        </a:spcBef>
                      </a:pPr>
                      <a:r>
                        <a:rPr sz="1400" b="1" spc="20" dirty="0">
                          <a:latin typeface="Calibri"/>
                          <a:cs typeface="Calibri"/>
                        </a:rPr>
                        <a:t>Design</a:t>
                      </a:r>
                      <a:endParaRPr sz="1400" dirty="0">
                        <a:latin typeface="Calibri"/>
                        <a:cs typeface="Calibri"/>
                      </a:endParaRPr>
                    </a:p>
                  </a:txBody>
                  <a:tcPr marL="0" marR="0" marT="35560" marB="0">
                    <a:lnR w="12700">
                      <a:solidFill>
                        <a:srgbClr val="FFFFFF"/>
                      </a:solidFill>
                      <a:prstDash val="solid"/>
                    </a:lnR>
                    <a:solidFill>
                      <a:srgbClr val="EC7C30"/>
                    </a:solidFill>
                  </a:tcPr>
                </a:tc>
                <a:tc>
                  <a:txBody>
                    <a:bodyPr/>
                    <a:lstStyle/>
                    <a:p>
                      <a:pPr marL="93345">
                        <a:lnSpc>
                          <a:spcPct val="100000"/>
                        </a:lnSpc>
                        <a:spcBef>
                          <a:spcPts val="280"/>
                        </a:spcBef>
                      </a:pPr>
                      <a:r>
                        <a:rPr sz="1400" b="1" spc="10" dirty="0">
                          <a:latin typeface="Calibri"/>
                          <a:cs typeface="Calibri"/>
                        </a:rPr>
                        <a:t>Front</a:t>
                      </a:r>
                      <a:endParaRPr sz="1400">
                        <a:latin typeface="Calibri"/>
                        <a:cs typeface="Calibri"/>
                      </a:endParaRPr>
                    </a:p>
                  </a:txBody>
                  <a:tcPr marL="0" marR="0" marT="35560" marB="0">
                    <a:lnL w="12700">
                      <a:solidFill>
                        <a:srgbClr val="FFFFFF"/>
                      </a:solidFill>
                      <a:prstDash val="solid"/>
                    </a:lnL>
                    <a:lnR w="12700">
                      <a:solidFill>
                        <a:srgbClr val="FFFFFF"/>
                      </a:solidFill>
                      <a:prstDash val="solid"/>
                    </a:lnR>
                    <a:solidFill>
                      <a:srgbClr val="EC7C30"/>
                    </a:solidFill>
                  </a:tcPr>
                </a:tc>
                <a:tc>
                  <a:txBody>
                    <a:bodyPr/>
                    <a:lstStyle/>
                    <a:p>
                      <a:pPr marL="93980">
                        <a:lnSpc>
                          <a:spcPct val="100000"/>
                        </a:lnSpc>
                        <a:spcBef>
                          <a:spcPts val="280"/>
                        </a:spcBef>
                      </a:pPr>
                      <a:r>
                        <a:rPr sz="1400" b="1" spc="15" dirty="0">
                          <a:latin typeface="Calibri"/>
                          <a:cs typeface="Calibri"/>
                        </a:rPr>
                        <a:t>Rear</a:t>
                      </a:r>
                      <a:endParaRPr sz="1400">
                        <a:latin typeface="Calibri"/>
                        <a:cs typeface="Calibri"/>
                      </a:endParaRPr>
                    </a:p>
                  </a:txBody>
                  <a:tcPr marL="0" marR="0" marT="35560" marB="0">
                    <a:lnL w="12700">
                      <a:solidFill>
                        <a:srgbClr val="FFFFFF"/>
                      </a:solidFill>
                      <a:prstDash val="solid"/>
                    </a:lnL>
                    <a:solidFill>
                      <a:srgbClr val="EC7C30"/>
                    </a:solidFill>
                  </a:tcPr>
                </a:tc>
                <a:extLst>
                  <a:ext uri="{0D108BD9-81ED-4DB2-BD59-A6C34878D82A}">
                    <a16:rowId xmlns:a16="http://schemas.microsoft.com/office/drawing/2014/main" xmlns="" val="10000"/>
                  </a:ext>
                </a:extLst>
              </a:tr>
              <a:tr h="500285">
                <a:tc>
                  <a:txBody>
                    <a:bodyPr/>
                    <a:lstStyle/>
                    <a:p>
                      <a:pPr marL="91440">
                        <a:lnSpc>
                          <a:spcPct val="100000"/>
                        </a:lnSpc>
                        <a:spcBef>
                          <a:spcPts val="280"/>
                        </a:spcBef>
                      </a:pPr>
                      <a:r>
                        <a:rPr sz="1400" spc="15" dirty="0">
                          <a:latin typeface="Calibri"/>
                          <a:cs typeface="Calibri"/>
                        </a:rPr>
                        <a:t>D</a:t>
                      </a:r>
                      <a:r>
                        <a:rPr sz="1400" spc="-40" dirty="0">
                          <a:latin typeface="Calibri"/>
                          <a:cs typeface="Calibri"/>
                        </a:rPr>
                        <a:t>e</a:t>
                      </a:r>
                      <a:r>
                        <a:rPr sz="1400" spc="35" dirty="0">
                          <a:latin typeface="Calibri"/>
                          <a:cs typeface="Calibri"/>
                        </a:rPr>
                        <a:t>s</a:t>
                      </a:r>
                      <a:r>
                        <a:rPr sz="1400" spc="-30" dirty="0">
                          <a:latin typeface="Calibri"/>
                          <a:cs typeface="Calibri"/>
                        </a:rPr>
                        <a:t>i</a:t>
                      </a:r>
                      <a:r>
                        <a:rPr sz="1400" spc="25" dirty="0">
                          <a:latin typeface="Calibri"/>
                          <a:cs typeface="Calibri"/>
                        </a:rPr>
                        <a:t>r</a:t>
                      </a:r>
                      <a:r>
                        <a:rPr sz="1400" spc="-40" dirty="0">
                          <a:latin typeface="Calibri"/>
                          <a:cs typeface="Calibri"/>
                        </a:rPr>
                        <a:t>e</a:t>
                      </a:r>
                      <a:r>
                        <a:rPr sz="1400" dirty="0">
                          <a:latin typeface="Calibri"/>
                          <a:cs typeface="Calibri"/>
                        </a:rPr>
                        <a:t>d</a:t>
                      </a:r>
                      <a:r>
                        <a:rPr sz="1400" spc="-85" dirty="0">
                          <a:latin typeface="Calibri"/>
                          <a:cs typeface="Calibri"/>
                        </a:rPr>
                        <a:t> </a:t>
                      </a:r>
                      <a:r>
                        <a:rPr sz="1400" spc="-20" dirty="0">
                          <a:latin typeface="Calibri"/>
                          <a:cs typeface="Calibri"/>
                        </a:rPr>
                        <a:t>N</a:t>
                      </a:r>
                      <a:r>
                        <a:rPr sz="1400" spc="-10" dirty="0">
                          <a:latin typeface="Calibri"/>
                          <a:cs typeface="Calibri"/>
                        </a:rPr>
                        <a:t>a</a:t>
                      </a:r>
                      <a:r>
                        <a:rPr sz="1400" spc="-30" dirty="0">
                          <a:latin typeface="Calibri"/>
                          <a:cs typeface="Calibri"/>
                        </a:rPr>
                        <a:t>t</a:t>
                      </a:r>
                      <a:r>
                        <a:rPr sz="1400" spc="-5" dirty="0">
                          <a:latin typeface="Calibri"/>
                          <a:cs typeface="Calibri"/>
                        </a:rPr>
                        <a:t>u</a:t>
                      </a:r>
                      <a:r>
                        <a:rPr sz="1400" spc="30" dirty="0">
                          <a:latin typeface="Calibri"/>
                          <a:cs typeface="Calibri"/>
                        </a:rPr>
                        <a:t>r</a:t>
                      </a:r>
                      <a:r>
                        <a:rPr sz="1400" spc="-10" dirty="0">
                          <a:latin typeface="Calibri"/>
                          <a:cs typeface="Calibri"/>
                        </a:rPr>
                        <a:t>a</a:t>
                      </a:r>
                      <a:r>
                        <a:rPr sz="1400" dirty="0">
                          <a:latin typeface="Calibri"/>
                          <a:cs typeface="Calibri"/>
                        </a:rPr>
                        <a:t>l</a:t>
                      </a:r>
                      <a:r>
                        <a:rPr sz="1400" spc="-55" dirty="0">
                          <a:latin typeface="Calibri"/>
                          <a:cs typeface="Calibri"/>
                        </a:rPr>
                        <a:t> </a:t>
                      </a:r>
                      <a:r>
                        <a:rPr sz="1400" spc="15" dirty="0">
                          <a:latin typeface="Calibri"/>
                          <a:cs typeface="Calibri"/>
                        </a:rPr>
                        <a:t>F</a:t>
                      </a:r>
                      <a:r>
                        <a:rPr sz="1400" spc="25" dirty="0">
                          <a:latin typeface="Calibri"/>
                          <a:cs typeface="Calibri"/>
                        </a:rPr>
                        <a:t>r</a:t>
                      </a:r>
                      <a:r>
                        <a:rPr sz="1400" spc="-40" dirty="0">
                          <a:latin typeface="Calibri"/>
                          <a:cs typeface="Calibri"/>
                        </a:rPr>
                        <a:t>e</a:t>
                      </a:r>
                      <a:r>
                        <a:rPr sz="1400" spc="-5" dirty="0">
                          <a:latin typeface="Calibri"/>
                          <a:cs typeface="Calibri"/>
                        </a:rPr>
                        <a:t>qu</a:t>
                      </a:r>
                      <a:r>
                        <a:rPr sz="1400" spc="-35" dirty="0">
                          <a:latin typeface="Calibri"/>
                          <a:cs typeface="Calibri"/>
                        </a:rPr>
                        <a:t>e</a:t>
                      </a:r>
                      <a:r>
                        <a:rPr sz="1400" spc="-5" dirty="0">
                          <a:latin typeface="Calibri"/>
                          <a:cs typeface="Calibri"/>
                        </a:rPr>
                        <a:t>nc</a:t>
                      </a:r>
                      <a:r>
                        <a:rPr sz="1400" dirty="0">
                          <a:latin typeface="Calibri"/>
                          <a:cs typeface="Calibri"/>
                        </a:rPr>
                        <a:t>y</a:t>
                      </a:r>
                      <a:r>
                        <a:rPr sz="1400" spc="-60" dirty="0">
                          <a:latin typeface="Calibri"/>
                          <a:cs typeface="Calibri"/>
                        </a:rPr>
                        <a:t> </a:t>
                      </a:r>
                      <a:r>
                        <a:rPr sz="1400" spc="15" dirty="0">
                          <a:latin typeface="Calibri"/>
                          <a:cs typeface="Calibri"/>
                        </a:rPr>
                        <a:t>(</a:t>
                      </a:r>
                      <a:r>
                        <a:rPr sz="1400" spc="5" dirty="0">
                          <a:latin typeface="Calibri"/>
                          <a:cs typeface="Calibri"/>
                        </a:rPr>
                        <a:t>H</a:t>
                      </a:r>
                      <a:r>
                        <a:rPr sz="1400" spc="30" dirty="0">
                          <a:latin typeface="Calibri"/>
                          <a:cs typeface="Calibri"/>
                        </a:rPr>
                        <a:t>z</a:t>
                      </a:r>
                      <a:r>
                        <a:rPr sz="1400" dirty="0">
                          <a:latin typeface="Calibri"/>
                          <a:cs typeface="Calibri"/>
                        </a:rPr>
                        <a:t>)</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tc>
                  <a:txBody>
                    <a:bodyPr/>
                    <a:lstStyle/>
                    <a:p>
                      <a:pPr marL="93345">
                        <a:lnSpc>
                          <a:spcPct val="100000"/>
                        </a:lnSpc>
                        <a:spcBef>
                          <a:spcPts val="280"/>
                        </a:spcBef>
                      </a:pPr>
                      <a:r>
                        <a:rPr sz="1400" spc="30" dirty="0">
                          <a:latin typeface="Calibri"/>
                          <a:cs typeface="Calibri"/>
                        </a:rPr>
                        <a:t>1.75</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tc>
                  <a:txBody>
                    <a:bodyPr/>
                    <a:lstStyle/>
                    <a:p>
                      <a:pPr marL="93980">
                        <a:lnSpc>
                          <a:spcPct val="100000"/>
                        </a:lnSpc>
                        <a:spcBef>
                          <a:spcPts val="280"/>
                        </a:spcBef>
                      </a:pPr>
                      <a:r>
                        <a:rPr sz="1400" spc="20" dirty="0">
                          <a:latin typeface="Calibri"/>
                          <a:cs typeface="Calibri"/>
                        </a:rPr>
                        <a:t>2.4</a:t>
                      </a:r>
                      <a:endParaRPr sz="1400">
                        <a:latin typeface="Calibri"/>
                        <a:cs typeface="Calibri"/>
                      </a:endParaRPr>
                    </a:p>
                  </a:txBody>
                  <a:tcPr marL="0" marR="0" marT="35560" marB="0">
                    <a:lnL w="12700">
                      <a:solidFill>
                        <a:srgbClr val="EC7C30"/>
                      </a:solidFill>
                      <a:prstDash val="solid"/>
                    </a:lnL>
                    <a:lnR w="12700">
                      <a:solidFill>
                        <a:srgbClr val="EC7C30"/>
                      </a:solidFill>
                      <a:prstDash val="solid"/>
                    </a:lnR>
                    <a:lnB w="12700">
                      <a:solidFill>
                        <a:srgbClr val="EC7C30"/>
                      </a:solidFill>
                      <a:prstDash val="solid"/>
                    </a:lnB>
                    <a:solidFill>
                      <a:srgbClr val="FBE4D5"/>
                    </a:solidFill>
                  </a:tcPr>
                </a:tc>
                <a:extLst>
                  <a:ext uri="{0D108BD9-81ED-4DB2-BD59-A6C34878D82A}">
                    <a16:rowId xmlns:a16="http://schemas.microsoft.com/office/drawing/2014/main" xmlns="" val="10001"/>
                  </a:ext>
                </a:extLst>
              </a:tr>
              <a:tr h="315935">
                <a:tc>
                  <a:txBody>
                    <a:bodyPr/>
                    <a:lstStyle/>
                    <a:p>
                      <a:pPr marL="91440">
                        <a:lnSpc>
                          <a:spcPct val="100000"/>
                        </a:lnSpc>
                        <a:spcBef>
                          <a:spcPts val="285"/>
                        </a:spcBef>
                      </a:pPr>
                      <a:r>
                        <a:rPr sz="1400" spc="-5" dirty="0">
                          <a:latin typeface="Calibri"/>
                          <a:cs typeface="Calibri"/>
                        </a:rPr>
                        <a:t>Ride Rate</a:t>
                      </a:r>
                      <a:r>
                        <a:rPr sz="1400" spc="-70" dirty="0">
                          <a:latin typeface="Calibri"/>
                          <a:cs typeface="Calibri"/>
                        </a:rPr>
                        <a:t> </a:t>
                      </a:r>
                      <a:r>
                        <a:rPr sz="1400" dirty="0">
                          <a:latin typeface="Calibri"/>
                          <a:cs typeface="Calibri"/>
                        </a:rPr>
                        <a:t>(N/mm)</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345">
                        <a:lnSpc>
                          <a:spcPct val="100000"/>
                        </a:lnSpc>
                        <a:spcBef>
                          <a:spcPts val="285"/>
                        </a:spcBef>
                      </a:pPr>
                      <a:r>
                        <a:rPr sz="1400" spc="30" dirty="0">
                          <a:latin typeface="Calibri"/>
                          <a:cs typeface="Calibri"/>
                        </a:rPr>
                        <a:t>11.77</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980">
                        <a:lnSpc>
                          <a:spcPct val="100000"/>
                        </a:lnSpc>
                        <a:spcBef>
                          <a:spcPts val="285"/>
                        </a:spcBef>
                      </a:pPr>
                      <a:r>
                        <a:rPr sz="1400" spc="30" dirty="0">
                          <a:latin typeface="Calibri"/>
                          <a:cs typeface="Calibri"/>
                        </a:rPr>
                        <a:t>17.89</a:t>
                      </a:r>
                      <a:endParaRPr sz="1400">
                        <a:latin typeface="Calibri"/>
                        <a:cs typeface="Calibri"/>
                      </a:endParaRPr>
                    </a:p>
                  </a:txBody>
                  <a:tcPr marL="0" marR="0" marT="361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315935">
                <a:tc>
                  <a:txBody>
                    <a:bodyPr/>
                    <a:lstStyle/>
                    <a:p>
                      <a:pPr marL="91440">
                        <a:lnSpc>
                          <a:spcPct val="100000"/>
                        </a:lnSpc>
                        <a:spcBef>
                          <a:spcPts val="290"/>
                        </a:spcBef>
                      </a:pPr>
                      <a:r>
                        <a:rPr sz="1400" spc="15" dirty="0">
                          <a:latin typeface="Calibri"/>
                          <a:cs typeface="Calibri"/>
                        </a:rPr>
                        <a:t>S</a:t>
                      </a:r>
                      <a:r>
                        <a:rPr sz="1400" spc="-5" dirty="0">
                          <a:latin typeface="Calibri"/>
                          <a:cs typeface="Calibri"/>
                        </a:rPr>
                        <a:t>p</a:t>
                      </a:r>
                      <a:r>
                        <a:rPr sz="1400" spc="25" dirty="0">
                          <a:latin typeface="Calibri"/>
                          <a:cs typeface="Calibri"/>
                        </a:rPr>
                        <a:t>r</a:t>
                      </a:r>
                      <a:r>
                        <a:rPr sz="1400" spc="-30" dirty="0">
                          <a:latin typeface="Calibri"/>
                          <a:cs typeface="Calibri"/>
                        </a:rPr>
                        <a:t>i</a:t>
                      </a:r>
                      <a:r>
                        <a:rPr sz="1400" spc="-5" dirty="0">
                          <a:latin typeface="Calibri"/>
                          <a:cs typeface="Calibri"/>
                        </a:rPr>
                        <a:t>n</a:t>
                      </a:r>
                      <a:r>
                        <a:rPr sz="1400" dirty="0">
                          <a:latin typeface="Calibri"/>
                          <a:cs typeface="Calibri"/>
                        </a:rPr>
                        <a:t>g</a:t>
                      </a:r>
                      <a:r>
                        <a:rPr sz="1400" spc="-85" dirty="0">
                          <a:latin typeface="Calibri"/>
                          <a:cs typeface="Calibri"/>
                        </a:rPr>
                        <a:t> </a:t>
                      </a:r>
                      <a:r>
                        <a:rPr sz="1400" spc="-25" dirty="0">
                          <a:latin typeface="Calibri"/>
                          <a:cs typeface="Calibri"/>
                        </a:rPr>
                        <a:t>R</a:t>
                      </a:r>
                      <a:r>
                        <a:rPr sz="1400" spc="-10" dirty="0">
                          <a:latin typeface="Calibri"/>
                          <a:cs typeface="Calibri"/>
                        </a:rPr>
                        <a:t>a</a:t>
                      </a:r>
                      <a:r>
                        <a:rPr sz="1400" spc="-30" dirty="0">
                          <a:latin typeface="Calibri"/>
                          <a:cs typeface="Calibri"/>
                        </a:rPr>
                        <a:t>t</a:t>
                      </a:r>
                      <a:r>
                        <a:rPr sz="1400" dirty="0">
                          <a:latin typeface="Calibri"/>
                          <a:cs typeface="Calibri"/>
                        </a:rPr>
                        <a:t>e</a:t>
                      </a:r>
                      <a:r>
                        <a:rPr sz="1400" spc="20" dirty="0">
                          <a:latin typeface="Calibri"/>
                          <a:cs typeface="Calibri"/>
                        </a:rPr>
                        <a:t> </a:t>
                      </a:r>
                      <a:r>
                        <a:rPr sz="1400" spc="15" dirty="0">
                          <a:latin typeface="Calibri"/>
                          <a:cs typeface="Calibri"/>
                        </a:rPr>
                        <a:t>(</a:t>
                      </a:r>
                      <a:r>
                        <a:rPr sz="1400" spc="-25" dirty="0">
                          <a:latin typeface="Calibri"/>
                          <a:cs typeface="Calibri"/>
                        </a:rPr>
                        <a:t>N</a:t>
                      </a:r>
                      <a:r>
                        <a:rPr sz="1400" spc="-30" dirty="0">
                          <a:latin typeface="Calibri"/>
                          <a:cs typeface="Calibri"/>
                        </a:rPr>
                        <a:t>/</a:t>
                      </a:r>
                      <a:r>
                        <a:rPr sz="1400" spc="-15" dirty="0">
                          <a:latin typeface="Calibri"/>
                          <a:cs typeface="Calibri"/>
                        </a:rPr>
                        <a:t>mm</a:t>
                      </a:r>
                      <a:r>
                        <a:rPr sz="1400" dirty="0">
                          <a:latin typeface="Calibri"/>
                          <a:cs typeface="Calibri"/>
                        </a:rPr>
                        <a:t>)</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345">
                        <a:lnSpc>
                          <a:spcPct val="100000"/>
                        </a:lnSpc>
                        <a:spcBef>
                          <a:spcPts val="290"/>
                        </a:spcBef>
                      </a:pPr>
                      <a:r>
                        <a:rPr sz="1400" spc="30" dirty="0">
                          <a:latin typeface="Calibri"/>
                          <a:cs typeface="Calibri"/>
                        </a:rPr>
                        <a:t>13.35</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980">
                        <a:lnSpc>
                          <a:spcPct val="100000"/>
                        </a:lnSpc>
                        <a:spcBef>
                          <a:spcPts val="290"/>
                        </a:spcBef>
                      </a:pPr>
                      <a:r>
                        <a:rPr sz="1400" spc="30" dirty="0">
                          <a:latin typeface="Calibri"/>
                          <a:cs typeface="Calibri"/>
                        </a:rPr>
                        <a:t>25.01</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315935">
                <a:tc>
                  <a:txBody>
                    <a:bodyPr/>
                    <a:lstStyle/>
                    <a:p>
                      <a:pPr marL="91440">
                        <a:lnSpc>
                          <a:spcPct val="100000"/>
                        </a:lnSpc>
                        <a:spcBef>
                          <a:spcPts val="290"/>
                        </a:spcBef>
                      </a:pPr>
                      <a:r>
                        <a:rPr sz="1400" spc="15" dirty="0">
                          <a:latin typeface="Calibri"/>
                          <a:cs typeface="Calibri"/>
                        </a:rPr>
                        <a:t>S</a:t>
                      </a:r>
                      <a:r>
                        <a:rPr sz="1400" spc="-5" dirty="0">
                          <a:latin typeface="Calibri"/>
                          <a:cs typeface="Calibri"/>
                        </a:rPr>
                        <a:t>p</a:t>
                      </a:r>
                      <a:r>
                        <a:rPr sz="1400" spc="25" dirty="0">
                          <a:latin typeface="Calibri"/>
                          <a:cs typeface="Calibri"/>
                        </a:rPr>
                        <a:t>r</a:t>
                      </a:r>
                      <a:r>
                        <a:rPr sz="1400" spc="-30" dirty="0">
                          <a:latin typeface="Calibri"/>
                          <a:cs typeface="Calibri"/>
                        </a:rPr>
                        <a:t>i</a:t>
                      </a:r>
                      <a:r>
                        <a:rPr sz="1400" spc="-5" dirty="0">
                          <a:latin typeface="Calibri"/>
                          <a:cs typeface="Calibri"/>
                        </a:rPr>
                        <a:t>n</a:t>
                      </a:r>
                      <a:r>
                        <a:rPr sz="1400" dirty="0">
                          <a:latin typeface="Calibri"/>
                          <a:cs typeface="Calibri"/>
                        </a:rPr>
                        <a:t>g</a:t>
                      </a:r>
                      <a:r>
                        <a:rPr sz="1400" spc="-85" dirty="0">
                          <a:latin typeface="Calibri"/>
                          <a:cs typeface="Calibri"/>
                        </a:rPr>
                        <a:t> </a:t>
                      </a:r>
                      <a:r>
                        <a:rPr sz="1400" spc="20" dirty="0">
                          <a:latin typeface="Calibri"/>
                          <a:cs typeface="Calibri"/>
                        </a:rPr>
                        <a:t>D</a:t>
                      </a:r>
                      <a:r>
                        <a:rPr sz="1400" spc="-30" dirty="0">
                          <a:latin typeface="Calibri"/>
                          <a:cs typeface="Calibri"/>
                        </a:rPr>
                        <a:t>i</a:t>
                      </a:r>
                      <a:r>
                        <a:rPr sz="1400" spc="-15" dirty="0">
                          <a:latin typeface="Calibri"/>
                          <a:cs typeface="Calibri"/>
                        </a:rPr>
                        <a:t>m</a:t>
                      </a:r>
                      <a:r>
                        <a:rPr sz="1400" spc="-40" dirty="0">
                          <a:latin typeface="Calibri"/>
                          <a:cs typeface="Calibri"/>
                        </a:rPr>
                        <a:t>e</a:t>
                      </a:r>
                      <a:r>
                        <a:rPr sz="1400" spc="-5" dirty="0">
                          <a:latin typeface="Calibri"/>
                          <a:cs typeface="Calibri"/>
                        </a:rPr>
                        <a:t>n</a:t>
                      </a:r>
                      <a:r>
                        <a:rPr sz="1400" spc="40" dirty="0">
                          <a:latin typeface="Calibri"/>
                          <a:cs typeface="Calibri"/>
                        </a:rPr>
                        <a:t>s</a:t>
                      </a:r>
                      <a:r>
                        <a:rPr sz="1400" spc="-30" dirty="0">
                          <a:latin typeface="Calibri"/>
                          <a:cs typeface="Calibri"/>
                        </a:rPr>
                        <a:t>i</a:t>
                      </a:r>
                      <a:r>
                        <a:rPr sz="1400" spc="-5" dirty="0">
                          <a:latin typeface="Calibri"/>
                          <a:cs typeface="Calibri"/>
                        </a:rPr>
                        <a:t>o</a:t>
                      </a:r>
                      <a:r>
                        <a:rPr sz="1400" dirty="0">
                          <a:latin typeface="Calibri"/>
                          <a:cs typeface="Calibri"/>
                        </a:rPr>
                        <a:t>n</a:t>
                      </a:r>
                      <a:r>
                        <a:rPr sz="1400" spc="-95" dirty="0">
                          <a:latin typeface="Calibri"/>
                          <a:cs typeface="Calibri"/>
                        </a:rPr>
                        <a:t> </a:t>
                      </a:r>
                      <a:r>
                        <a:rPr sz="1400" spc="15" dirty="0">
                          <a:latin typeface="Calibri"/>
                          <a:cs typeface="Calibri"/>
                        </a:rPr>
                        <a:t>(</a:t>
                      </a:r>
                      <a:r>
                        <a:rPr sz="1400" spc="-15" dirty="0">
                          <a:latin typeface="Calibri"/>
                          <a:cs typeface="Calibri"/>
                        </a:rPr>
                        <a:t>mm</a:t>
                      </a:r>
                      <a:r>
                        <a:rPr sz="1400" dirty="0">
                          <a:latin typeface="Calibri"/>
                          <a:cs typeface="Calibri"/>
                        </a:rPr>
                        <a:t>)</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345">
                        <a:lnSpc>
                          <a:spcPct val="100000"/>
                        </a:lnSpc>
                        <a:spcBef>
                          <a:spcPts val="290"/>
                        </a:spcBef>
                      </a:pPr>
                      <a:r>
                        <a:rPr sz="1400" spc="20" dirty="0">
                          <a:latin typeface="Calibri"/>
                          <a:cs typeface="Calibri"/>
                        </a:rPr>
                        <a:t>D</a:t>
                      </a:r>
                      <a:r>
                        <a:rPr sz="1400" dirty="0">
                          <a:latin typeface="Calibri"/>
                          <a:cs typeface="Calibri"/>
                        </a:rPr>
                        <a:t>:</a:t>
                      </a:r>
                      <a:r>
                        <a:rPr sz="1400" spc="-25" dirty="0">
                          <a:latin typeface="Calibri"/>
                          <a:cs typeface="Calibri"/>
                        </a:rPr>
                        <a:t> </a:t>
                      </a:r>
                      <a:r>
                        <a:rPr sz="1400" spc="25" dirty="0">
                          <a:latin typeface="Calibri"/>
                          <a:cs typeface="Calibri"/>
                        </a:rPr>
                        <a:t>5</a:t>
                      </a:r>
                      <a:r>
                        <a:rPr sz="1400" dirty="0">
                          <a:latin typeface="Calibri"/>
                          <a:cs typeface="Calibri"/>
                        </a:rPr>
                        <a:t>6</a:t>
                      </a:r>
                      <a:r>
                        <a:rPr sz="1400" spc="-70" dirty="0">
                          <a:latin typeface="Calibri"/>
                          <a:cs typeface="Calibri"/>
                        </a:rPr>
                        <a:t> </a:t>
                      </a:r>
                      <a:r>
                        <a:rPr sz="1400" dirty="0">
                          <a:latin typeface="Calibri"/>
                          <a:cs typeface="Calibri"/>
                        </a:rPr>
                        <a:t>d:</a:t>
                      </a:r>
                      <a:r>
                        <a:rPr sz="1400" spc="-25" dirty="0">
                          <a:latin typeface="Calibri"/>
                          <a:cs typeface="Calibri"/>
                        </a:rPr>
                        <a:t> </a:t>
                      </a:r>
                      <a:r>
                        <a:rPr sz="1400" dirty="0">
                          <a:latin typeface="Calibri"/>
                          <a:cs typeface="Calibri"/>
                        </a:rPr>
                        <a:t>8</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980">
                        <a:lnSpc>
                          <a:spcPct val="100000"/>
                        </a:lnSpc>
                        <a:spcBef>
                          <a:spcPts val="290"/>
                        </a:spcBef>
                      </a:pPr>
                      <a:r>
                        <a:rPr sz="1400" spc="20" dirty="0">
                          <a:latin typeface="Calibri"/>
                          <a:cs typeface="Calibri"/>
                        </a:rPr>
                        <a:t>D</a:t>
                      </a:r>
                      <a:r>
                        <a:rPr sz="1400" dirty="0">
                          <a:latin typeface="Calibri"/>
                          <a:cs typeface="Calibri"/>
                        </a:rPr>
                        <a:t>:</a:t>
                      </a:r>
                      <a:r>
                        <a:rPr sz="1400" spc="-25" dirty="0">
                          <a:latin typeface="Calibri"/>
                          <a:cs typeface="Calibri"/>
                        </a:rPr>
                        <a:t> </a:t>
                      </a:r>
                      <a:r>
                        <a:rPr sz="1400" spc="25" dirty="0">
                          <a:latin typeface="Calibri"/>
                          <a:cs typeface="Calibri"/>
                        </a:rPr>
                        <a:t>7</a:t>
                      </a:r>
                      <a:r>
                        <a:rPr sz="1400" dirty="0">
                          <a:latin typeface="Calibri"/>
                          <a:cs typeface="Calibri"/>
                        </a:rPr>
                        <a:t>6</a:t>
                      </a:r>
                      <a:r>
                        <a:rPr sz="1400" spc="-65" dirty="0">
                          <a:latin typeface="Calibri"/>
                          <a:cs typeface="Calibri"/>
                        </a:rPr>
                        <a:t> </a:t>
                      </a:r>
                      <a:r>
                        <a:rPr sz="1400" dirty="0">
                          <a:latin typeface="Calibri"/>
                          <a:cs typeface="Calibri"/>
                        </a:rPr>
                        <a:t>d:</a:t>
                      </a:r>
                      <a:r>
                        <a:rPr sz="1400" spc="-25" dirty="0">
                          <a:latin typeface="Calibri"/>
                          <a:cs typeface="Calibri"/>
                        </a:rPr>
                        <a:t> </a:t>
                      </a:r>
                      <a:r>
                        <a:rPr sz="1400" spc="25" dirty="0">
                          <a:latin typeface="Calibri"/>
                          <a:cs typeface="Calibri"/>
                        </a:rPr>
                        <a:t>10</a:t>
                      </a:r>
                      <a:endParaRPr sz="1400">
                        <a:latin typeface="Calibri"/>
                        <a:cs typeface="Calibri"/>
                      </a:endParaRPr>
                    </a:p>
                  </a:txBody>
                  <a:tcPr marL="0" marR="0" marT="368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r h="315961">
                <a:tc>
                  <a:txBody>
                    <a:bodyPr/>
                    <a:lstStyle/>
                    <a:p>
                      <a:pPr marL="91440">
                        <a:lnSpc>
                          <a:spcPct val="100000"/>
                        </a:lnSpc>
                        <a:spcBef>
                          <a:spcPts val="295"/>
                        </a:spcBef>
                      </a:pPr>
                      <a:r>
                        <a:rPr sz="1400" spc="15" dirty="0">
                          <a:latin typeface="Calibri"/>
                          <a:cs typeface="Calibri"/>
                        </a:rPr>
                        <a:t>F</a:t>
                      </a:r>
                      <a:r>
                        <a:rPr sz="1400" spc="-10" dirty="0">
                          <a:latin typeface="Calibri"/>
                          <a:cs typeface="Calibri"/>
                        </a:rPr>
                        <a:t>a</a:t>
                      </a:r>
                      <a:r>
                        <a:rPr sz="1400" dirty="0">
                          <a:latin typeface="Calibri"/>
                          <a:cs typeface="Calibri"/>
                        </a:rPr>
                        <a:t>c</a:t>
                      </a:r>
                      <a:r>
                        <a:rPr sz="1400" spc="-35" dirty="0">
                          <a:latin typeface="Calibri"/>
                          <a:cs typeface="Calibri"/>
                        </a:rPr>
                        <a:t>t</a:t>
                      </a:r>
                      <a:r>
                        <a:rPr sz="1400" spc="-5" dirty="0">
                          <a:latin typeface="Calibri"/>
                          <a:cs typeface="Calibri"/>
                        </a:rPr>
                        <a:t>o</a:t>
                      </a:r>
                      <a:r>
                        <a:rPr sz="1400" dirty="0">
                          <a:latin typeface="Calibri"/>
                          <a:cs typeface="Calibri"/>
                        </a:rPr>
                        <a:t>r</a:t>
                      </a:r>
                      <a:r>
                        <a:rPr sz="1400" spc="-65" dirty="0">
                          <a:latin typeface="Calibri"/>
                          <a:cs typeface="Calibri"/>
                        </a:rPr>
                        <a:t> </a:t>
                      </a:r>
                      <a:r>
                        <a:rPr sz="1400" spc="-5" dirty="0">
                          <a:latin typeface="Calibri"/>
                          <a:cs typeface="Calibri"/>
                        </a:rPr>
                        <a:t>o</a:t>
                      </a:r>
                      <a:r>
                        <a:rPr sz="1400" dirty="0">
                          <a:latin typeface="Calibri"/>
                          <a:cs typeface="Calibri"/>
                        </a:rPr>
                        <a:t>f</a:t>
                      </a:r>
                      <a:r>
                        <a:rPr sz="1400" spc="-80" dirty="0">
                          <a:latin typeface="Calibri"/>
                          <a:cs typeface="Calibri"/>
                        </a:rPr>
                        <a:t> </a:t>
                      </a:r>
                      <a:r>
                        <a:rPr sz="1400" spc="35" dirty="0">
                          <a:latin typeface="Calibri"/>
                          <a:cs typeface="Calibri"/>
                        </a:rPr>
                        <a:t>s</a:t>
                      </a:r>
                      <a:r>
                        <a:rPr sz="1400" spc="-10" dirty="0">
                          <a:latin typeface="Calibri"/>
                          <a:cs typeface="Calibri"/>
                        </a:rPr>
                        <a:t>a</a:t>
                      </a:r>
                      <a:r>
                        <a:rPr sz="1400" spc="10" dirty="0">
                          <a:latin typeface="Calibri"/>
                          <a:cs typeface="Calibri"/>
                        </a:rPr>
                        <a:t>f</a:t>
                      </a:r>
                      <a:r>
                        <a:rPr sz="1400" spc="-40" dirty="0">
                          <a:latin typeface="Calibri"/>
                          <a:cs typeface="Calibri"/>
                        </a:rPr>
                        <a:t>e</a:t>
                      </a:r>
                      <a:r>
                        <a:rPr sz="1400" spc="-30" dirty="0">
                          <a:latin typeface="Calibri"/>
                          <a:cs typeface="Calibri"/>
                        </a:rPr>
                        <a:t>t</a:t>
                      </a:r>
                      <a:r>
                        <a:rPr sz="1400" dirty="0">
                          <a:latin typeface="Calibri"/>
                          <a:cs typeface="Calibri"/>
                        </a:rPr>
                        <a:t>y</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345">
                        <a:lnSpc>
                          <a:spcPct val="100000"/>
                        </a:lnSpc>
                        <a:spcBef>
                          <a:spcPts val="295"/>
                        </a:spcBef>
                      </a:pPr>
                      <a:r>
                        <a:rPr sz="1400" spc="30" dirty="0">
                          <a:latin typeface="Calibri"/>
                          <a:cs typeface="Calibri"/>
                        </a:rPr>
                        <a:t>1.73</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980">
                        <a:lnSpc>
                          <a:spcPct val="100000"/>
                        </a:lnSpc>
                        <a:spcBef>
                          <a:spcPts val="295"/>
                        </a:spcBef>
                      </a:pPr>
                      <a:r>
                        <a:rPr sz="1400" spc="30" dirty="0">
                          <a:latin typeface="Calibri"/>
                          <a:cs typeface="Calibri"/>
                        </a:rPr>
                        <a:t>1.73</a:t>
                      </a:r>
                      <a:endParaRPr sz="1400" dirty="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5"/>
                  </a:ext>
                </a:extLst>
              </a:tr>
              <a:tr h="315935">
                <a:tc>
                  <a:txBody>
                    <a:bodyPr/>
                    <a:lstStyle/>
                    <a:p>
                      <a:pPr marL="91440">
                        <a:lnSpc>
                          <a:spcPct val="100000"/>
                        </a:lnSpc>
                        <a:spcBef>
                          <a:spcPts val="300"/>
                        </a:spcBef>
                      </a:pPr>
                      <a:r>
                        <a:rPr sz="1400" spc="15" dirty="0">
                          <a:latin typeface="Calibri"/>
                          <a:cs typeface="Calibri"/>
                        </a:rPr>
                        <a:t>S</a:t>
                      </a:r>
                      <a:r>
                        <a:rPr sz="1400" spc="-5" dirty="0">
                          <a:latin typeface="Calibri"/>
                          <a:cs typeface="Calibri"/>
                        </a:rPr>
                        <a:t>u</a:t>
                      </a:r>
                      <a:r>
                        <a:rPr sz="1400" spc="40" dirty="0">
                          <a:latin typeface="Calibri"/>
                          <a:cs typeface="Calibri"/>
                        </a:rPr>
                        <a:t>s</a:t>
                      </a:r>
                      <a:r>
                        <a:rPr sz="1400" spc="-5" dirty="0">
                          <a:latin typeface="Calibri"/>
                          <a:cs typeface="Calibri"/>
                        </a:rPr>
                        <a:t>p</a:t>
                      </a:r>
                      <a:r>
                        <a:rPr sz="1400" spc="-40" dirty="0">
                          <a:latin typeface="Calibri"/>
                          <a:cs typeface="Calibri"/>
                        </a:rPr>
                        <a:t>e</a:t>
                      </a:r>
                      <a:r>
                        <a:rPr sz="1400" spc="-5" dirty="0">
                          <a:latin typeface="Calibri"/>
                          <a:cs typeface="Calibri"/>
                        </a:rPr>
                        <a:t>n</a:t>
                      </a:r>
                      <a:r>
                        <a:rPr sz="1400" spc="40" dirty="0">
                          <a:latin typeface="Calibri"/>
                          <a:cs typeface="Calibri"/>
                        </a:rPr>
                        <a:t>s</a:t>
                      </a:r>
                      <a:r>
                        <a:rPr sz="1400" spc="-30" dirty="0">
                          <a:latin typeface="Calibri"/>
                          <a:cs typeface="Calibri"/>
                        </a:rPr>
                        <a:t>i</a:t>
                      </a:r>
                      <a:r>
                        <a:rPr sz="1400" spc="-5" dirty="0">
                          <a:latin typeface="Calibri"/>
                          <a:cs typeface="Calibri"/>
                        </a:rPr>
                        <a:t>o</a:t>
                      </a:r>
                      <a:r>
                        <a:rPr sz="1400" dirty="0">
                          <a:latin typeface="Calibri"/>
                          <a:cs typeface="Calibri"/>
                        </a:rPr>
                        <a:t>n</a:t>
                      </a:r>
                      <a:r>
                        <a:rPr sz="1400" spc="-85" dirty="0">
                          <a:latin typeface="Calibri"/>
                          <a:cs typeface="Calibri"/>
                        </a:rPr>
                        <a:t> </a:t>
                      </a:r>
                      <a:r>
                        <a:rPr sz="1400" spc="-100" dirty="0">
                          <a:latin typeface="Calibri"/>
                          <a:cs typeface="Calibri"/>
                        </a:rPr>
                        <a:t>T</a:t>
                      </a:r>
                      <a:r>
                        <a:rPr sz="1400" spc="25" dirty="0">
                          <a:latin typeface="Calibri"/>
                          <a:cs typeface="Calibri"/>
                        </a:rPr>
                        <a:t>r</a:t>
                      </a:r>
                      <a:r>
                        <a:rPr sz="1400" spc="-10" dirty="0">
                          <a:latin typeface="Calibri"/>
                          <a:cs typeface="Calibri"/>
                        </a:rPr>
                        <a:t>a</a:t>
                      </a:r>
                      <a:r>
                        <a:rPr sz="1400" spc="25" dirty="0">
                          <a:latin typeface="Calibri"/>
                          <a:cs typeface="Calibri"/>
                        </a:rPr>
                        <a:t>v</a:t>
                      </a:r>
                      <a:r>
                        <a:rPr sz="1400" spc="-40" dirty="0">
                          <a:latin typeface="Calibri"/>
                          <a:cs typeface="Calibri"/>
                        </a:rPr>
                        <a:t>e</a:t>
                      </a:r>
                      <a:r>
                        <a:rPr sz="1400" dirty="0">
                          <a:latin typeface="Calibri"/>
                          <a:cs typeface="Calibri"/>
                        </a:rPr>
                        <a:t>l</a:t>
                      </a:r>
                      <a:r>
                        <a:rPr sz="1400" spc="-114" dirty="0">
                          <a:latin typeface="Calibri"/>
                          <a:cs typeface="Calibri"/>
                        </a:rPr>
                        <a:t> </a:t>
                      </a:r>
                      <a:r>
                        <a:rPr sz="1400" spc="15" dirty="0">
                          <a:latin typeface="Calibri"/>
                          <a:cs typeface="Calibri"/>
                        </a:rPr>
                        <a:t>(</a:t>
                      </a:r>
                      <a:r>
                        <a:rPr sz="1400" spc="-30" dirty="0">
                          <a:latin typeface="Calibri"/>
                          <a:cs typeface="Calibri"/>
                        </a:rPr>
                        <a:t>i</a:t>
                      </a:r>
                      <a:r>
                        <a:rPr sz="1400" spc="-5" dirty="0">
                          <a:latin typeface="Calibri"/>
                          <a:cs typeface="Calibri"/>
                        </a:rPr>
                        <a:t>nch)</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345">
                        <a:lnSpc>
                          <a:spcPct val="100000"/>
                        </a:lnSpc>
                        <a:spcBef>
                          <a:spcPts val="300"/>
                        </a:spcBef>
                      </a:pPr>
                      <a:r>
                        <a:rPr sz="1400" spc="25" dirty="0">
                          <a:latin typeface="Calibri"/>
                          <a:cs typeface="Calibri"/>
                        </a:rPr>
                        <a:t>5</a:t>
                      </a:r>
                      <a:r>
                        <a:rPr sz="1400" spc="10" dirty="0">
                          <a:latin typeface="Calibri"/>
                          <a:cs typeface="Calibri"/>
                        </a:rPr>
                        <a:t>.</a:t>
                      </a:r>
                      <a:r>
                        <a:rPr sz="1400" spc="25" dirty="0">
                          <a:latin typeface="Calibri"/>
                          <a:cs typeface="Calibri"/>
                        </a:rPr>
                        <a:t>9</a:t>
                      </a:r>
                      <a:r>
                        <a:rPr sz="1400" dirty="0">
                          <a:latin typeface="Calibri"/>
                          <a:cs typeface="Calibri"/>
                        </a:rPr>
                        <a:t>+</a:t>
                      </a:r>
                      <a:r>
                        <a:rPr sz="1400" spc="-130" dirty="0">
                          <a:latin typeface="Calibri"/>
                          <a:cs typeface="Calibri"/>
                        </a:rPr>
                        <a:t> </a:t>
                      </a:r>
                      <a:r>
                        <a:rPr sz="1400" spc="25" dirty="0">
                          <a:latin typeface="Calibri"/>
                          <a:cs typeface="Calibri"/>
                        </a:rPr>
                        <a:t>1</a:t>
                      </a:r>
                      <a:r>
                        <a:rPr sz="1400" spc="10" dirty="0">
                          <a:latin typeface="Calibri"/>
                          <a:cs typeface="Calibri"/>
                        </a:rPr>
                        <a:t>.</a:t>
                      </a:r>
                      <a:r>
                        <a:rPr sz="1400" spc="25" dirty="0">
                          <a:latin typeface="Calibri"/>
                          <a:cs typeface="Calibri"/>
                        </a:rPr>
                        <a:t>61</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980">
                        <a:lnSpc>
                          <a:spcPct val="100000"/>
                        </a:lnSpc>
                        <a:spcBef>
                          <a:spcPts val="300"/>
                        </a:spcBef>
                      </a:pPr>
                      <a:r>
                        <a:rPr sz="1400" spc="25" dirty="0">
                          <a:latin typeface="Calibri"/>
                          <a:cs typeface="Calibri"/>
                        </a:rPr>
                        <a:t>5.9+1.48</a:t>
                      </a:r>
                      <a:endParaRPr sz="1400" dirty="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6"/>
                  </a:ext>
                </a:extLst>
              </a:tr>
              <a:tr h="315935">
                <a:tc>
                  <a:txBody>
                    <a:bodyPr/>
                    <a:lstStyle/>
                    <a:p>
                      <a:pPr marL="91440">
                        <a:lnSpc>
                          <a:spcPct val="100000"/>
                        </a:lnSpc>
                        <a:spcBef>
                          <a:spcPts val="300"/>
                        </a:spcBef>
                      </a:pPr>
                      <a:r>
                        <a:rPr sz="1400" spc="15" dirty="0">
                          <a:latin typeface="Calibri"/>
                          <a:cs typeface="Calibri"/>
                        </a:rPr>
                        <a:t>D</a:t>
                      </a:r>
                      <a:r>
                        <a:rPr sz="1400" spc="-10" dirty="0">
                          <a:latin typeface="Calibri"/>
                          <a:cs typeface="Calibri"/>
                        </a:rPr>
                        <a:t>a</a:t>
                      </a:r>
                      <a:r>
                        <a:rPr sz="1400" spc="-20" dirty="0">
                          <a:latin typeface="Calibri"/>
                          <a:cs typeface="Calibri"/>
                        </a:rPr>
                        <a:t>m</a:t>
                      </a:r>
                      <a:r>
                        <a:rPr sz="1400" spc="-5" dirty="0">
                          <a:latin typeface="Calibri"/>
                          <a:cs typeface="Calibri"/>
                        </a:rPr>
                        <a:t>p</a:t>
                      </a:r>
                      <a:r>
                        <a:rPr sz="1400" spc="-40" dirty="0">
                          <a:latin typeface="Calibri"/>
                          <a:cs typeface="Calibri"/>
                        </a:rPr>
                        <a:t>e</a:t>
                      </a:r>
                      <a:r>
                        <a:rPr sz="1400" dirty="0">
                          <a:latin typeface="Calibri"/>
                          <a:cs typeface="Calibri"/>
                        </a:rPr>
                        <a:t>r</a:t>
                      </a:r>
                      <a:r>
                        <a:rPr sz="1400" spc="-60" dirty="0">
                          <a:latin typeface="Calibri"/>
                          <a:cs typeface="Calibri"/>
                        </a:rPr>
                        <a:t> </a:t>
                      </a:r>
                      <a:r>
                        <a:rPr sz="1400" spc="15" dirty="0">
                          <a:latin typeface="Calibri"/>
                          <a:cs typeface="Calibri"/>
                        </a:rPr>
                        <a:t>S</a:t>
                      </a:r>
                      <a:r>
                        <a:rPr sz="1400" spc="-30" dirty="0">
                          <a:latin typeface="Calibri"/>
                          <a:cs typeface="Calibri"/>
                        </a:rPr>
                        <a:t>t</a:t>
                      </a:r>
                      <a:r>
                        <a:rPr sz="1400" spc="25" dirty="0">
                          <a:latin typeface="Calibri"/>
                          <a:cs typeface="Calibri"/>
                        </a:rPr>
                        <a:t>r</a:t>
                      </a:r>
                      <a:r>
                        <a:rPr sz="1400" spc="-5" dirty="0">
                          <a:latin typeface="Calibri"/>
                          <a:cs typeface="Calibri"/>
                        </a:rPr>
                        <a:t>o</a:t>
                      </a:r>
                      <a:r>
                        <a:rPr sz="1400" spc="-55" dirty="0">
                          <a:latin typeface="Calibri"/>
                          <a:cs typeface="Calibri"/>
                        </a:rPr>
                        <a:t>k</a:t>
                      </a:r>
                      <a:r>
                        <a:rPr sz="1400" dirty="0">
                          <a:latin typeface="Calibri"/>
                          <a:cs typeface="Calibri"/>
                        </a:rPr>
                        <a:t>e</a:t>
                      </a:r>
                      <a:r>
                        <a:rPr sz="1400" spc="-125" dirty="0">
                          <a:latin typeface="Calibri"/>
                          <a:cs typeface="Calibri"/>
                        </a:rPr>
                        <a:t> </a:t>
                      </a:r>
                      <a:r>
                        <a:rPr sz="1400" spc="15" dirty="0">
                          <a:latin typeface="Calibri"/>
                          <a:cs typeface="Calibri"/>
                        </a:rPr>
                        <a:t>(</a:t>
                      </a:r>
                      <a:r>
                        <a:rPr sz="1400" spc="-30" dirty="0">
                          <a:latin typeface="Calibri"/>
                          <a:cs typeface="Calibri"/>
                        </a:rPr>
                        <a:t>i</a:t>
                      </a:r>
                      <a:r>
                        <a:rPr sz="1400" spc="-5" dirty="0">
                          <a:latin typeface="Calibri"/>
                          <a:cs typeface="Calibri"/>
                        </a:rPr>
                        <a:t>nch)</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345">
                        <a:lnSpc>
                          <a:spcPct val="100000"/>
                        </a:lnSpc>
                        <a:spcBef>
                          <a:spcPts val="300"/>
                        </a:spcBef>
                      </a:pPr>
                      <a:r>
                        <a:rPr sz="1400" spc="20" dirty="0">
                          <a:latin typeface="Calibri"/>
                          <a:cs typeface="Calibri"/>
                        </a:rPr>
                        <a:t>6.2</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3980">
                        <a:lnSpc>
                          <a:spcPct val="100000"/>
                        </a:lnSpc>
                        <a:spcBef>
                          <a:spcPts val="300"/>
                        </a:spcBef>
                      </a:pPr>
                      <a:r>
                        <a:rPr sz="1400" spc="20" dirty="0">
                          <a:latin typeface="Calibri"/>
                          <a:cs typeface="Calibri"/>
                        </a:rPr>
                        <a:t>4.5</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7"/>
                  </a:ext>
                </a:extLst>
              </a:tr>
              <a:tr h="315941">
                <a:tc>
                  <a:txBody>
                    <a:bodyPr/>
                    <a:lstStyle/>
                    <a:p>
                      <a:pPr marL="91440">
                        <a:lnSpc>
                          <a:spcPct val="100000"/>
                        </a:lnSpc>
                        <a:spcBef>
                          <a:spcPts val="305"/>
                        </a:spcBef>
                      </a:pPr>
                      <a:r>
                        <a:rPr sz="1400" spc="15" dirty="0">
                          <a:latin typeface="Calibri"/>
                          <a:cs typeface="Calibri"/>
                        </a:rPr>
                        <a:t>D</a:t>
                      </a:r>
                      <a:r>
                        <a:rPr sz="1400" spc="-10" dirty="0">
                          <a:latin typeface="Calibri"/>
                          <a:cs typeface="Calibri"/>
                        </a:rPr>
                        <a:t>a</a:t>
                      </a:r>
                      <a:r>
                        <a:rPr sz="1400" spc="-20" dirty="0">
                          <a:latin typeface="Calibri"/>
                          <a:cs typeface="Calibri"/>
                        </a:rPr>
                        <a:t>m</a:t>
                      </a:r>
                      <a:r>
                        <a:rPr sz="1400" spc="-5" dirty="0">
                          <a:latin typeface="Calibri"/>
                          <a:cs typeface="Calibri"/>
                        </a:rPr>
                        <a:t>p</a:t>
                      </a:r>
                      <a:r>
                        <a:rPr sz="1400" spc="-30" dirty="0">
                          <a:latin typeface="Calibri"/>
                          <a:cs typeface="Calibri"/>
                        </a:rPr>
                        <a:t>i</a:t>
                      </a:r>
                      <a:r>
                        <a:rPr sz="1400" spc="-5" dirty="0">
                          <a:latin typeface="Calibri"/>
                          <a:cs typeface="Calibri"/>
                        </a:rPr>
                        <a:t>n</a:t>
                      </a:r>
                      <a:r>
                        <a:rPr sz="1400" dirty="0">
                          <a:latin typeface="Calibri"/>
                          <a:cs typeface="Calibri"/>
                        </a:rPr>
                        <a:t>g</a:t>
                      </a:r>
                      <a:r>
                        <a:rPr sz="1400" spc="-85" dirty="0">
                          <a:latin typeface="Calibri"/>
                          <a:cs typeface="Calibri"/>
                        </a:rPr>
                        <a:t> </a:t>
                      </a:r>
                      <a:r>
                        <a:rPr sz="1400" spc="-65" dirty="0">
                          <a:latin typeface="Calibri"/>
                          <a:cs typeface="Calibri"/>
                        </a:rPr>
                        <a:t>V</a:t>
                      </a:r>
                      <a:r>
                        <a:rPr sz="1400" spc="-10" dirty="0">
                          <a:latin typeface="Calibri"/>
                          <a:cs typeface="Calibri"/>
                        </a:rPr>
                        <a:t>a</a:t>
                      </a:r>
                      <a:r>
                        <a:rPr sz="1400" spc="-30" dirty="0">
                          <a:latin typeface="Calibri"/>
                          <a:cs typeface="Calibri"/>
                        </a:rPr>
                        <a:t>l</a:t>
                      </a:r>
                      <a:r>
                        <a:rPr sz="1400" spc="-5" dirty="0">
                          <a:latin typeface="Calibri"/>
                          <a:cs typeface="Calibri"/>
                        </a:rPr>
                        <a:t>u</a:t>
                      </a:r>
                      <a:r>
                        <a:rPr sz="1400" dirty="0">
                          <a:latin typeface="Calibri"/>
                          <a:cs typeface="Calibri"/>
                        </a:rPr>
                        <a:t>e</a:t>
                      </a:r>
                      <a:r>
                        <a:rPr sz="1400" spc="25" dirty="0">
                          <a:latin typeface="Calibri"/>
                          <a:cs typeface="Calibri"/>
                        </a:rPr>
                        <a:t> </a:t>
                      </a:r>
                      <a:r>
                        <a:rPr sz="1400" spc="-10" dirty="0">
                          <a:latin typeface="Calibri"/>
                          <a:cs typeface="Calibri"/>
                        </a:rPr>
                        <a:t>a</a:t>
                      </a:r>
                      <a:r>
                        <a:rPr sz="1400" dirty="0">
                          <a:latin typeface="Calibri"/>
                          <a:cs typeface="Calibri"/>
                        </a:rPr>
                        <a:t>t</a:t>
                      </a:r>
                      <a:r>
                        <a:rPr sz="1400" spc="-45" dirty="0">
                          <a:latin typeface="Calibri"/>
                          <a:cs typeface="Calibri"/>
                        </a:rPr>
                        <a:t> </a:t>
                      </a:r>
                      <a:r>
                        <a:rPr sz="1400" spc="25" dirty="0">
                          <a:latin typeface="Calibri"/>
                          <a:cs typeface="Calibri"/>
                        </a:rPr>
                        <a:t>0</a:t>
                      </a:r>
                      <a:r>
                        <a:rPr sz="1400" spc="15" dirty="0">
                          <a:latin typeface="Calibri"/>
                          <a:cs typeface="Calibri"/>
                        </a:rPr>
                        <a:t>.</a:t>
                      </a:r>
                      <a:r>
                        <a:rPr sz="1400" spc="25" dirty="0">
                          <a:latin typeface="Calibri"/>
                          <a:cs typeface="Calibri"/>
                        </a:rPr>
                        <a:t>3</a:t>
                      </a:r>
                      <a:r>
                        <a:rPr sz="1400" spc="-20" dirty="0">
                          <a:latin typeface="Calibri"/>
                          <a:cs typeface="Calibri"/>
                        </a:rPr>
                        <a:t>m</a:t>
                      </a:r>
                      <a:r>
                        <a:rPr sz="1400" spc="-30" dirty="0">
                          <a:latin typeface="Calibri"/>
                          <a:cs typeface="Calibri"/>
                        </a:rPr>
                        <a:t>/</a:t>
                      </a:r>
                      <a:r>
                        <a:rPr sz="1400" dirty="0">
                          <a:latin typeface="Calibri"/>
                          <a:cs typeface="Calibri"/>
                        </a:rPr>
                        <a:t>s</a:t>
                      </a:r>
                      <a:r>
                        <a:rPr sz="1400" spc="-50" dirty="0">
                          <a:latin typeface="Calibri"/>
                          <a:cs typeface="Calibri"/>
                        </a:rPr>
                        <a:t> </a:t>
                      </a:r>
                      <a:r>
                        <a:rPr sz="1400" spc="15" dirty="0">
                          <a:latin typeface="Calibri"/>
                          <a:cs typeface="Calibri"/>
                        </a:rPr>
                        <a:t>(</a:t>
                      </a:r>
                      <a:r>
                        <a:rPr sz="1400" spc="-25" dirty="0">
                          <a:latin typeface="Calibri"/>
                          <a:cs typeface="Calibri"/>
                        </a:rPr>
                        <a:t>N</a:t>
                      </a:r>
                      <a:r>
                        <a:rPr sz="1400" dirty="0">
                          <a:latin typeface="Calibri"/>
                          <a:cs typeface="Calibri"/>
                        </a:rPr>
                        <a:t>)</a:t>
                      </a: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345">
                        <a:lnSpc>
                          <a:spcPct val="100000"/>
                        </a:lnSpc>
                        <a:spcBef>
                          <a:spcPts val="305"/>
                        </a:spcBef>
                      </a:pPr>
                      <a:r>
                        <a:rPr sz="1400" spc="35" dirty="0">
                          <a:latin typeface="Calibri"/>
                          <a:cs typeface="Calibri"/>
                        </a:rPr>
                        <a:t>1417.77</a:t>
                      </a:r>
                      <a:endParaRPr sz="140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3980">
                        <a:lnSpc>
                          <a:spcPct val="100000"/>
                        </a:lnSpc>
                        <a:spcBef>
                          <a:spcPts val="305"/>
                        </a:spcBef>
                      </a:pPr>
                      <a:r>
                        <a:rPr sz="1400" spc="35" dirty="0">
                          <a:latin typeface="Calibri"/>
                          <a:cs typeface="Calibri"/>
                        </a:rPr>
                        <a:t>1791</a:t>
                      </a:r>
                      <a:endParaRPr sz="1400" dirty="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8"/>
                  </a:ext>
                </a:extLst>
              </a:tr>
            </a:tbl>
          </a:graphicData>
        </a:graphic>
      </p:graphicFrame>
      <p:graphicFrame>
        <p:nvGraphicFramePr>
          <p:cNvPr id="25" name="object 6"/>
          <p:cNvGraphicFramePr>
            <a:graphicFrameLocks noGrp="1"/>
          </p:cNvGraphicFramePr>
          <p:nvPr>
            <p:extLst>
              <p:ext uri="{D42A27DB-BD31-4B8C-83A1-F6EECF244321}">
                <p14:modId xmlns:p14="http://schemas.microsoft.com/office/powerpoint/2010/main" val="758059775"/>
              </p:ext>
            </p:extLst>
          </p:nvPr>
        </p:nvGraphicFramePr>
        <p:xfrm>
          <a:off x="4283968" y="2408705"/>
          <a:ext cx="1798968" cy="1698826"/>
        </p:xfrm>
        <a:graphic>
          <a:graphicData uri="http://schemas.openxmlformats.org/drawingml/2006/table">
            <a:tbl>
              <a:tblPr firstRow="1" bandRow="1">
                <a:tableStyleId>{2D5ABB26-0587-4C30-8999-92F81FD0307C}</a:tableStyleId>
              </a:tblPr>
              <a:tblGrid>
                <a:gridCol w="1027982">
                  <a:extLst>
                    <a:ext uri="{9D8B030D-6E8A-4147-A177-3AD203B41FA5}">
                      <a16:colId xmlns:a16="http://schemas.microsoft.com/office/drawing/2014/main" xmlns="" val="20000"/>
                    </a:ext>
                  </a:extLst>
                </a:gridCol>
                <a:gridCol w="770986">
                  <a:extLst>
                    <a:ext uri="{9D8B030D-6E8A-4147-A177-3AD203B41FA5}">
                      <a16:colId xmlns:a16="http://schemas.microsoft.com/office/drawing/2014/main" xmlns="" val="20001"/>
                    </a:ext>
                  </a:extLst>
                </a:gridCol>
              </a:tblGrid>
              <a:tr h="312012">
                <a:tc>
                  <a:txBody>
                    <a:bodyPr/>
                    <a:lstStyle/>
                    <a:p>
                      <a:pPr marL="98425">
                        <a:lnSpc>
                          <a:spcPct val="100000"/>
                        </a:lnSpc>
                        <a:spcBef>
                          <a:spcPts val="295"/>
                        </a:spcBef>
                      </a:pPr>
                      <a:r>
                        <a:rPr sz="1400" spc="5" dirty="0">
                          <a:latin typeface="Calibri"/>
                          <a:cs typeface="Calibri"/>
                        </a:rPr>
                        <a:t>CG</a:t>
                      </a:r>
                      <a:r>
                        <a:rPr sz="1400" spc="-55" dirty="0">
                          <a:latin typeface="Calibri"/>
                          <a:cs typeface="Calibri"/>
                        </a:rPr>
                        <a:t> </a:t>
                      </a:r>
                      <a:r>
                        <a:rPr sz="1400" dirty="0">
                          <a:latin typeface="Calibri"/>
                          <a:cs typeface="Calibri"/>
                        </a:rPr>
                        <a:t>Height</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tc>
                  <a:txBody>
                    <a:bodyPr/>
                    <a:lstStyle/>
                    <a:p>
                      <a:pPr marL="99695">
                        <a:lnSpc>
                          <a:spcPct val="100000"/>
                        </a:lnSpc>
                        <a:spcBef>
                          <a:spcPts val="295"/>
                        </a:spcBef>
                      </a:pPr>
                      <a:r>
                        <a:rPr sz="1400" spc="25" dirty="0">
                          <a:latin typeface="Calibri"/>
                          <a:cs typeface="Calibri"/>
                        </a:rPr>
                        <a:t>1</a:t>
                      </a:r>
                      <a:r>
                        <a:rPr sz="1400" dirty="0">
                          <a:latin typeface="Calibri"/>
                          <a:cs typeface="Calibri"/>
                        </a:rPr>
                        <a:t>9</a:t>
                      </a:r>
                      <a:r>
                        <a:rPr sz="1400" spc="-70" dirty="0">
                          <a:latin typeface="Calibri"/>
                          <a:cs typeface="Calibri"/>
                        </a:rPr>
                        <a:t> </a:t>
                      </a:r>
                      <a:r>
                        <a:rPr sz="1400" spc="-30" dirty="0">
                          <a:latin typeface="Calibri"/>
                          <a:cs typeface="Calibri"/>
                        </a:rPr>
                        <a:t>i</a:t>
                      </a:r>
                      <a:r>
                        <a:rPr sz="1400" spc="-5" dirty="0">
                          <a:latin typeface="Calibri"/>
                          <a:cs typeface="Calibri"/>
                        </a:rPr>
                        <a:t>nch</a:t>
                      </a:r>
                      <a:endParaRPr sz="1400">
                        <a:latin typeface="Calibri"/>
                        <a:cs typeface="Calibri"/>
                      </a:endParaRPr>
                    </a:p>
                  </a:txBody>
                  <a:tcPr marL="0" marR="0" marT="37465" marB="0">
                    <a:lnL w="12700">
                      <a:solidFill>
                        <a:srgbClr val="EC7C30"/>
                      </a:solidFill>
                      <a:prstDash val="solid"/>
                    </a:lnL>
                    <a:lnR w="12700">
                      <a:solidFill>
                        <a:srgbClr val="EC7C30"/>
                      </a:solidFill>
                      <a:prstDash val="solid"/>
                    </a:lnR>
                    <a:lnT w="12700">
                      <a:solidFill>
                        <a:srgbClr val="EC7C30"/>
                      </a:solidFill>
                      <a:prstDash val="solid"/>
                    </a:lnT>
                    <a:lnB w="28575">
                      <a:solidFill>
                        <a:srgbClr val="EC7C30"/>
                      </a:solidFill>
                      <a:prstDash val="solid"/>
                    </a:lnB>
                  </a:tcPr>
                </a:tc>
                <a:extLst>
                  <a:ext uri="{0D108BD9-81ED-4DB2-BD59-A6C34878D82A}">
                    <a16:rowId xmlns:a16="http://schemas.microsoft.com/office/drawing/2014/main" xmlns="" val="10000"/>
                  </a:ext>
                </a:extLst>
              </a:tr>
              <a:tr h="537034">
                <a:tc>
                  <a:txBody>
                    <a:bodyPr/>
                    <a:lstStyle/>
                    <a:p>
                      <a:pPr marL="98425">
                        <a:lnSpc>
                          <a:spcPct val="100000"/>
                        </a:lnSpc>
                        <a:spcBef>
                          <a:spcPts val="300"/>
                        </a:spcBef>
                      </a:pPr>
                      <a:r>
                        <a:rPr sz="1400" dirty="0">
                          <a:latin typeface="Calibri"/>
                          <a:cs typeface="Calibri"/>
                        </a:rPr>
                        <a:t>G</a:t>
                      </a:r>
                      <a:r>
                        <a:rPr sz="1400" spc="25" dirty="0">
                          <a:latin typeface="Calibri"/>
                          <a:cs typeface="Calibri"/>
                        </a:rPr>
                        <a:t>r</a:t>
                      </a:r>
                      <a:r>
                        <a:rPr sz="1400" spc="-5" dirty="0">
                          <a:latin typeface="Calibri"/>
                          <a:cs typeface="Calibri"/>
                        </a:rPr>
                        <a:t>oun</a:t>
                      </a:r>
                      <a:r>
                        <a:rPr sz="1400" dirty="0">
                          <a:latin typeface="Calibri"/>
                          <a:cs typeface="Calibri"/>
                        </a:rPr>
                        <a:t>d</a:t>
                      </a:r>
                      <a:r>
                        <a:rPr sz="1400" spc="-85" dirty="0">
                          <a:latin typeface="Calibri"/>
                          <a:cs typeface="Calibri"/>
                        </a:rPr>
                        <a:t> </a:t>
                      </a:r>
                      <a:r>
                        <a:rPr sz="1400" spc="-15" dirty="0">
                          <a:latin typeface="Calibri"/>
                          <a:cs typeface="Calibri"/>
                        </a:rPr>
                        <a:t>C</a:t>
                      </a:r>
                      <a:r>
                        <a:rPr sz="1400" spc="-30" dirty="0">
                          <a:latin typeface="Calibri"/>
                          <a:cs typeface="Calibri"/>
                        </a:rPr>
                        <a:t>l</a:t>
                      </a:r>
                      <a:r>
                        <a:rPr sz="1400" spc="-35" dirty="0">
                          <a:latin typeface="Calibri"/>
                          <a:cs typeface="Calibri"/>
                        </a:rPr>
                        <a:t>e</a:t>
                      </a:r>
                      <a:r>
                        <a:rPr sz="1400" spc="-10" dirty="0">
                          <a:latin typeface="Calibri"/>
                          <a:cs typeface="Calibri"/>
                        </a:rPr>
                        <a:t>a</a:t>
                      </a:r>
                      <a:r>
                        <a:rPr sz="1400" spc="25" dirty="0">
                          <a:latin typeface="Calibri"/>
                          <a:cs typeface="Calibri"/>
                        </a:rPr>
                        <a:t>r</a:t>
                      </a:r>
                      <a:r>
                        <a:rPr sz="1400" spc="-10" dirty="0">
                          <a:latin typeface="Calibri"/>
                          <a:cs typeface="Calibri"/>
                        </a:rPr>
                        <a:t>a</a:t>
                      </a:r>
                      <a:r>
                        <a:rPr sz="1400" spc="-5" dirty="0">
                          <a:latin typeface="Calibri"/>
                          <a:cs typeface="Calibri"/>
                        </a:rPr>
                        <a:t>nce</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tc>
                  <a:txBody>
                    <a:bodyPr/>
                    <a:lstStyle/>
                    <a:p>
                      <a:pPr marL="99695">
                        <a:lnSpc>
                          <a:spcPct val="100000"/>
                        </a:lnSpc>
                        <a:spcBef>
                          <a:spcPts val="300"/>
                        </a:spcBef>
                      </a:pPr>
                      <a:r>
                        <a:rPr sz="1400" spc="30" dirty="0">
                          <a:latin typeface="Calibri"/>
                          <a:cs typeface="Calibri"/>
                        </a:rPr>
                        <a:t>1</a:t>
                      </a:r>
                      <a:r>
                        <a:rPr sz="1400" dirty="0">
                          <a:latin typeface="Calibri"/>
                          <a:cs typeface="Calibri"/>
                        </a:rPr>
                        <a:t>4</a:t>
                      </a:r>
                      <a:r>
                        <a:rPr sz="1400" spc="-65" dirty="0">
                          <a:latin typeface="Calibri"/>
                          <a:cs typeface="Calibri"/>
                        </a:rPr>
                        <a:t> </a:t>
                      </a:r>
                      <a:r>
                        <a:rPr sz="1400" spc="-30" dirty="0">
                          <a:latin typeface="Calibri"/>
                          <a:cs typeface="Calibri"/>
                        </a:rPr>
                        <a:t>i</a:t>
                      </a:r>
                      <a:r>
                        <a:rPr sz="1400" spc="-5" dirty="0">
                          <a:latin typeface="Calibri"/>
                          <a:cs typeface="Calibri"/>
                        </a:rPr>
                        <a:t>nch</a:t>
                      </a:r>
                      <a:endParaRPr sz="1400">
                        <a:latin typeface="Calibri"/>
                        <a:cs typeface="Calibri"/>
                      </a:endParaRPr>
                    </a:p>
                  </a:txBody>
                  <a:tcPr marL="0" marR="0" marT="38100" marB="0">
                    <a:lnL w="12700">
                      <a:solidFill>
                        <a:srgbClr val="EC7C30"/>
                      </a:solidFill>
                      <a:prstDash val="solid"/>
                    </a:lnL>
                    <a:lnR w="12700">
                      <a:solidFill>
                        <a:srgbClr val="EC7C30"/>
                      </a:solidFill>
                      <a:prstDash val="solid"/>
                    </a:lnR>
                    <a:lnT w="28575">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312012">
                <a:tc>
                  <a:txBody>
                    <a:bodyPr/>
                    <a:lstStyle/>
                    <a:p>
                      <a:pPr marL="98425">
                        <a:lnSpc>
                          <a:spcPct val="100000"/>
                        </a:lnSpc>
                        <a:spcBef>
                          <a:spcPts val="305"/>
                        </a:spcBef>
                      </a:pPr>
                      <a:r>
                        <a:rPr sz="1400" spc="15" dirty="0">
                          <a:latin typeface="Calibri"/>
                          <a:cs typeface="Calibri"/>
                        </a:rPr>
                        <a:t>S</a:t>
                      </a:r>
                      <a:r>
                        <a:rPr sz="1400" spc="-5" dirty="0">
                          <a:latin typeface="Calibri"/>
                          <a:cs typeface="Calibri"/>
                        </a:rPr>
                        <a:t>p</a:t>
                      </a:r>
                      <a:r>
                        <a:rPr sz="1400" spc="25" dirty="0">
                          <a:latin typeface="Calibri"/>
                          <a:cs typeface="Calibri"/>
                        </a:rPr>
                        <a:t>r</a:t>
                      </a:r>
                      <a:r>
                        <a:rPr sz="1400" spc="-5" dirty="0">
                          <a:latin typeface="Calibri"/>
                          <a:cs typeface="Calibri"/>
                        </a:rPr>
                        <a:t>un</a:t>
                      </a:r>
                      <a:r>
                        <a:rPr sz="1400" dirty="0">
                          <a:latin typeface="Calibri"/>
                          <a:cs typeface="Calibri"/>
                        </a:rPr>
                        <a:t>g</a:t>
                      </a:r>
                      <a:r>
                        <a:rPr sz="1400" spc="-80" dirty="0">
                          <a:latin typeface="Calibri"/>
                          <a:cs typeface="Calibri"/>
                        </a:rPr>
                        <a:t> </a:t>
                      </a:r>
                      <a:r>
                        <a:rPr sz="1400" spc="-15" dirty="0">
                          <a:latin typeface="Calibri"/>
                          <a:cs typeface="Calibri"/>
                        </a:rPr>
                        <a:t>m</a:t>
                      </a:r>
                      <a:r>
                        <a:rPr sz="1400" spc="-10" dirty="0">
                          <a:latin typeface="Calibri"/>
                          <a:cs typeface="Calibri"/>
                        </a:rPr>
                        <a:t>a</a:t>
                      </a:r>
                      <a:r>
                        <a:rPr sz="1400" spc="40" dirty="0">
                          <a:latin typeface="Calibri"/>
                          <a:cs typeface="Calibri"/>
                        </a:rPr>
                        <a:t>s</a:t>
                      </a:r>
                      <a:r>
                        <a:rPr sz="1400" dirty="0">
                          <a:latin typeface="Calibri"/>
                          <a:cs typeface="Calibri"/>
                        </a:rPr>
                        <a:t>s</a:t>
                      </a:r>
                      <a:endParaRPr sz="140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9695">
                        <a:lnSpc>
                          <a:spcPct val="100000"/>
                        </a:lnSpc>
                        <a:spcBef>
                          <a:spcPts val="305"/>
                        </a:spcBef>
                      </a:pPr>
                      <a:r>
                        <a:rPr sz="1400" spc="35" dirty="0">
                          <a:latin typeface="Calibri"/>
                          <a:cs typeface="Calibri"/>
                        </a:rPr>
                        <a:t>110kg</a:t>
                      </a:r>
                      <a:endParaRPr sz="140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537768">
                <a:tc>
                  <a:txBody>
                    <a:bodyPr/>
                    <a:lstStyle/>
                    <a:p>
                      <a:pPr marL="98425">
                        <a:lnSpc>
                          <a:spcPct val="100000"/>
                        </a:lnSpc>
                        <a:spcBef>
                          <a:spcPts val="305"/>
                        </a:spcBef>
                      </a:pPr>
                      <a:r>
                        <a:rPr sz="1400" spc="-20" dirty="0">
                          <a:latin typeface="Calibri"/>
                          <a:cs typeface="Calibri"/>
                        </a:rPr>
                        <a:t>U</a:t>
                      </a:r>
                      <a:r>
                        <a:rPr sz="1400" spc="-5" dirty="0">
                          <a:latin typeface="Calibri"/>
                          <a:cs typeface="Calibri"/>
                        </a:rPr>
                        <a:t>n</a:t>
                      </a:r>
                      <a:r>
                        <a:rPr sz="1400" spc="10" dirty="0">
                          <a:latin typeface="Calibri"/>
                          <a:cs typeface="Calibri"/>
                        </a:rPr>
                        <a:t>-</a:t>
                      </a:r>
                      <a:r>
                        <a:rPr sz="1400" spc="40" dirty="0">
                          <a:latin typeface="Calibri"/>
                          <a:cs typeface="Calibri"/>
                        </a:rPr>
                        <a:t>s</a:t>
                      </a:r>
                      <a:r>
                        <a:rPr sz="1400" spc="-5" dirty="0">
                          <a:latin typeface="Calibri"/>
                          <a:cs typeface="Calibri"/>
                        </a:rPr>
                        <a:t>p</a:t>
                      </a:r>
                      <a:r>
                        <a:rPr sz="1400" spc="30" dirty="0">
                          <a:latin typeface="Calibri"/>
                          <a:cs typeface="Calibri"/>
                        </a:rPr>
                        <a:t>r</a:t>
                      </a:r>
                      <a:r>
                        <a:rPr sz="1400" spc="-5" dirty="0">
                          <a:latin typeface="Calibri"/>
                          <a:cs typeface="Calibri"/>
                        </a:rPr>
                        <a:t>u</a:t>
                      </a:r>
                      <a:r>
                        <a:rPr sz="1400" dirty="0">
                          <a:latin typeface="Calibri"/>
                          <a:cs typeface="Calibri"/>
                        </a:rPr>
                        <a:t>ng</a:t>
                      </a:r>
                      <a:r>
                        <a:rPr sz="1400" spc="-95" dirty="0">
                          <a:latin typeface="Calibri"/>
                          <a:cs typeface="Calibri"/>
                        </a:rPr>
                        <a:t> </a:t>
                      </a:r>
                      <a:r>
                        <a:rPr sz="1400" spc="-20" dirty="0">
                          <a:latin typeface="Calibri"/>
                          <a:cs typeface="Calibri"/>
                        </a:rPr>
                        <a:t>m</a:t>
                      </a:r>
                      <a:r>
                        <a:rPr sz="1400" spc="-10" dirty="0">
                          <a:latin typeface="Calibri"/>
                          <a:cs typeface="Calibri"/>
                        </a:rPr>
                        <a:t>a</a:t>
                      </a:r>
                      <a:r>
                        <a:rPr sz="1400" spc="35" dirty="0">
                          <a:latin typeface="Calibri"/>
                          <a:cs typeface="Calibri"/>
                        </a:rPr>
                        <a:t>s</a:t>
                      </a:r>
                      <a:r>
                        <a:rPr sz="1400" dirty="0">
                          <a:latin typeface="Calibri"/>
                          <a:cs typeface="Calibri"/>
                        </a:rPr>
                        <a:t>s</a:t>
                      </a:r>
                      <a:endParaRPr sz="140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solidFill>
                      <a:srgbClr val="FBE4D5"/>
                    </a:solidFill>
                  </a:tcPr>
                </a:tc>
                <a:tc>
                  <a:txBody>
                    <a:bodyPr/>
                    <a:lstStyle/>
                    <a:p>
                      <a:pPr marL="137795">
                        <a:lnSpc>
                          <a:spcPct val="100000"/>
                        </a:lnSpc>
                        <a:spcBef>
                          <a:spcPts val="305"/>
                        </a:spcBef>
                      </a:pPr>
                      <a:r>
                        <a:rPr sz="1400" spc="35" dirty="0">
                          <a:latin typeface="Calibri"/>
                          <a:cs typeface="Calibri"/>
                        </a:rPr>
                        <a:t>50kg</a:t>
                      </a:r>
                      <a:endParaRPr sz="1400" dirty="0">
                        <a:latin typeface="Calibri"/>
                        <a:cs typeface="Calibri"/>
                      </a:endParaRPr>
                    </a:p>
                  </a:txBody>
                  <a:tcPr marL="0" marR="0" marT="38735" marB="0">
                    <a:lnL w="12700">
                      <a:solidFill>
                        <a:srgbClr val="EC7C30"/>
                      </a:solidFill>
                      <a:prstDash val="solid"/>
                    </a:lnL>
                    <a:lnR w="12700">
                      <a:solidFill>
                        <a:srgbClr val="EC7C30"/>
                      </a:solidFill>
                      <a:prstDash val="solid"/>
                    </a:lnR>
                    <a:lnT w="12700">
                      <a:solidFill>
                        <a:srgbClr val="EC7C30"/>
                      </a:solidFill>
                      <a:prstDash val="solid"/>
                    </a:lnT>
                    <a:solidFill>
                      <a:srgbClr val="FBE4D5"/>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746004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Steering</a:t>
            </a:r>
            <a:endParaRPr lang="en-IN" b="1" dirty="0"/>
          </a:p>
        </p:txBody>
      </p:sp>
      <p:sp>
        <p:nvSpPr>
          <p:cNvPr id="3" name="Content Placeholder 2"/>
          <p:cNvSpPr>
            <a:spLocks noGrp="1"/>
          </p:cNvSpPr>
          <p:nvPr>
            <p:ph idx="1"/>
          </p:nvPr>
        </p:nvSpPr>
        <p:spPr/>
        <p:txBody>
          <a:bodyPr/>
          <a:lstStyle/>
          <a:p>
            <a:endParaRPr lang="en-IN" dirty="0"/>
          </a:p>
        </p:txBody>
      </p:sp>
      <p:sp>
        <p:nvSpPr>
          <p:cNvPr id="37" name="object 3"/>
          <p:cNvSpPr txBox="1">
            <a:spLocks/>
          </p:cNvSpPr>
          <p:nvPr/>
        </p:nvSpPr>
        <p:spPr>
          <a:xfrm>
            <a:off x="5612256" y="1833346"/>
            <a:ext cx="2278380" cy="260328"/>
          </a:xfrm>
          <a:prstGeom prst="rect">
            <a:avLst/>
          </a:prstGeom>
        </p:spPr>
        <p:txBody>
          <a:bodyPr vert="horz" wrap="square" lIns="0" tIns="44450"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371600">
              <a:spcBef>
                <a:spcPts val="350"/>
              </a:spcBef>
            </a:pPr>
            <a:endParaRPr lang="en-US" sz="1400" dirty="0"/>
          </a:p>
        </p:txBody>
      </p:sp>
      <p:graphicFrame>
        <p:nvGraphicFramePr>
          <p:cNvPr id="38" name="object 4"/>
          <p:cNvGraphicFramePr>
            <a:graphicFrameLocks noGrp="1"/>
          </p:cNvGraphicFramePr>
          <p:nvPr>
            <p:extLst>
              <p:ext uri="{D42A27DB-BD31-4B8C-83A1-F6EECF244321}">
                <p14:modId xmlns:p14="http://schemas.microsoft.com/office/powerpoint/2010/main" val="4011035652"/>
              </p:ext>
            </p:extLst>
          </p:nvPr>
        </p:nvGraphicFramePr>
        <p:xfrm>
          <a:off x="616905" y="1412776"/>
          <a:ext cx="3334385" cy="2438400"/>
        </p:xfrm>
        <a:graphic>
          <a:graphicData uri="http://schemas.openxmlformats.org/drawingml/2006/table">
            <a:tbl>
              <a:tblPr firstRow="1" bandRow="1">
                <a:tableStyleId>{2D5ABB26-0587-4C30-8999-92F81FD0307C}</a:tableStyleId>
              </a:tblPr>
              <a:tblGrid>
                <a:gridCol w="2211070">
                  <a:extLst>
                    <a:ext uri="{9D8B030D-6E8A-4147-A177-3AD203B41FA5}">
                      <a16:colId xmlns:a16="http://schemas.microsoft.com/office/drawing/2014/main" xmlns="" val="20000"/>
                    </a:ext>
                  </a:extLst>
                </a:gridCol>
                <a:gridCol w="1123315">
                  <a:extLst>
                    <a:ext uri="{9D8B030D-6E8A-4147-A177-3AD203B41FA5}">
                      <a16:colId xmlns:a16="http://schemas.microsoft.com/office/drawing/2014/main" xmlns="" val="20001"/>
                    </a:ext>
                  </a:extLst>
                </a:gridCol>
              </a:tblGrid>
              <a:tr h="304800">
                <a:tc>
                  <a:txBody>
                    <a:bodyPr/>
                    <a:lstStyle/>
                    <a:p>
                      <a:pPr marL="91440">
                        <a:lnSpc>
                          <a:spcPct val="100000"/>
                        </a:lnSpc>
                        <a:spcBef>
                          <a:spcPts val="240"/>
                        </a:spcBef>
                      </a:pPr>
                      <a:r>
                        <a:rPr sz="1400" b="1" spc="-20" dirty="0">
                          <a:latin typeface="Calibri"/>
                          <a:cs typeface="Calibri"/>
                        </a:rPr>
                        <a:t>Type</a:t>
                      </a:r>
                      <a:r>
                        <a:rPr sz="1400" b="1" spc="-15" dirty="0">
                          <a:latin typeface="Calibri"/>
                          <a:cs typeface="Calibri"/>
                        </a:rPr>
                        <a:t> </a:t>
                      </a:r>
                      <a:r>
                        <a:rPr sz="1400" b="1" dirty="0">
                          <a:latin typeface="Calibri"/>
                          <a:cs typeface="Calibri"/>
                        </a:rPr>
                        <a:t>of</a:t>
                      </a:r>
                      <a:r>
                        <a:rPr sz="1400" b="1" spc="-40" dirty="0">
                          <a:latin typeface="Calibri"/>
                          <a:cs typeface="Calibri"/>
                        </a:rPr>
                        <a:t> </a:t>
                      </a:r>
                      <a:r>
                        <a:rPr sz="1400" b="1" spc="15" dirty="0">
                          <a:latin typeface="Calibri"/>
                          <a:cs typeface="Calibri"/>
                        </a:rPr>
                        <a:t>Drive</a:t>
                      </a:r>
                      <a:endParaRPr sz="14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2710">
                        <a:lnSpc>
                          <a:spcPct val="100000"/>
                        </a:lnSpc>
                        <a:spcBef>
                          <a:spcPts val="240"/>
                        </a:spcBef>
                      </a:pPr>
                      <a:r>
                        <a:rPr sz="1400" b="1" spc="15" dirty="0">
                          <a:latin typeface="Calibri"/>
                          <a:cs typeface="Calibri"/>
                        </a:rPr>
                        <a:t>Centre</a:t>
                      </a:r>
                      <a:endParaRPr sz="14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extLst>
                  <a:ext uri="{0D108BD9-81ED-4DB2-BD59-A6C34878D82A}">
                    <a16:rowId xmlns:a16="http://schemas.microsoft.com/office/drawing/2014/main" xmlns="" val="10000"/>
                  </a:ext>
                </a:extLst>
              </a:tr>
              <a:tr h="304800">
                <a:tc>
                  <a:txBody>
                    <a:bodyPr/>
                    <a:lstStyle/>
                    <a:p>
                      <a:pPr marL="91440">
                        <a:lnSpc>
                          <a:spcPct val="100000"/>
                        </a:lnSpc>
                        <a:spcBef>
                          <a:spcPts val="245"/>
                        </a:spcBef>
                      </a:pPr>
                      <a:r>
                        <a:rPr sz="1400" spc="-30" dirty="0">
                          <a:latin typeface="Calibri"/>
                          <a:cs typeface="Calibri"/>
                        </a:rPr>
                        <a:t>R</a:t>
                      </a:r>
                      <a:r>
                        <a:rPr sz="1400" spc="-10" dirty="0">
                          <a:latin typeface="Calibri"/>
                          <a:cs typeface="Calibri"/>
                        </a:rPr>
                        <a:t>a</a:t>
                      </a:r>
                      <a:r>
                        <a:rPr sz="1400" dirty="0">
                          <a:latin typeface="Calibri"/>
                          <a:cs typeface="Calibri"/>
                        </a:rPr>
                        <a:t>ck</a:t>
                      </a:r>
                      <a:r>
                        <a:rPr sz="1400" spc="5" dirty="0">
                          <a:latin typeface="Calibri"/>
                          <a:cs typeface="Calibri"/>
                        </a:rPr>
                        <a:t> </a:t>
                      </a:r>
                      <a:r>
                        <a:rPr sz="1400" spc="-100" dirty="0">
                          <a:latin typeface="Calibri"/>
                          <a:cs typeface="Calibri"/>
                        </a:rPr>
                        <a:t>T</a:t>
                      </a:r>
                      <a:r>
                        <a:rPr sz="1400" spc="25" dirty="0">
                          <a:latin typeface="Calibri"/>
                          <a:cs typeface="Calibri"/>
                        </a:rPr>
                        <a:t>r</a:t>
                      </a:r>
                      <a:r>
                        <a:rPr sz="1400" spc="-10" dirty="0">
                          <a:latin typeface="Calibri"/>
                          <a:cs typeface="Calibri"/>
                        </a:rPr>
                        <a:t>a</a:t>
                      </a:r>
                      <a:r>
                        <a:rPr sz="1400" spc="25" dirty="0">
                          <a:latin typeface="Calibri"/>
                          <a:cs typeface="Calibri"/>
                        </a:rPr>
                        <a:t>v</a:t>
                      </a:r>
                      <a:r>
                        <a:rPr sz="1400" spc="-40" dirty="0">
                          <a:latin typeface="Calibri"/>
                          <a:cs typeface="Calibri"/>
                        </a:rPr>
                        <a:t>e</a:t>
                      </a:r>
                      <a:r>
                        <a:rPr sz="1400" dirty="0">
                          <a:latin typeface="Calibri"/>
                          <a:cs typeface="Calibri"/>
                        </a:rPr>
                        <a:t>l</a:t>
                      </a:r>
                      <a:r>
                        <a:rPr sz="1400" spc="-114" dirty="0">
                          <a:latin typeface="Calibri"/>
                          <a:cs typeface="Calibri"/>
                        </a:rPr>
                        <a:t> </a:t>
                      </a:r>
                      <a:r>
                        <a:rPr sz="1400" spc="15" dirty="0">
                          <a:latin typeface="Calibri"/>
                          <a:cs typeface="Calibri"/>
                        </a:rPr>
                        <a:t>(</a:t>
                      </a:r>
                      <a:r>
                        <a:rPr sz="1400" dirty="0">
                          <a:latin typeface="Calibri"/>
                          <a:cs typeface="Calibri"/>
                        </a:rPr>
                        <a:t>c</a:t>
                      </a:r>
                      <a:r>
                        <a:rPr sz="1400" spc="-40" dirty="0">
                          <a:latin typeface="Calibri"/>
                          <a:cs typeface="Calibri"/>
                        </a:rPr>
                        <a:t>e</a:t>
                      </a:r>
                      <a:r>
                        <a:rPr sz="1400" spc="-5" dirty="0">
                          <a:latin typeface="Calibri"/>
                          <a:cs typeface="Calibri"/>
                        </a:rPr>
                        <a:t>n</a:t>
                      </a:r>
                      <a:r>
                        <a:rPr sz="1400" spc="-30" dirty="0">
                          <a:latin typeface="Calibri"/>
                          <a:cs typeface="Calibri"/>
                        </a:rPr>
                        <a:t>t</a:t>
                      </a:r>
                      <a:r>
                        <a:rPr sz="1400" spc="25" dirty="0">
                          <a:latin typeface="Calibri"/>
                          <a:cs typeface="Calibri"/>
                        </a:rPr>
                        <a:t>r</a:t>
                      </a:r>
                      <a:r>
                        <a:rPr sz="1400" dirty="0">
                          <a:latin typeface="Calibri"/>
                          <a:cs typeface="Calibri"/>
                        </a:rPr>
                        <a:t>e</a:t>
                      </a:r>
                      <a:r>
                        <a:rPr sz="1400" spc="-125" dirty="0">
                          <a:latin typeface="Calibri"/>
                          <a:cs typeface="Calibri"/>
                        </a:rPr>
                        <a:t> </a:t>
                      </a:r>
                      <a:r>
                        <a:rPr sz="1400" spc="-30" dirty="0">
                          <a:latin typeface="Calibri"/>
                          <a:cs typeface="Calibri"/>
                        </a:rPr>
                        <a:t>t</a:t>
                      </a:r>
                      <a:r>
                        <a:rPr sz="1400" dirty="0">
                          <a:latin typeface="Calibri"/>
                          <a:cs typeface="Calibri"/>
                        </a:rPr>
                        <a:t>o</a:t>
                      </a:r>
                      <a:r>
                        <a:rPr sz="1400" spc="-20" dirty="0">
                          <a:latin typeface="Calibri"/>
                          <a:cs typeface="Calibri"/>
                        </a:rPr>
                        <a:t> </a:t>
                      </a:r>
                      <a:r>
                        <a:rPr sz="1400" spc="-40" dirty="0">
                          <a:latin typeface="Calibri"/>
                          <a:cs typeface="Calibri"/>
                        </a:rPr>
                        <a:t>e</a:t>
                      </a:r>
                      <a:r>
                        <a:rPr sz="1400" spc="-5" dirty="0">
                          <a:latin typeface="Calibri"/>
                          <a:cs typeface="Calibri"/>
                        </a:rPr>
                        <a:t>nd)</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tc>
                  <a:txBody>
                    <a:bodyPr/>
                    <a:lstStyle/>
                    <a:p>
                      <a:pPr marL="92710">
                        <a:lnSpc>
                          <a:spcPct val="100000"/>
                        </a:lnSpc>
                        <a:spcBef>
                          <a:spcPts val="245"/>
                        </a:spcBef>
                      </a:pPr>
                      <a:r>
                        <a:rPr sz="1400" spc="20" dirty="0">
                          <a:latin typeface="Calibri"/>
                          <a:cs typeface="Calibri"/>
                        </a:rPr>
                        <a:t>17.4mm</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304800">
                <a:tc>
                  <a:txBody>
                    <a:bodyPr/>
                    <a:lstStyle/>
                    <a:p>
                      <a:pPr marL="91440">
                        <a:lnSpc>
                          <a:spcPct val="100000"/>
                        </a:lnSpc>
                        <a:spcBef>
                          <a:spcPts val="245"/>
                        </a:spcBef>
                      </a:pPr>
                      <a:r>
                        <a:rPr sz="1400" spc="-5" dirty="0">
                          <a:latin typeface="Calibri"/>
                          <a:cs typeface="Calibri"/>
                        </a:rPr>
                        <a:t>Lo</a:t>
                      </a:r>
                      <a:r>
                        <a:rPr sz="1400" spc="-10" dirty="0">
                          <a:latin typeface="Calibri"/>
                          <a:cs typeface="Calibri"/>
                        </a:rPr>
                        <a:t>c</a:t>
                      </a:r>
                      <a:r>
                        <a:rPr sz="1400" dirty="0">
                          <a:latin typeface="Calibri"/>
                          <a:cs typeface="Calibri"/>
                        </a:rPr>
                        <a:t>k</a:t>
                      </a:r>
                      <a:r>
                        <a:rPr sz="1400" spc="-65" dirty="0">
                          <a:latin typeface="Calibri"/>
                          <a:cs typeface="Calibri"/>
                        </a:rPr>
                        <a:t> </a:t>
                      </a:r>
                      <a:r>
                        <a:rPr sz="1400" spc="-30" dirty="0">
                          <a:latin typeface="Calibri"/>
                          <a:cs typeface="Calibri"/>
                        </a:rPr>
                        <a:t>t</a:t>
                      </a:r>
                      <a:r>
                        <a:rPr sz="1400" dirty="0">
                          <a:latin typeface="Calibri"/>
                          <a:cs typeface="Calibri"/>
                        </a:rPr>
                        <a:t>o</a:t>
                      </a:r>
                      <a:r>
                        <a:rPr sz="1400" spc="-20" dirty="0">
                          <a:latin typeface="Calibri"/>
                          <a:cs typeface="Calibri"/>
                        </a:rPr>
                        <a:t> </a:t>
                      </a:r>
                      <a:r>
                        <a:rPr sz="1400" spc="-5" dirty="0">
                          <a:latin typeface="Calibri"/>
                          <a:cs typeface="Calibri"/>
                        </a:rPr>
                        <a:t>Lo</a:t>
                      </a:r>
                      <a:r>
                        <a:rPr sz="1400" spc="-10" dirty="0">
                          <a:latin typeface="Calibri"/>
                          <a:cs typeface="Calibri"/>
                        </a:rPr>
                        <a:t>c</a:t>
                      </a:r>
                      <a:r>
                        <a:rPr sz="1400" dirty="0">
                          <a:latin typeface="Calibri"/>
                          <a:cs typeface="Calibri"/>
                        </a:rPr>
                        <a:t>k</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2710">
                        <a:lnSpc>
                          <a:spcPct val="100000"/>
                        </a:lnSpc>
                        <a:spcBef>
                          <a:spcPts val="245"/>
                        </a:spcBef>
                      </a:pPr>
                      <a:r>
                        <a:rPr sz="1400" spc="25" dirty="0">
                          <a:latin typeface="Calibri"/>
                          <a:cs typeface="Calibri"/>
                        </a:rPr>
                        <a:t>0</a:t>
                      </a:r>
                      <a:r>
                        <a:rPr sz="1400" spc="15" dirty="0">
                          <a:latin typeface="Calibri"/>
                          <a:cs typeface="Calibri"/>
                        </a:rPr>
                        <a:t>.</a:t>
                      </a:r>
                      <a:r>
                        <a:rPr sz="1400" spc="25" dirty="0">
                          <a:latin typeface="Calibri"/>
                          <a:cs typeface="Calibri"/>
                        </a:rPr>
                        <a:t>9</a:t>
                      </a:r>
                      <a:r>
                        <a:rPr sz="1400" dirty="0">
                          <a:latin typeface="Calibri"/>
                          <a:cs typeface="Calibri"/>
                        </a:rPr>
                        <a:t>4</a:t>
                      </a:r>
                      <a:r>
                        <a:rPr sz="1400" spc="-70" dirty="0">
                          <a:latin typeface="Calibri"/>
                          <a:cs typeface="Calibri"/>
                        </a:rPr>
                        <a:t> </a:t>
                      </a:r>
                      <a:r>
                        <a:rPr sz="1400" spc="25" dirty="0">
                          <a:latin typeface="Calibri"/>
                          <a:cs typeface="Calibri"/>
                        </a:rPr>
                        <a:t>r</a:t>
                      </a:r>
                      <a:r>
                        <a:rPr sz="1400" spc="-40" dirty="0">
                          <a:latin typeface="Calibri"/>
                          <a:cs typeface="Calibri"/>
                        </a:rPr>
                        <a:t>e</a:t>
                      </a:r>
                      <a:r>
                        <a:rPr sz="1400" dirty="0">
                          <a:latin typeface="Calibri"/>
                          <a:cs typeface="Calibri"/>
                        </a:rPr>
                        <a:t>v</a:t>
                      </a:r>
                      <a:endParaRPr sz="1400">
                        <a:latin typeface="Calibri"/>
                        <a:cs typeface="Calibri"/>
                      </a:endParaRPr>
                    </a:p>
                  </a:txBody>
                  <a:tcPr marL="0" marR="0" marT="3111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304800">
                <a:tc>
                  <a:txBody>
                    <a:bodyPr/>
                    <a:lstStyle/>
                    <a:p>
                      <a:pPr marL="91440">
                        <a:lnSpc>
                          <a:spcPct val="100000"/>
                        </a:lnSpc>
                        <a:spcBef>
                          <a:spcPts val="250"/>
                        </a:spcBef>
                      </a:pPr>
                      <a:r>
                        <a:rPr sz="1400" spc="-5" dirty="0">
                          <a:latin typeface="Calibri"/>
                          <a:cs typeface="Calibri"/>
                        </a:rPr>
                        <a:t>Steering</a:t>
                      </a:r>
                      <a:r>
                        <a:rPr sz="1400" spc="-40" dirty="0">
                          <a:latin typeface="Calibri"/>
                          <a:cs typeface="Calibri"/>
                        </a:rPr>
                        <a:t> </a:t>
                      </a:r>
                      <a:r>
                        <a:rPr sz="1400" spc="-10" dirty="0">
                          <a:latin typeface="Calibri"/>
                          <a:cs typeface="Calibri"/>
                        </a:rPr>
                        <a:t>Ratio</a:t>
                      </a:r>
                      <a:endParaRPr sz="1400" dirty="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2710">
                        <a:lnSpc>
                          <a:spcPct val="100000"/>
                        </a:lnSpc>
                        <a:spcBef>
                          <a:spcPts val="250"/>
                        </a:spcBef>
                      </a:pPr>
                      <a:r>
                        <a:rPr sz="1400" spc="25" dirty="0">
                          <a:latin typeface="Calibri"/>
                          <a:cs typeface="Calibri"/>
                        </a:rPr>
                        <a:t>3</a:t>
                      </a:r>
                      <a:r>
                        <a:rPr sz="1400" dirty="0">
                          <a:latin typeface="Calibri"/>
                          <a:cs typeface="Calibri"/>
                        </a:rPr>
                        <a:t>7</a:t>
                      </a:r>
                      <a:r>
                        <a:rPr sz="1400" spc="-65" dirty="0">
                          <a:latin typeface="Calibri"/>
                          <a:cs typeface="Calibri"/>
                        </a:rPr>
                        <a:t> </a:t>
                      </a:r>
                      <a:r>
                        <a:rPr sz="1400" spc="-20" dirty="0">
                          <a:latin typeface="Calibri"/>
                          <a:cs typeface="Calibri"/>
                        </a:rPr>
                        <a:t>mm</a:t>
                      </a:r>
                      <a:r>
                        <a:rPr sz="1400" spc="-30" dirty="0">
                          <a:latin typeface="Calibri"/>
                          <a:cs typeface="Calibri"/>
                        </a:rPr>
                        <a:t>/</a:t>
                      </a:r>
                      <a:r>
                        <a:rPr sz="1400" spc="25" dirty="0">
                          <a:latin typeface="Calibri"/>
                          <a:cs typeface="Calibri"/>
                        </a:rPr>
                        <a:t>r</a:t>
                      </a:r>
                      <a:r>
                        <a:rPr sz="1400" spc="-40" dirty="0">
                          <a:latin typeface="Calibri"/>
                          <a:cs typeface="Calibri"/>
                        </a:rPr>
                        <a:t>e</a:t>
                      </a:r>
                      <a:r>
                        <a:rPr sz="1400" dirty="0">
                          <a:latin typeface="Calibri"/>
                          <a:cs typeface="Calibri"/>
                        </a:rPr>
                        <a:t>v</a:t>
                      </a:r>
                      <a:endParaRPr sz="1400">
                        <a:latin typeface="Calibri"/>
                        <a:cs typeface="Calibri"/>
                      </a:endParaRPr>
                    </a:p>
                  </a:txBody>
                  <a:tcPr marL="0" marR="0" marT="3175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r h="304800">
                <a:tc>
                  <a:txBody>
                    <a:bodyPr/>
                    <a:lstStyle/>
                    <a:p>
                      <a:pPr marL="91440">
                        <a:lnSpc>
                          <a:spcPct val="100000"/>
                        </a:lnSpc>
                        <a:spcBef>
                          <a:spcPts val="254"/>
                        </a:spcBef>
                      </a:pPr>
                      <a:r>
                        <a:rPr sz="1400" spc="-5" dirty="0">
                          <a:latin typeface="Calibri"/>
                          <a:cs typeface="Calibri"/>
                        </a:rPr>
                        <a:t>Length</a:t>
                      </a:r>
                      <a:r>
                        <a:rPr sz="1400" spc="-30" dirty="0">
                          <a:latin typeface="Calibri"/>
                          <a:cs typeface="Calibri"/>
                        </a:rPr>
                        <a:t> </a:t>
                      </a:r>
                      <a:r>
                        <a:rPr sz="1400" spc="5" dirty="0">
                          <a:latin typeface="Calibri"/>
                          <a:cs typeface="Calibri"/>
                        </a:rPr>
                        <a:t>of</a:t>
                      </a:r>
                      <a:r>
                        <a:rPr sz="1400" spc="-15" dirty="0">
                          <a:latin typeface="Calibri"/>
                          <a:cs typeface="Calibri"/>
                        </a:rPr>
                        <a:t> </a:t>
                      </a:r>
                      <a:r>
                        <a:rPr sz="1400" spc="-10" dirty="0">
                          <a:latin typeface="Calibri"/>
                          <a:cs typeface="Calibri"/>
                        </a:rPr>
                        <a:t>Tie</a:t>
                      </a:r>
                      <a:r>
                        <a:rPr sz="1400" spc="10" dirty="0">
                          <a:latin typeface="Calibri"/>
                          <a:cs typeface="Calibri"/>
                        </a:rPr>
                        <a:t> </a:t>
                      </a:r>
                      <a:r>
                        <a:rPr sz="1400" spc="15" dirty="0">
                          <a:latin typeface="Calibri"/>
                          <a:cs typeface="Calibri"/>
                        </a:rPr>
                        <a:t>rod</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2710">
                        <a:lnSpc>
                          <a:spcPct val="100000"/>
                        </a:lnSpc>
                        <a:spcBef>
                          <a:spcPts val="254"/>
                        </a:spcBef>
                      </a:pPr>
                      <a:r>
                        <a:rPr sz="1400" spc="10" dirty="0">
                          <a:latin typeface="Calibri"/>
                          <a:cs typeface="Calibri"/>
                        </a:rPr>
                        <a:t>260.629mm</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4"/>
                  </a:ext>
                </a:extLst>
              </a:tr>
              <a:tr h="304800">
                <a:tc>
                  <a:txBody>
                    <a:bodyPr/>
                    <a:lstStyle/>
                    <a:p>
                      <a:pPr marL="91440">
                        <a:lnSpc>
                          <a:spcPct val="100000"/>
                        </a:lnSpc>
                        <a:spcBef>
                          <a:spcPts val="254"/>
                        </a:spcBef>
                      </a:pPr>
                      <a:r>
                        <a:rPr sz="1400" spc="85" dirty="0">
                          <a:latin typeface="Calibri"/>
                          <a:cs typeface="Calibri"/>
                        </a:rPr>
                        <a:t>I</a:t>
                      </a:r>
                      <a:r>
                        <a:rPr sz="1400" spc="-30" dirty="0">
                          <a:latin typeface="Calibri"/>
                          <a:cs typeface="Calibri"/>
                        </a:rPr>
                        <a:t>B</a:t>
                      </a:r>
                      <a:r>
                        <a:rPr sz="1400" dirty="0">
                          <a:latin typeface="Calibri"/>
                          <a:cs typeface="Calibri"/>
                        </a:rPr>
                        <a:t>J</a:t>
                      </a:r>
                      <a:r>
                        <a:rPr sz="1400" spc="-95" dirty="0">
                          <a:latin typeface="Calibri"/>
                          <a:cs typeface="Calibri"/>
                        </a:rPr>
                        <a:t> </a:t>
                      </a:r>
                      <a:r>
                        <a:rPr sz="1400" dirty="0">
                          <a:latin typeface="Calibri"/>
                          <a:cs typeface="Calibri"/>
                        </a:rPr>
                        <a:t>c</a:t>
                      </a:r>
                      <a:r>
                        <a:rPr sz="1400" spc="-40" dirty="0">
                          <a:latin typeface="Calibri"/>
                          <a:cs typeface="Calibri"/>
                        </a:rPr>
                        <a:t>e</a:t>
                      </a:r>
                      <a:r>
                        <a:rPr sz="1400" spc="-5" dirty="0">
                          <a:latin typeface="Calibri"/>
                          <a:cs typeface="Calibri"/>
                        </a:rPr>
                        <a:t>n</a:t>
                      </a:r>
                      <a:r>
                        <a:rPr sz="1400" spc="-30" dirty="0">
                          <a:latin typeface="Calibri"/>
                          <a:cs typeface="Calibri"/>
                        </a:rPr>
                        <a:t>t</a:t>
                      </a:r>
                      <a:r>
                        <a:rPr sz="1400" spc="25" dirty="0">
                          <a:latin typeface="Calibri"/>
                          <a:cs typeface="Calibri"/>
                        </a:rPr>
                        <a:t>r</a:t>
                      </a:r>
                      <a:r>
                        <a:rPr sz="1400" dirty="0">
                          <a:latin typeface="Calibri"/>
                          <a:cs typeface="Calibri"/>
                        </a:rPr>
                        <a:t>e</a:t>
                      </a:r>
                      <a:r>
                        <a:rPr sz="1400" spc="-50" dirty="0">
                          <a:latin typeface="Calibri"/>
                          <a:cs typeface="Calibri"/>
                        </a:rPr>
                        <a:t> </a:t>
                      </a:r>
                      <a:r>
                        <a:rPr sz="1400" spc="-5" dirty="0">
                          <a:latin typeface="Calibri"/>
                          <a:cs typeface="Calibri"/>
                        </a:rPr>
                        <a:t>d</a:t>
                      </a:r>
                      <a:r>
                        <a:rPr sz="1400" spc="-25" dirty="0">
                          <a:latin typeface="Calibri"/>
                          <a:cs typeface="Calibri"/>
                        </a:rPr>
                        <a:t>i</a:t>
                      </a:r>
                      <a:r>
                        <a:rPr sz="1400" spc="40" dirty="0">
                          <a:latin typeface="Calibri"/>
                          <a:cs typeface="Calibri"/>
                        </a:rPr>
                        <a:t>s</a:t>
                      </a:r>
                      <a:r>
                        <a:rPr sz="1400" spc="-30" dirty="0">
                          <a:latin typeface="Calibri"/>
                          <a:cs typeface="Calibri"/>
                        </a:rPr>
                        <a:t>t</a:t>
                      </a:r>
                      <a:r>
                        <a:rPr sz="1400" spc="-10" dirty="0">
                          <a:latin typeface="Calibri"/>
                          <a:cs typeface="Calibri"/>
                        </a:rPr>
                        <a:t>a</a:t>
                      </a:r>
                      <a:r>
                        <a:rPr sz="1400" spc="-5" dirty="0">
                          <a:latin typeface="Calibri"/>
                          <a:cs typeface="Calibri"/>
                        </a:rPr>
                        <a:t>nce</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2710">
                        <a:lnSpc>
                          <a:spcPct val="100000"/>
                        </a:lnSpc>
                        <a:spcBef>
                          <a:spcPts val="254"/>
                        </a:spcBef>
                      </a:pPr>
                      <a:r>
                        <a:rPr sz="1400" spc="25" dirty="0">
                          <a:latin typeface="Calibri"/>
                          <a:cs typeface="Calibri"/>
                        </a:rPr>
                        <a:t>205.74mm</a:t>
                      </a:r>
                      <a:endParaRPr sz="1400">
                        <a:latin typeface="Calibri"/>
                        <a:cs typeface="Calibri"/>
                      </a:endParaRPr>
                    </a:p>
                  </a:txBody>
                  <a:tcPr marL="0" marR="0" marT="32384"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5"/>
                  </a:ext>
                </a:extLst>
              </a:tr>
              <a:tr h="304800">
                <a:tc>
                  <a:txBody>
                    <a:bodyPr/>
                    <a:lstStyle/>
                    <a:p>
                      <a:pPr marL="91440">
                        <a:lnSpc>
                          <a:spcPct val="100000"/>
                        </a:lnSpc>
                        <a:spcBef>
                          <a:spcPts val="260"/>
                        </a:spcBef>
                      </a:pPr>
                      <a:r>
                        <a:rPr sz="1400" spc="10" dirty="0">
                          <a:latin typeface="Calibri"/>
                          <a:cs typeface="Calibri"/>
                        </a:rPr>
                        <a:t>OBJ</a:t>
                      </a:r>
                      <a:r>
                        <a:rPr sz="1400" spc="-40" dirty="0">
                          <a:latin typeface="Calibri"/>
                          <a:cs typeface="Calibri"/>
                        </a:rPr>
                        <a:t> </a:t>
                      </a:r>
                      <a:r>
                        <a:rPr sz="1400" spc="5" dirty="0">
                          <a:latin typeface="Calibri"/>
                          <a:cs typeface="Calibri"/>
                        </a:rPr>
                        <a:t>centre</a:t>
                      </a:r>
                      <a:r>
                        <a:rPr sz="1400" spc="-70" dirty="0">
                          <a:latin typeface="Calibri"/>
                          <a:cs typeface="Calibri"/>
                        </a:rPr>
                        <a:t> </a:t>
                      </a:r>
                      <a:r>
                        <a:rPr sz="1400" dirty="0">
                          <a:latin typeface="Calibri"/>
                          <a:cs typeface="Calibri"/>
                        </a:rPr>
                        <a:t>distance</a:t>
                      </a:r>
                      <a:endParaRPr sz="1400">
                        <a:latin typeface="Calibri"/>
                        <a:cs typeface="Calibri"/>
                      </a:endParaRPr>
                    </a:p>
                  </a:txBody>
                  <a:tcPr marL="0" marR="0" marT="3302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2710">
                        <a:lnSpc>
                          <a:spcPct val="100000"/>
                        </a:lnSpc>
                        <a:spcBef>
                          <a:spcPts val="260"/>
                        </a:spcBef>
                      </a:pPr>
                      <a:r>
                        <a:rPr sz="1400" spc="25" dirty="0">
                          <a:latin typeface="Calibri"/>
                          <a:cs typeface="Calibri"/>
                        </a:rPr>
                        <a:t>56</a:t>
                      </a:r>
                      <a:r>
                        <a:rPr sz="1400" spc="30" dirty="0">
                          <a:latin typeface="Calibri"/>
                          <a:cs typeface="Calibri"/>
                        </a:rPr>
                        <a:t>0</a:t>
                      </a:r>
                      <a:r>
                        <a:rPr sz="1400" spc="15" dirty="0">
                          <a:latin typeface="Calibri"/>
                          <a:cs typeface="Calibri"/>
                        </a:rPr>
                        <a:t>.</a:t>
                      </a:r>
                      <a:r>
                        <a:rPr sz="1400" spc="25" dirty="0">
                          <a:latin typeface="Calibri"/>
                          <a:cs typeface="Calibri"/>
                        </a:rPr>
                        <a:t>82</a:t>
                      </a:r>
                      <a:r>
                        <a:rPr sz="1400" dirty="0">
                          <a:latin typeface="Calibri"/>
                          <a:cs typeface="Calibri"/>
                        </a:rPr>
                        <a:t>5</a:t>
                      </a:r>
                      <a:r>
                        <a:rPr sz="1400" spc="-65" dirty="0">
                          <a:latin typeface="Calibri"/>
                          <a:cs typeface="Calibri"/>
                        </a:rPr>
                        <a:t> </a:t>
                      </a:r>
                      <a:r>
                        <a:rPr sz="1400" spc="-15" dirty="0">
                          <a:latin typeface="Calibri"/>
                          <a:cs typeface="Calibri"/>
                        </a:rPr>
                        <a:t>mm</a:t>
                      </a:r>
                      <a:endParaRPr sz="1400">
                        <a:latin typeface="Calibri"/>
                        <a:cs typeface="Calibri"/>
                      </a:endParaRPr>
                    </a:p>
                  </a:txBody>
                  <a:tcPr marL="0" marR="0" marT="3302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6"/>
                  </a:ext>
                </a:extLst>
              </a:tr>
              <a:tr h="304800">
                <a:tc>
                  <a:txBody>
                    <a:bodyPr/>
                    <a:lstStyle/>
                    <a:p>
                      <a:pPr marL="91440">
                        <a:lnSpc>
                          <a:spcPct val="100000"/>
                        </a:lnSpc>
                        <a:spcBef>
                          <a:spcPts val="265"/>
                        </a:spcBef>
                      </a:pPr>
                      <a:r>
                        <a:rPr sz="1400" spc="-5" dirty="0">
                          <a:latin typeface="Calibri"/>
                          <a:cs typeface="Calibri"/>
                        </a:rPr>
                        <a:t>Min.</a:t>
                      </a:r>
                      <a:r>
                        <a:rPr sz="1400" spc="-15" dirty="0">
                          <a:latin typeface="Calibri"/>
                          <a:cs typeface="Calibri"/>
                        </a:rPr>
                        <a:t> </a:t>
                      </a:r>
                      <a:r>
                        <a:rPr sz="1400" dirty="0">
                          <a:latin typeface="Calibri"/>
                          <a:cs typeface="Calibri"/>
                        </a:rPr>
                        <a:t>turning</a:t>
                      </a:r>
                      <a:r>
                        <a:rPr sz="1400" spc="-20" dirty="0">
                          <a:latin typeface="Calibri"/>
                          <a:cs typeface="Calibri"/>
                        </a:rPr>
                        <a:t> </a:t>
                      </a:r>
                      <a:r>
                        <a:rPr sz="1400" spc="5" dirty="0">
                          <a:latin typeface="Calibri"/>
                          <a:cs typeface="Calibri"/>
                        </a:rPr>
                        <a:t>radius</a:t>
                      </a:r>
                      <a:endParaRPr sz="1400" dirty="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2710">
                        <a:lnSpc>
                          <a:spcPct val="100000"/>
                        </a:lnSpc>
                        <a:spcBef>
                          <a:spcPts val="265"/>
                        </a:spcBef>
                      </a:pPr>
                      <a:r>
                        <a:rPr sz="1400" spc="30" dirty="0">
                          <a:latin typeface="Calibri"/>
                          <a:cs typeface="Calibri"/>
                        </a:rPr>
                        <a:t>1.5m</a:t>
                      </a:r>
                      <a:endParaRPr sz="1400" dirty="0">
                        <a:latin typeface="Calibri"/>
                        <a:cs typeface="Calibri"/>
                      </a:endParaRPr>
                    </a:p>
                  </a:txBody>
                  <a:tcPr marL="0" marR="0" marT="3365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7"/>
                  </a:ext>
                </a:extLst>
              </a:tr>
            </a:tbl>
          </a:graphicData>
        </a:graphic>
      </p:graphicFrame>
      <p:pic>
        <p:nvPicPr>
          <p:cNvPr id="39" name="object 8"/>
          <p:cNvPicPr/>
          <p:nvPr/>
        </p:nvPicPr>
        <p:blipFill>
          <a:blip r:embed="rId2" cstate="print"/>
          <a:stretch>
            <a:fillRect/>
          </a:stretch>
        </p:blipFill>
        <p:spPr>
          <a:xfrm>
            <a:off x="4684763" y="1455865"/>
            <a:ext cx="3200400" cy="2295525"/>
          </a:xfrm>
          <a:prstGeom prst="rect">
            <a:avLst/>
          </a:prstGeom>
        </p:spPr>
      </p:pic>
      <p:sp>
        <p:nvSpPr>
          <p:cNvPr id="40" name="object 15"/>
          <p:cNvSpPr txBox="1"/>
          <p:nvPr/>
        </p:nvSpPr>
        <p:spPr>
          <a:xfrm>
            <a:off x="4684763" y="3751390"/>
            <a:ext cx="3682029" cy="323807"/>
          </a:xfrm>
          <a:prstGeom prst="rect">
            <a:avLst/>
          </a:prstGeom>
        </p:spPr>
        <p:txBody>
          <a:bodyPr vert="horz" wrap="square" lIns="0" tIns="15875" rIns="0" bIns="0" rtlCol="0">
            <a:spAutoFit/>
          </a:bodyPr>
          <a:lstStyle/>
          <a:p>
            <a:pPr marL="12700">
              <a:lnSpc>
                <a:spcPct val="100000"/>
              </a:lnSpc>
              <a:spcBef>
                <a:spcPts val="125"/>
              </a:spcBef>
            </a:pPr>
            <a:r>
              <a:rPr sz="2000" b="1" spc="10" dirty="0">
                <a:latin typeface="Calibri"/>
                <a:cs typeface="Calibri"/>
              </a:rPr>
              <a:t>S</a:t>
            </a:r>
            <a:r>
              <a:rPr sz="2000" b="1" spc="40" dirty="0">
                <a:latin typeface="Calibri"/>
                <a:cs typeface="Calibri"/>
              </a:rPr>
              <a:t>tee</a:t>
            </a:r>
            <a:r>
              <a:rPr sz="2000" b="1" spc="20" dirty="0">
                <a:latin typeface="Calibri"/>
                <a:cs typeface="Calibri"/>
              </a:rPr>
              <a:t>r</a:t>
            </a:r>
            <a:r>
              <a:rPr sz="2000" b="1" spc="25" dirty="0">
                <a:latin typeface="Calibri"/>
                <a:cs typeface="Calibri"/>
              </a:rPr>
              <a:t>i</a:t>
            </a:r>
            <a:r>
              <a:rPr sz="2000" b="1" spc="-10" dirty="0">
                <a:latin typeface="Calibri"/>
                <a:cs typeface="Calibri"/>
              </a:rPr>
              <a:t>n</a:t>
            </a:r>
            <a:r>
              <a:rPr sz="2000" b="1" spc="10" dirty="0">
                <a:latin typeface="Calibri"/>
                <a:cs typeface="Calibri"/>
              </a:rPr>
              <a:t>g</a:t>
            </a:r>
            <a:r>
              <a:rPr sz="2000" b="1" spc="-95" dirty="0">
                <a:latin typeface="Calibri"/>
                <a:cs typeface="Calibri"/>
              </a:rPr>
              <a:t> </a:t>
            </a:r>
            <a:r>
              <a:rPr sz="2000" b="1" spc="5" dirty="0">
                <a:latin typeface="Calibri"/>
                <a:cs typeface="Calibri"/>
              </a:rPr>
              <a:t>G</a:t>
            </a:r>
            <a:r>
              <a:rPr sz="2000" b="1" spc="40" dirty="0">
                <a:latin typeface="Calibri"/>
                <a:cs typeface="Calibri"/>
              </a:rPr>
              <a:t>e</a:t>
            </a:r>
            <a:r>
              <a:rPr sz="2000" b="1" spc="-20" dirty="0">
                <a:latin typeface="Calibri"/>
                <a:cs typeface="Calibri"/>
              </a:rPr>
              <a:t>a</a:t>
            </a:r>
            <a:r>
              <a:rPr sz="2000" b="1" spc="20" dirty="0">
                <a:latin typeface="Calibri"/>
                <a:cs typeface="Calibri"/>
              </a:rPr>
              <a:t>r</a:t>
            </a:r>
            <a:r>
              <a:rPr sz="2000" b="1" spc="5" dirty="0">
                <a:latin typeface="Calibri"/>
                <a:cs typeface="Calibri"/>
              </a:rPr>
              <a:t>:</a:t>
            </a:r>
            <a:r>
              <a:rPr sz="2000" b="1" spc="-110" dirty="0">
                <a:latin typeface="Calibri"/>
                <a:cs typeface="Calibri"/>
              </a:rPr>
              <a:t> </a:t>
            </a:r>
            <a:r>
              <a:rPr sz="2000" b="1" spc="30" dirty="0">
                <a:latin typeface="Calibri"/>
                <a:cs typeface="Calibri"/>
              </a:rPr>
              <a:t>R</a:t>
            </a:r>
            <a:r>
              <a:rPr sz="2000" b="1" spc="-20" dirty="0">
                <a:latin typeface="Calibri"/>
                <a:cs typeface="Calibri"/>
              </a:rPr>
              <a:t>a</a:t>
            </a:r>
            <a:r>
              <a:rPr sz="2000" b="1" spc="10" dirty="0">
                <a:latin typeface="Calibri"/>
                <a:cs typeface="Calibri"/>
              </a:rPr>
              <a:t>ck</a:t>
            </a:r>
            <a:r>
              <a:rPr sz="2000" b="1" spc="-100" dirty="0">
                <a:latin typeface="Calibri"/>
                <a:cs typeface="Calibri"/>
              </a:rPr>
              <a:t> </a:t>
            </a:r>
            <a:r>
              <a:rPr sz="2000" b="1" spc="15" dirty="0">
                <a:latin typeface="Calibri"/>
                <a:cs typeface="Calibri"/>
              </a:rPr>
              <a:t>&amp;</a:t>
            </a:r>
            <a:r>
              <a:rPr sz="2000" b="1" spc="-125" dirty="0">
                <a:latin typeface="Calibri"/>
                <a:cs typeface="Calibri"/>
              </a:rPr>
              <a:t> </a:t>
            </a:r>
            <a:r>
              <a:rPr sz="2000" b="1" dirty="0">
                <a:latin typeface="Calibri"/>
                <a:cs typeface="Calibri"/>
              </a:rPr>
              <a:t>P</a:t>
            </a:r>
            <a:r>
              <a:rPr sz="2000" b="1" spc="25" dirty="0">
                <a:latin typeface="Calibri"/>
                <a:cs typeface="Calibri"/>
              </a:rPr>
              <a:t>i</a:t>
            </a:r>
            <a:r>
              <a:rPr sz="2000" b="1" spc="-10" dirty="0">
                <a:latin typeface="Calibri"/>
                <a:cs typeface="Calibri"/>
              </a:rPr>
              <a:t>n</a:t>
            </a:r>
            <a:r>
              <a:rPr sz="2000" b="1" spc="25" dirty="0">
                <a:latin typeface="Calibri"/>
                <a:cs typeface="Calibri"/>
              </a:rPr>
              <a:t>i</a:t>
            </a:r>
            <a:r>
              <a:rPr sz="2000" b="1" spc="-10" dirty="0">
                <a:latin typeface="Calibri"/>
                <a:cs typeface="Calibri"/>
              </a:rPr>
              <a:t>o</a:t>
            </a:r>
            <a:r>
              <a:rPr sz="2000" b="1" spc="10" dirty="0">
                <a:latin typeface="Calibri"/>
                <a:cs typeface="Calibri"/>
              </a:rPr>
              <a:t>n</a:t>
            </a:r>
            <a:endParaRPr sz="2000" b="1" dirty="0">
              <a:latin typeface="Calibri"/>
              <a:cs typeface="Calibri"/>
            </a:endParaRPr>
          </a:p>
        </p:txBody>
      </p:sp>
      <p:sp>
        <p:nvSpPr>
          <p:cNvPr id="41" name="object 16"/>
          <p:cNvSpPr txBox="1"/>
          <p:nvPr/>
        </p:nvSpPr>
        <p:spPr>
          <a:xfrm>
            <a:off x="827584" y="3913294"/>
            <a:ext cx="3341115" cy="293029"/>
          </a:xfrm>
          <a:prstGeom prst="rect">
            <a:avLst/>
          </a:prstGeom>
        </p:spPr>
        <p:txBody>
          <a:bodyPr vert="horz" wrap="square" lIns="0" tIns="15875" rIns="0" bIns="0" rtlCol="0">
            <a:spAutoFit/>
          </a:bodyPr>
          <a:lstStyle/>
          <a:p>
            <a:pPr marL="12700">
              <a:lnSpc>
                <a:spcPct val="100000"/>
              </a:lnSpc>
              <a:spcBef>
                <a:spcPts val="125"/>
              </a:spcBef>
            </a:pPr>
            <a:r>
              <a:rPr b="1" spc="10" dirty="0">
                <a:latin typeface="Calibri"/>
                <a:cs typeface="Calibri"/>
              </a:rPr>
              <a:t>S</a:t>
            </a:r>
            <a:r>
              <a:rPr b="1" spc="35" dirty="0">
                <a:latin typeface="Calibri"/>
                <a:cs typeface="Calibri"/>
              </a:rPr>
              <a:t>tee</a:t>
            </a:r>
            <a:r>
              <a:rPr b="1" spc="20" dirty="0">
                <a:latin typeface="Calibri"/>
                <a:cs typeface="Calibri"/>
              </a:rPr>
              <a:t>r</a:t>
            </a:r>
            <a:r>
              <a:rPr b="1" spc="25" dirty="0">
                <a:latin typeface="Calibri"/>
                <a:cs typeface="Calibri"/>
              </a:rPr>
              <a:t>i</a:t>
            </a:r>
            <a:r>
              <a:rPr b="1" spc="-10" dirty="0">
                <a:latin typeface="Calibri"/>
                <a:cs typeface="Calibri"/>
              </a:rPr>
              <a:t>n</a:t>
            </a:r>
            <a:r>
              <a:rPr b="1" spc="10" dirty="0">
                <a:latin typeface="Calibri"/>
                <a:cs typeface="Calibri"/>
              </a:rPr>
              <a:t>g</a:t>
            </a:r>
            <a:r>
              <a:rPr b="1" spc="-95" dirty="0">
                <a:latin typeface="Calibri"/>
                <a:cs typeface="Calibri"/>
              </a:rPr>
              <a:t> </a:t>
            </a:r>
            <a:r>
              <a:rPr b="1" spc="10" dirty="0">
                <a:latin typeface="Calibri"/>
                <a:cs typeface="Calibri"/>
              </a:rPr>
              <a:t>Sy</a:t>
            </a:r>
            <a:r>
              <a:rPr b="1" spc="35" dirty="0">
                <a:latin typeface="Calibri"/>
                <a:cs typeface="Calibri"/>
              </a:rPr>
              <a:t>s</a:t>
            </a:r>
            <a:r>
              <a:rPr b="1" spc="-45" dirty="0">
                <a:latin typeface="Calibri"/>
                <a:cs typeface="Calibri"/>
              </a:rPr>
              <a:t>t</a:t>
            </a:r>
            <a:r>
              <a:rPr b="1" spc="-35" dirty="0">
                <a:latin typeface="Calibri"/>
                <a:cs typeface="Calibri"/>
              </a:rPr>
              <a:t>e</a:t>
            </a:r>
            <a:r>
              <a:rPr b="1" spc="-20" dirty="0">
                <a:latin typeface="Calibri"/>
                <a:cs typeface="Calibri"/>
              </a:rPr>
              <a:t>m</a:t>
            </a:r>
            <a:r>
              <a:rPr b="1" spc="5" dirty="0">
                <a:latin typeface="Calibri"/>
                <a:cs typeface="Calibri"/>
              </a:rPr>
              <a:t>:</a:t>
            </a:r>
            <a:r>
              <a:rPr b="1" spc="-110" dirty="0">
                <a:latin typeface="Calibri"/>
                <a:cs typeface="Calibri"/>
              </a:rPr>
              <a:t> </a:t>
            </a:r>
            <a:r>
              <a:rPr b="1" spc="45" dirty="0">
                <a:latin typeface="Calibri"/>
                <a:cs typeface="Calibri"/>
              </a:rPr>
              <a:t>A</a:t>
            </a:r>
            <a:r>
              <a:rPr b="1" spc="5" dirty="0">
                <a:latin typeface="Calibri"/>
                <a:cs typeface="Calibri"/>
              </a:rPr>
              <a:t>c</a:t>
            </a:r>
            <a:r>
              <a:rPr b="1" spc="-75" dirty="0">
                <a:latin typeface="Calibri"/>
                <a:cs typeface="Calibri"/>
              </a:rPr>
              <a:t>k</a:t>
            </a:r>
            <a:r>
              <a:rPr b="1" spc="35" dirty="0">
                <a:latin typeface="Calibri"/>
                <a:cs typeface="Calibri"/>
              </a:rPr>
              <a:t>e</a:t>
            </a:r>
            <a:r>
              <a:rPr b="1" spc="20" dirty="0">
                <a:latin typeface="Calibri"/>
                <a:cs typeface="Calibri"/>
              </a:rPr>
              <a:t>r</a:t>
            </a:r>
            <a:r>
              <a:rPr b="1" spc="-20" dirty="0">
                <a:latin typeface="Calibri"/>
                <a:cs typeface="Calibri"/>
              </a:rPr>
              <a:t>ma</a:t>
            </a:r>
            <a:r>
              <a:rPr b="1" spc="10" dirty="0">
                <a:latin typeface="Calibri"/>
                <a:cs typeface="Calibri"/>
              </a:rPr>
              <a:t>n</a:t>
            </a:r>
            <a:endParaRPr b="1" dirty="0">
              <a:latin typeface="Calibri"/>
              <a:cs typeface="Calibri"/>
            </a:endParaRPr>
          </a:p>
        </p:txBody>
      </p:sp>
      <p:sp>
        <p:nvSpPr>
          <p:cNvPr id="42" name="object 17"/>
          <p:cNvSpPr txBox="1"/>
          <p:nvPr/>
        </p:nvSpPr>
        <p:spPr>
          <a:xfrm>
            <a:off x="5206492" y="4594950"/>
            <a:ext cx="2942590" cy="231474"/>
          </a:xfrm>
          <a:prstGeom prst="rect">
            <a:avLst/>
          </a:prstGeom>
        </p:spPr>
        <p:txBody>
          <a:bodyPr vert="horz" wrap="square" lIns="0" tIns="15875" rIns="0" bIns="0" rtlCol="0">
            <a:spAutoFit/>
          </a:bodyPr>
          <a:lstStyle/>
          <a:p>
            <a:pPr marL="12700">
              <a:lnSpc>
                <a:spcPct val="100000"/>
              </a:lnSpc>
              <a:spcBef>
                <a:spcPts val="125"/>
              </a:spcBef>
            </a:pPr>
            <a:endParaRPr sz="1400" dirty="0">
              <a:latin typeface="Calibri"/>
              <a:cs typeface="Calibri"/>
            </a:endParaRPr>
          </a:p>
        </p:txBody>
      </p:sp>
      <p:sp>
        <p:nvSpPr>
          <p:cNvPr id="43" name="object 26"/>
          <p:cNvSpPr txBox="1"/>
          <p:nvPr/>
        </p:nvSpPr>
        <p:spPr>
          <a:xfrm>
            <a:off x="1619630" y="1690460"/>
            <a:ext cx="10287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7E7E7E"/>
                </a:solidFill>
                <a:latin typeface="Calibri"/>
                <a:cs typeface="Calibri"/>
              </a:rPr>
              <a:t>8</a:t>
            </a:r>
            <a:endParaRPr sz="1200">
              <a:latin typeface="Calibri"/>
              <a:cs typeface="Calibri"/>
            </a:endParaRPr>
          </a:p>
        </p:txBody>
      </p:sp>
      <p:pic>
        <p:nvPicPr>
          <p:cNvPr id="46" name="object 9"/>
          <p:cNvPicPr/>
          <p:nvPr/>
        </p:nvPicPr>
        <p:blipFill>
          <a:blip r:embed="rId3" cstate="print"/>
          <a:stretch>
            <a:fillRect/>
          </a:stretch>
        </p:blipFill>
        <p:spPr>
          <a:xfrm>
            <a:off x="751337" y="4342851"/>
            <a:ext cx="3200400" cy="2295525"/>
          </a:xfrm>
          <a:prstGeom prst="rect">
            <a:avLst/>
          </a:prstGeom>
        </p:spPr>
      </p:pic>
      <p:graphicFrame>
        <p:nvGraphicFramePr>
          <p:cNvPr id="50" name="object 6"/>
          <p:cNvGraphicFramePr>
            <a:graphicFrameLocks noGrp="1"/>
          </p:cNvGraphicFramePr>
          <p:nvPr>
            <p:extLst>
              <p:ext uri="{D42A27DB-BD31-4B8C-83A1-F6EECF244321}">
                <p14:modId xmlns:p14="http://schemas.microsoft.com/office/powerpoint/2010/main" val="3107390048"/>
              </p:ext>
            </p:extLst>
          </p:nvPr>
        </p:nvGraphicFramePr>
        <p:xfrm>
          <a:off x="4312018" y="4483151"/>
          <a:ext cx="1972945" cy="989328"/>
        </p:xfrm>
        <a:graphic>
          <a:graphicData uri="http://schemas.openxmlformats.org/drawingml/2006/table">
            <a:tbl>
              <a:tblPr firstRow="1" bandRow="1">
                <a:tableStyleId>{2D5ABB26-0587-4C30-8999-92F81FD0307C}</a:tableStyleId>
              </a:tblPr>
              <a:tblGrid>
                <a:gridCol w="834390">
                  <a:extLst>
                    <a:ext uri="{9D8B030D-6E8A-4147-A177-3AD203B41FA5}">
                      <a16:colId xmlns:a16="http://schemas.microsoft.com/office/drawing/2014/main" xmlns="" val="20000"/>
                    </a:ext>
                  </a:extLst>
                </a:gridCol>
                <a:gridCol w="1138555">
                  <a:extLst>
                    <a:ext uri="{9D8B030D-6E8A-4147-A177-3AD203B41FA5}">
                      <a16:colId xmlns:a16="http://schemas.microsoft.com/office/drawing/2014/main" xmlns="" val="20001"/>
                    </a:ext>
                  </a:extLst>
                </a:gridCol>
              </a:tblGrid>
              <a:tr h="494664">
                <a:tc>
                  <a:txBody>
                    <a:bodyPr/>
                    <a:lstStyle/>
                    <a:p>
                      <a:pPr marL="99060">
                        <a:lnSpc>
                          <a:spcPct val="100000"/>
                        </a:lnSpc>
                        <a:spcBef>
                          <a:spcPts val="990"/>
                        </a:spcBef>
                      </a:pPr>
                      <a:r>
                        <a:rPr sz="1400" b="1" spc="-20" dirty="0">
                          <a:latin typeface="Calibri"/>
                          <a:cs typeface="Calibri"/>
                        </a:rPr>
                        <a:t>Type</a:t>
                      </a:r>
                      <a:endParaRPr sz="1400">
                        <a:latin typeface="Calibri"/>
                        <a:cs typeface="Calibri"/>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9695">
                        <a:lnSpc>
                          <a:spcPct val="100000"/>
                        </a:lnSpc>
                        <a:spcBef>
                          <a:spcPts val="990"/>
                        </a:spcBef>
                      </a:pPr>
                      <a:r>
                        <a:rPr sz="1400" b="1" spc="5" dirty="0">
                          <a:latin typeface="Calibri"/>
                          <a:cs typeface="Calibri"/>
                        </a:rPr>
                        <a:t>Tilt</a:t>
                      </a:r>
                      <a:endParaRPr sz="1400">
                        <a:latin typeface="Calibri"/>
                        <a:cs typeface="Calibri"/>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extLst>
                  <a:ext uri="{0D108BD9-81ED-4DB2-BD59-A6C34878D82A}">
                    <a16:rowId xmlns:a16="http://schemas.microsoft.com/office/drawing/2014/main" xmlns="" val="10000"/>
                  </a:ext>
                </a:extLst>
              </a:tr>
              <a:tr h="494664">
                <a:tc>
                  <a:txBody>
                    <a:bodyPr/>
                    <a:lstStyle/>
                    <a:p>
                      <a:pPr marL="99060">
                        <a:lnSpc>
                          <a:spcPct val="100000"/>
                        </a:lnSpc>
                        <a:spcBef>
                          <a:spcPts val="994"/>
                        </a:spcBef>
                      </a:pPr>
                      <a:r>
                        <a:rPr sz="1400" spc="20" dirty="0">
                          <a:latin typeface="Calibri"/>
                          <a:cs typeface="Calibri"/>
                        </a:rPr>
                        <a:t>Assist</a:t>
                      </a:r>
                      <a:endParaRPr sz="1400">
                        <a:latin typeface="Calibri"/>
                        <a:cs typeface="Calibri"/>
                      </a:endParaRPr>
                    </a:p>
                  </a:txBody>
                  <a:tcPr marL="0" marR="0" marT="126364"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tc>
                  <a:txBody>
                    <a:bodyPr/>
                    <a:lstStyle/>
                    <a:p>
                      <a:pPr marL="99695">
                        <a:lnSpc>
                          <a:spcPct val="100000"/>
                        </a:lnSpc>
                        <a:spcBef>
                          <a:spcPts val="994"/>
                        </a:spcBef>
                      </a:pPr>
                      <a:r>
                        <a:rPr sz="1400" spc="10" dirty="0">
                          <a:latin typeface="Calibri"/>
                          <a:cs typeface="Calibri"/>
                        </a:rPr>
                        <a:t>Powerless</a:t>
                      </a:r>
                      <a:endParaRPr sz="1400" dirty="0">
                        <a:latin typeface="Calibri"/>
                        <a:cs typeface="Calibri"/>
                      </a:endParaRPr>
                    </a:p>
                  </a:txBody>
                  <a:tcPr marL="0" marR="0" marT="126364"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bl>
          </a:graphicData>
        </a:graphic>
      </p:graphicFrame>
      <p:graphicFrame>
        <p:nvGraphicFramePr>
          <p:cNvPr id="51" name="object 7"/>
          <p:cNvGraphicFramePr>
            <a:graphicFrameLocks noGrp="1"/>
          </p:cNvGraphicFramePr>
          <p:nvPr>
            <p:extLst>
              <p:ext uri="{D42A27DB-BD31-4B8C-83A1-F6EECF244321}">
                <p14:modId xmlns:p14="http://schemas.microsoft.com/office/powerpoint/2010/main" val="466312447"/>
              </p:ext>
            </p:extLst>
          </p:nvPr>
        </p:nvGraphicFramePr>
        <p:xfrm>
          <a:off x="6525776" y="4437112"/>
          <a:ext cx="2006663" cy="1053501"/>
        </p:xfrm>
        <a:graphic>
          <a:graphicData uri="http://schemas.openxmlformats.org/drawingml/2006/table">
            <a:tbl>
              <a:tblPr firstRow="1" bandRow="1">
                <a:tableStyleId>{2D5ABB26-0587-4C30-8999-92F81FD0307C}</a:tableStyleId>
              </a:tblPr>
              <a:tblGrid>
                <a:gridCol w="1084980">
                  <a:extLst>
                    <a:ext uri="{9D8B030D-6E8A-4147-A177-3AD203B41FA5}">
                      <a16:colId xmlns:a16="http://schemas.microsoft.com/office/drawing/2014/main" xmlns="" val="20000"/>
                    </a:ext>
                  </a:extLst>
                </a:gridCol>
                <a:gridCol w="921683">
                  <a:extLst>
                    <a:ext uri="{9D8B030D-6E8A-4147-A177-3AD203B41FA5}">
                      <a16:colId xmlns:a16="http://schemas.microsoft.com/office/drawing/2014/main" xmlns="" val="20001"/>
                    </a:ext>
                  </a:extLst>
                </a:gridCol>
              </a:tblGrid>
              <a:tr h="526676">
                <a:tc>
                  <a:txBody>
                    <a:bodyPr/>
                    <a:lstStyle/>
                    <a:p>
                      <a:pPr marL="99060">
                        <a:lnSpc>
                          <a:spcPct val="100000"/>
                        </a:lnSpc>
                        <a:spcBef>
                          <a:spcPts val="819"/>
                        </a:spcBef>
                      </a:pPr>
                      <a:r>
                        <a:rPr sz="1400" b="1" spc="15" dirty="0">
                          <a:latin typeface="Calibri"/>
                          <a:cs typeface="Calibri"/>
                        </a:rPr>
                        <a:t>Diameter</a:t>
                      </a:r>
                      <a:endParaRPr sz="1400">
                        <a:latin typeface="Calibri"/>
                        <a:cs typeface="Calibri"/>
                      </a:endParaRPr>
                    </a:p>
                  </a:txBody>
                  <a:tcPr marL="0" marR="0" marT="10413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9695">
                        <a:lnSpc>
                          <a:spcPct val="100000"/>
                        </a:lnSpc>
                        <a:spcBef>
                          <a:spcPts val="819"/>
                        </a:spcBef>
                      </a:pPr>
                      <a:r>
                        <a:rPr sz="1400" b="1" spc="15" dirty="0">
                          <a:latin typeface="Calibri"/>
                          <a:cs typeface="Calibri"/>
                        </a:rPr>
                        <a:t>240mm</a:t>
                      </a:r>
                      <a:endParaRPr sz="1400">
                        <a:latin typeface="Calibri"/>
                        <a:cs typeface="Calibri"/>
                      </a:endParaRPr>
                    </a:p>
                  </a:txBody>
                  <a:tcPr marL="0" marR="0" marT="10413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extLst>
                  <a:ext uri="{0D108BD9-81ED-4DB2-BD59-A6C34878D82A}">
                    <a16:rowId xmlns:a16="http://schemas.microsoft.com/office/drawing/2014/main" xmlns="" val="10000"/>
                  </a:ext>
                </a:extLst>
              </a:tr>
              <a:tr h="526825">
                <a:tc>
                  <a:txBody>
                    <a:bodyPr/>
                    <a:lstStyle/>
                    <a:p>
                      <a:pPr marL="99060">
                        <a:lnSpc>
                          <a:spcPct val="100000"/>
                        </a:lnSpc>
                        <a:spcBef>
                          <a:spcPts val="825"/>
                        </a:spcBef>
                      </a:pPr>
                      <a:r>
                        <a:rPr sz="1400" spc="-20" dirty="0">
                          <a:latin typeface="Calibri"/>
                          <a:cs typeface="Calibri"/>
                        </a:rPr>
                        <a:t>Torque</a:t>
                      </a:r>
                      <a:endParaRPr sz="1400">
                        <a:latin typeface="Calibri"/>
                        <a:cs typeface="Calibri"/>
                      </a:endParaRPr>
                    </a:p>
                  </a:txBody>
                  <a:tcPr marL="0" marR="0" marT="104775"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tc>
                  <a:txBody>
                    <a:bodyPr/>
                    <a:lstStyle/>
                    <a:p>
                      <a:pPr marL="99695">
                        <a:lnSpc>
                          <a:spcPct val="100000"/>
                        </a:lnSpc>
                        <a:spcBef>
                          <a:spcPts val="825"/>
                        </a:spcBef>
                      </a:pPr>
                      <a:r>
                        <a:rPr sz="1400" spc="20" dirty="0">
                          <a:latin typeface="Calibri"/>
                          <a:cs typeface="Calibri"/>
                        </a:rPr>
                        <a:t>5.88Nm</a:t>
                      </a:r>
                      <a:endParaRPr sz="1400" dirty="0">
                        <a:latin typeface="Calibri"/>
                        <a:cs typeface="Calibri"/>
                      </a:endParaRPr>
                    </a:p>
                  </a:txBody>
                  <a:tcPr marL="0" marR="0" marT="104775"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243526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object 13"/>
          <p:cNvPicPr/>
          <p:nvPr/>
        </p:nvPicPr>
        <p:blipFill>
          <a:blip r:embed="rId2" cstate="print"/>
          <a:stretch>
            <a:fillRect/>
          </a:stretch>
        </p:blipFill>
        <p:spPr>
          <a:xfrm>
            <a:off x="4592574" y="4941168"/>
            <a:ext cx="3981450" cy="1647823"/>
          </a:xfrm>
          <a:prstGeom prst="rect">
            <a:avLst/>
          </a:prstGeom>
        </p:spPr>
      </p:pic>
      <p:sp>
        <p:nvSpPr>
          <p:cNvPr id="2" name="Title 1"/>
          <p:cNvSpPr>
            <a:spLocks noGrp="1"/>
          </p:cNvSpPr>
          <p:nvPr>
            <p:ph type="title"/>
          </p:nvPr>
        </p:nvSpPr>
        <p:spPr>
          <a:xfrm>
            <a:off x="344424" y="279438"/>
            <a:ext cx="8229600" cy="1143000"/>
          </a:xfrm>
        </p:spPr>
        <p:txBody>
          <a:bodyPr/>
          <a:lstStyle/>
          <a:p>
            <a:r>
              <a:rPr lang="en-US" b="1" dirty="0" smtClean="0"/>
              <a:t>Steering</a:t>
            </a:r>
            <a:endParaRPr lang="en-IN" b="1" dirty="0"/>
          </a:p>
        </p:txBody>
      </p:sp>
      <p:pic>
        <p:nvPicPr>
          <p:cNvPr id="14" name="object 2"/>
          <p:cNvPicPr/>
          <p:nvPr/>
        </p:nvPicPr>
        <p:blipFill>
          <a:blip r:embed="rId3" cstate="print"/>
          <a:stretch>
            <a:fillRect/>
          </a:stretch>
        </p:blipFill>
        <p:spPr>
          <a:xfrm>
            <a:off x="5796136" y="1401409"/>
            <a:ext cx="3192172" cy="1704975"/>
          </a:xfrm>
          <a:prstGeom prst="rect">
            <a:avLst/>
          </a:prstGeom>
        </p:spPr>
      </p:pic>
      <p:graphicFrame>
        <p:nvGraphicFramePr>
          <p:cNvPr id="15" name="object 5"/>
          <p:cNvGraphicFramePr>
            <a:graphicFrameLocks noGrp="1"/>
          </p:cNvGraphicFramePr>
          <p:nvPr>
            <p:extLst>
              <p:ext uri="{D42A27DB-BD31-4B8C-83A1-F6EECF244321}">
                <p14:modId xmlns:p14="http://schemas.microsoft.com/office/powerpoint/2010/main" val="939659426"/>
              </p:ext>
            </p:extLst>
          </p:nvPr>
        </p:nvGraphicFramePr>
        <p:xfrm>
          <a:off x="278998" y="1304254"/>
          <a:ext cx="3034609" cy="1544782"/>
        </p:xfrm>
        <a:graphic>
          <a:graphicData uri="http://schemas.openxmlformats.org/drawingml/2006/table">
            <a:tbl>
              <a:tblPr firstRow="1" bandRow="1">
                <a:tableStyleId>{2D5ABB26-0587-4C30-8999-92F81FD0307C}</a:tableStyleId>
              </a:tblPr>
              <a:tblGrid>
                <a:gridCol w="1861019">
                  <a:extLst>
                    <a:ext uri="{9D8B030D-6E8A-4147-A177-3AD203B41FA5}">
                      <a16:colId xmlns:a16="http://schemas.microsoft.com/office/drawing/2014/main" xmlns="" val="20000"/>
                    </a:ext>
                  </a:extLst>
                </a:gridCol>
                <a:gridCol w="1173590">
                  <a:extLst>
                    <a:ext uri="{9D8B030D-6E8A-4147-A177-3AD203B41FA5}">
                      <a16:colId xmlns:a16="http://schemas.microsoft.com/office/drawing/2014/main" xmlns="" val="20001"/>
                    </a:ext>
                  </a:extLst>
                </a:gridCol>
              </a:tblGrid>
              <a:tr h="362743">
                <a:tc>
                  <a:txBody>
                    <a:bodyPr/>
                    <a:lstStyle/>
                    <a:p>
                      <a:pPr marL="91440">
                        <a:lnSpc>
                          <a:spcPct val="100000"/>
                        </a:lnSpc>
                        <a:spcBef>
                          <a:spcPts val="580"/>
                        </a:spcBef>
                      </a:pPr>
                      <a:r>
                        <a:rPr sz="1400" b="1" dirty="0">
                          <a:latin typeface="Calibri"/>
                          <a:cs typeface="Calibri"/>
                        </a:rPr>
                        <a:t>S</a:t>
                      </a:r>
                      <a:r>
                        <a:rPr sz="1400" b="1" spc="25" dirty="0">
                          <a:latin typeface="Calibri"/>
                          <a:cs typeface="Calibri"/>
                        </a:rPr>
                        <a:t>tee</a:t>
                      </a:r>
                      <a:r>
                        <a:rPr sz="1400" b="1" dirty="0">
                          <a:latin typeface="Calibri"/>
                          <a:cs typeface="Calibri"/>
                        </a:rPr>
                        <a:t>r</a:t>
                      </a:r>
                      <a:r>
                        <a:rPr sz="1400" b="1" spc="-70" dirty="0">
                          <a:latin typeface="Calibri"/>
                          <a:cs typeface="Calibri"/>
                        </a:rPr>
                        <a:t> </a:t>
                      </a:r>
                      <a:r>
                        <a:rPr sz="1400" b="1" spc="-110" dirty="0">
                          <a:latin typeface="Calibri"/>
                          <a:cs typeface="Calibri"/>
                        </a:rPr>
                        <a:t>T</a:t>
                      </a:r>
                      <a:r>
                        <a:rPr sz="1400" b="1" dirty="0">
                          <a:latin typeface="Calibri"/>
                          <a:cs typeface="Calibri"/>
                        </a:rPr>
                        <a:t>y</a:t>
                      </a:r>
                      <a:r>
                        <a:rPr sz="1400" b="1" spc="-20" dirty="0">
                          <a:latin typeface="Calibri"/>
                          <a:cs typeface="Calibri"/>
                        </a:rPr>
                        <a:t>p</a:t>
                      </a:r>
                      <a:r>
                        <a:rPr sz="1400" b="1" dirty="0">
                          <a:latin typeface="Calibri"/>
                          <a:cs typeface="Calibri"/>
                        </a:rPr>
                        <a:t>e</a:t>
                      </a:r>
                      <a:endParaRPr sz="1400" dirty="0">
                        <a:latin typeface="Calibri"/>
                        <a:cs typeface="Calibri"/>
                      </a:endParaRPr>
                    </a:p>
                  </a:txBody>
                  <a:tcPr marL="0" marR="0" marT="736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tc>
                  <a:txBody>
                    <a:bodyPr/>
                    <a:lstStyle/>
                    <a:p>
                      <a:pPr marL="92710">
                        <a:lnSpc>
                          <a:spcPct val="100000"/>
                        </a:lnSpc>
                        <a:spcBef>
                          <a:spcPts val="580"/>
                        </a:spcBef>
                      </a:pPr>
                      <a:r>
                        <a:rPr sz="1400" b="1" spc="15" dirty="0">
                          <a:latin typeface="Calibri"/>
                          <a:cs typeface="Calibri"/>
                        </a:rPr>
                        <a:t>Understeer</a:t>
                      </a:r>
                      <a:endParaRPr sz="1400">
                        <a:latin typeface="Calibri"/>
                        <a:cs typeface="Calibri"/>
                      </a:endParaRPr>
                    </a:p>
                  </a:txBody>
                  <a:tcPr marL="0" marR="0" marT="736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7C30"/>
                    </a:solidFill>
                  </a:tcPr>
                </a:tc>
                <a:extLst>
                  <a:ext uri="{0D108BD9-81ED-4DB2-BD59-A6C34878D82A}">
                    <a16:rowId xmlns:a16="http://schemas.microsoft.com/office/drawing/2014/main" xmlns="" val="10000"/>
                  </a:ext>
                </a:extLst>
              </a:tr>
              <a:tr h="362862">
                <a:tc>
                  <a:txBody>
                    <a:bodyPr/>
                    <a:lstStyle/>
                    <a:p>
                      <a:pPr marL="91440">
                        <a:lnSpc>
                          <a:spcPct val="100000"/>
                        </a:lnSpc>
                        <a:spcBef>
                          <a:spcPts val="580"/>
                        </a:spcBef>
                      </a:pPr>
                      <a:r>
                        <a:rPr sz="1400" dirty="0">
                          <a:latin typeface="Calibri"/>
                          <a:cs typeface="Calibri"/>
                        </a:rPr>
                        <a:t>A</a:t>
                      </a:r>
                      <a:r>
                        <a:rPr sz="1400" spc="-10" dirty="0">
                          <a:latin typeface="Calibri"/>
                          <a:cs typeface="Calibri"/>
                        </a:rPr>
                        <a:t>c</a:t>
                      </a:r>
                      <a:r>
                        <a:rPr sz="1400" spc="-50" dirty="0">
                          <a:latin typeface="Calibri"/>
                          <a:cs typeface="Calibri"/>
                        </a:rPr>
                        <a:t>k</a:t>
                      </a:r>
                      <a:r>
                        <a:rPr sz="1400" spc="-40" dirty="0">
                          <a:latin typeface="Calibri"/>
                          <a:cs typeface="Calibri"/>
                        </a:rPr>
                        <a:t>e</a:t>
                      </a:r>
                      <a:r>
                        <a:rPr sz="1400" spc="25" dirty="0">
                          <a:latin typeface="Calibri"/>
                          <a:cs typeface="Calibri"/>
                        </a:rPr>
                        <a:t>r</a:t>
                      </a:r>
                      <a:r>
                        <a:rPr sz="1400" spc="-20" dirty="0">
                          <a:latin typeface="Calibri"/>
                          <a:cs typeface="Calibri"/>
                        </a:rPr>
                        <a:t>m</a:t>
                      </a:r>
                      <a:r>
                        <a:rPr sz="1400" spc="-10" dirty="0">
                          <a:latin typeface="Calibri"/>
                          <a:cs typeface="Calibri"/>
                        </a:rPr>
                        <a:t>a</a:t>
                      </a:r>
                      <a:r>
                        <a:rPr sz="1400" dirty="0">
                          <a:latin typeface="Calibri"/>
                          <a:cs typeface="Calibri"/>
                        </a:rPr>
                        <a:t>n</a:t>
                      </a:r>
                      <a:r>
                        <a:rPr sz="1400" spc="-90" dirty="0">
                          <a:latin typeface="Calibri"/>
                          <a:cs typeface="Calibri"/>
                        </a:rPr>
                        <a:t> </a:t>
                      </a:r>
                      <a:r>
                        <a:rPr sz="1400" dirty="0">
                          <a:latin typeface="Calibri"/>
                          <a:cs typeface="Calibri"/>
                        </a:rPr>
                        <a:t>%</a:t>
                      </a:r>
                      <a:endParaRPr sz="1400">
                        <a:latin typeface="Calibri"/>
                        <a:cs typeface="Calibri"/>
                      </a:endParaRPr>
                    </a:p>
                  </a:txBody>
                  <a:tcPr marL="0" marR="0" marT="73660"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tc>
                  <a:txBody>
                    <a:bodyPr/>
                    <a:lstStyle/>
                    <a:p>
                      <a:pPr marL="92710">
                        <a:lnSpc>
                          <a:spcPct val="100000"/>
                        </a:lnSpc>
                        <a:spcBef>
                          <a:spcPts val="580"/>
                        </a:spcBef>
                      </a:pPr>
                      <a:r>
                        <a:rPr sz="1400" spc="30" dirty="0">
                          <a:latin typeface="Calibri"/>
                          <a:cs typeface="Calibri"/>
                        </a:rPr>
                        <a:t>99.98</a:t>
                      </a:r>
                      <a:endParaRPr sz="1400">
                        <a:latin typeface="Calibri"/>
                        <a:cs typeface="Calibri"/>
                      </a:endParaRPr>
                    </a:p>
                  </a:txBody>
                  <a:tcPr marL="0" marR="0" marT="73660" marB="0">
                    <a:lnL w="12700">
                      <a:solidFill>
                        <a:srgbClr val="EC7C30"/>
                      </a:solidFill>
                      <a:prstDash val="solid"/>
                    </a:lnL>
                    <a:lnR w="12700">
                      <a:solidFill>
                        <a:srgbClr val="EC7C30"/>
                      </a:solidFill>
                      <a:prstDash val="solid"/>
                    </a:lnR>
                    <a:lnT w="12700">
                      <a:solidFill>
                        <a:srgbClr val="FFFFFF"/>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1"/>
                  </a:ext>
                </a:extLst>
              </a:tr>
              <a:tr h="362742">
                <a:tc>
                  <a:txBody>
                    <a:bodyPr/>
                    <a:lstStyle/>
                    <a:p>
                      <a:pPr marL="91440">
                        <a:lnSpc>
                          <a:spcPct val="100000"/>
                        </a:lnSpc>
                        <a:spcBef>
                          <a:spcPts val="590"/>
                        </a:spcBef>
                      </a:pPr>
                      <a:r>
                        <a:rPr sz="1400" spc="-5" dirty="0">
                          <a:latin typeface="Calibri"/>
                          <a:cs typeface="Calibri"/>
                        </a:rPr>
                        <a:t>Steering</a:t>
                      </a:r>
                      <a:r>
                        <a:rPr sz="1400" spc="-30" dirty="0">
                          <a:latin typeface="Calibri"/>
                          <a:cs typeface="Calibri"/>
                        </a:rPr>
                        <a:t> </a:t>
                      </a:r>
                      <a:r>
                        <a:rPr sz="1400" dirty="0">
                          <a:latin typeface="Calibri"/>
                          <a:cs typeface="Calibri"/>
                        </a:rPr>
                        <a:t>angle</a:t>
                      </a:r>
                      <a:r>
                        <a:rPr sz="1400" spc="-55" dirty="0">
                          <a:latin typeface="Calibri"/>
                          <a:cs typeface="Calibri"/>
                        </a:rPr>
                        <a:t> </a:t>
                      </a:r>
                      <a:r>
                        <a:rPr sz="1400" dirty="0">
                          <a:latin typeface="Calibri"/>
                          <a:cs typeface="Calibri"/>
                        </a:rPr>
                        <a:t>inside</a:t>
                      </a:r>
                      <a:endParaRPr sz="1400">
                        <a:latin typeface="Calibri"/>
                        <a:cs typeface="Calibri"/>
                      </a:endParaRPr>
                    </a:p>
                  </a:txBody>
                  <a:tcPr marL="0" marR="0" marT="749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tc>
                  <a:txBody>
                    <a:bodyPr/>
                    <a:lstStyle/>
                    <a:p>
                      <a:pPr marL="92710">
                        <a:lnSpc>
                          <a:spcPct val="100000"/>
                        </a:lnSpc>
                        <a:spcBef>
                          <a:spcPts val="590"/>
                        </a:spcBef>
                      </a:pPr>
                      <a:r>
                        <a:rPr sz="1400" spc="25" dirty="0">
                          <a:latin typeface="Calibri"/>
                          <a:cs typeface="Calibri"/>
                        </a:rPr>
                        <a:t>45˚</a:t>
                      </a:r>
                      <a:endParaRPr sz="1400">
                        <a:latin typeface="Calibri"/>
                        <a:cs typeface="Calibri"/>
                      </a:endParaRPr>
                    </a:p>
                  </a:txBody>
                  <a:tcPr marL="0" marR="0" marT="74930"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tcPr>
                </a:tc>
                <a:extLst>
                  <a:ext uri="{0D108BD9-81ED-4DB2-BD59-A6C34878D82A}">
                    <a16:rowId xmlns:a16="http://schemas.microsoft.com/office/drawing/2014/main" xmlns="" val="10002"/>
                  </a:ext>
                </a:extLst>
              </a:tr>
              <a:tr h="456435">
                <a:tc>
                  <a:txBody>
                    <a:bodyPr/>
                    <a:lstStyle/>
                    <a:p>
                      <a:pPr marL="91440">
                        <a:lnSpc>
                          <a:spcPct val="100000"/>
                        </a:lnSpc>
                        <a:spcBef>
                          <a:spcPts val="985"/>
                        </a:spcBef>
                      </a:pPr>
                      <a:r>
                        <a:rPr sz="1400" spc="-5" dirty="0">
                          <a:latin typeface="Calibri"/>
                          <a:cs typeface="Calibri"/>
                        </a:rPr>
                        <a:t>Steering</a:t>
                      </a:r>
                      <a:r>
                        <a:rPr sz="1400" spc="-35" dirty="0">
                          <a:latin typeface="Calibri"/>
                          <a:cs typeface="Calibri"/>
                        </a:rPr>
                        <a:t> </a:t>
                      </a:r>
                      <a:r>
                        <a:rPr sz="1400" dirty="0">
                          <a:latin typeface="Calibri"/>
                          <a:cs typeface="Calibri"/>
                        </a:rPr>
                        <a:t>angle</a:t>
                      </a:r>
                      <a:r>
                        <a:rPr sz="1400" spc="-65" dirty="0">
                          <a:latin typeface="Calibri"/>
                          <a:cs typeface="Calibri"/>
                        </a:rPr>
                        <a:t> </a:t>
                      </a:r>
                      <a:r>
                        <a:rPr sz="1400" spc="5" dirty="0">
                          <a:latin typeface="Calibri"/>
                          <a:cs typeface="Calibri"/>
                        </a:rPr>
                        <a:t>outside</a:t>
                      </a:r>
                      <a:endParaRPr sz="1400">
                        <a:latin typeface="Calibri"/>
                        <a:cs typeface="Calibri"/>
                      </a:endParaRPr>
                    </a:p>
                  </a:txBody>
                  <a:tcPr marL="0" marR="0" marT="1250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tc>
                  <a:txBody>
                    <a:bodyPr/>
                    <a:lstStyle/>
                    <a:p>
                      <a:pPr marL="92710">
                        <a:lnSpc>
                          <a:spcPct val="100000"/>
                        </a:lnSpc>
                        <a:spcBef>
                          <a:spcPts val="985"/>
                        </a:spcBef>
                      </a:pPr>
                      <a:r>
                        <a:rPr sz="1400" spc="30" dirty="0">
                          <a:latin typeface="Calibri"/>
                          <a:cs typeface="Calibri"/>
                        </a:rPr>
                        <a:t>27.957˚</a:t>
                      </a:r>
                      <a:endParaRPr sz="1400" dirty="0">
                        <a:latin typeface="Calibri"/>
                        <a:cs typeface="Calibri"/>
                      </a:endParaRPr>
                    </a:p>
                  </a:txBody>
                  <a:tcPr marL="0" marR="0" marT="125095" marB="0">
                    <a:lnL w="12700">
                      <a:solidFill>
                        <a:srgbClr val="EC7C30"/>
                      </a:solidFill>
                      <a:prstDash val="solid"/>
                    </a:lnL>
                    <a:lnR w="12700">
                      <a:solidFill>
                        <a:srgbClr val="EC7C30"/>
                      </a:solidFill>
                      <a:prstDash val="solid"/>
                    </a:lnR>
                    <a:lnT w="12700">
                      <a:solidFill>
                        <a:srgbClr val="EC7C30"/>
                      </a:solidFill>
                      <a:prstDash val="solid"/>
                    </a:lnT>
                    <a:lnB w="12700">
                      <a:solidFill>
                        <a:srgbClr val="EC7C30"/>
                      </a:solidFill>
                      <a:prstDash val="solid"/>
                    </a:lnB>
                    <a:solidFill>
                      <a:srgbClr val="FBE4D5"/>
                    </a:solidFill>
                  </a:tcPr>
                </a:tc>
                <a:extLst>
                  <a:ext uri="{0D108BD9-81ED-4DB2-BD59-A6C34878D82A}">
                    <a16:rowId xmlns:a16="http://schemas.microsoft.com/office/drawing/2014/main" xmlns="" val="10003"/>
                  </a:ext>
                </a:extLst>
              </a:tr>
            </a:tbl>
          </a:graphicData>
        </a:graphic>
      </p:graphicFrame>
      <p:pic>
        <p:nvPicPr>
          <p:cNvPr id="16" name="object 10"/>
          <p:cNvPicPr/>
          <p:nvPr/>
        </p:nvPicPr>
        <p:blipFill>
          <a:blip r:embed="rId4" cstate="print"/>
          <a:stretch>
            <a:fillRect/>
          </a:stretch>
        </p:blipFill>
        <p:spPr>
          <a:xfrm>
            <a:off x="4273423" y="3471642"/>
            <a:ext cx="2458817" cy="1519529"/>
          </a:xfrm>
          <a:prstGeom prst="rect">
            <a:avLst/>
          </a:prstGeom>
        </p:spPr>
      </p:pic>
      <p:pic>
        <p:nvPicPr>
          <p:cNvPr id="17" name="object 11"/>
          <p:cNvPicPr/>
          <p:nvPr/>
        </p:nvPicPr>
        <p:blipFill>
          <a:blip r:embed="rId5" cstate="print"/>
          <a:stretch>
            <a:fillRect/>
          </a:stretch>
        </p:blipFill>
        <p:spPr>
          <a:xfrm>
            <a:off x="6636141" y="3501008"/>
            <a:ext cx="2524125" cy="1543050"/>
          </a:xfrm>
          <a:prstGeom prst="rect">
            <a:avLst/>
          </a:prstGeom>
        </p:spPr>
      </p:pic>
      <p:pic>
        <p:nvPicPr>
          <p:cNvPr id="18" name="object 12"/>
          <p:cNvPicPr/>
          <p:nvPr/>
        </p:nvPicPr>
        <p:blipFill>
          <a:blip r:embed="rId6" cstate="print"/>
          <a:stretch>
            <a:fillRect/>
          </a:stretch>
        </p:blipFill>
        <p:spPr>
          <a:xfrm>
            <a:off x="110998" y="3189679"/>
            <a:ext cx="4162425" cy="1647825"/>
          </a:xfrm>
          <a:prstGeom prst="rect">
            <a:avLst/>
          </a:prstGeom>
        </p:spPr>
      </p:pic>
      <p:pic>
        <p:nvPicPr>
          <p:cNvPr id="20" name="object 14"/>
          <p:cNvPicPr/>
          <p:nvPr/>
        </p:nvPicPr>
        <p:blipFill>
          <a:blip r:embed="rId7" cstate="print"/>
          <a:stretch>
            <a:fillRect/>
          </a:stretch>
        </p:blipFill>
        <p:spPr>
          <a:xfrm>
            <a:off x="246812" y="5159037"/>
            <a:ext cx="3686175" cy="1647823"/>
          </a:xfrm>
          <a:prstGeom prst="rect">
            <a:avLst/>
          </a:prstGeom>
        </p:spPr>
      </p:pic>
      <p:sp>
        <p:nvSpPr>
          <p:cNvPr id="21" name="object 16"/>
          <p:cNvSpPr txBox="1"/>
          <p:nvPr/>
        </p:nvSpPr>
        <p:spPr>
          <a:xfrm>
            <a:off x="827584" y="864899"/>
            <a:ext cx="2054860" cy="243204"/>
          </a:xfrm>
          <a:prstGeom prst="rect">
            <a:avLst/>
          </a:prstGeom>
        </p:spPr>
        <p:txBody>
          <a:bodyPr vert="horz" wrap="square" lIns="0" tIns="15875" rIns="0" bIns="0" rtlCol="0">
            <a:spAutoFit/>
          </a:bodyPr>
          <a:lstStyle/>
          <a:p>
            <a:pPr marL="12700">
              <a:lnSpc>
                <a:spcPct val="100000"/>
              </a:lnSpc>
              <a:spcBef>
                <a:spcPts val="125"/>
              </a:spcBef>
            </a:pPr>
            <a:r>
              <a:rPr sz="1400" b="1" spc="10" dirty="0">
                <a:latin typeface="Calibri"/>
                <a:cs typeface="Calibri"/>
              </a:rPr>
              <a:t>S</a:t>
            </a:r>
            <a:r>
              <a:rPr sz="1400" b="1" spc="35" dirty="0">
                <a:latin typeface="Calibri"/>
                <a:cs typeface="Calibri"/>
              </a:rPr>
              <a:t>tee</a:t>
            </a:r>
            <a:r>
              <a:rPr sz="1400" b="1" spc="20" dirty="0">
                <a:latin typeface="Calibri"/>
                <a:cs typeface="Calibri"/>
              </a:rPr>
              <a:t>r</a:t>
            </a:r>
            <a:r>
              <a:rPr sz="1400" b="1" spc="25" dirty="0">
                <a:latin typeface="Calibri"/>
                <a:cs typeface="Calibri"/>
              </a:rPr>
              <a:t>i</a:t>
            </a:r>
            <a:r>
              <a:rPr sz="1400" b="1" spc="-10" dirty="0">
                <a:latin typeface="Calibri"/>
                <a:cs typeface="Calibri"/>
              </a:rPr>
              <a:t>n</a:t>
            </a:r>
            <a:r>
              <a:rPr sz="1400" b="1" spc="10" dirty="0">
                <a:latin typeface="Calibri"/>
                <a:cs typeface="Calibri"/>
              </a:rPr>
              <a:t>g</a:t>
            </a:r>
            <a:r>
              <a:rPr sz="1400" b="1" spc="-95" dirty="0">
                <a:latin typeface="Calibri"/>
                <a:cs typeface="Calibri"/>
              </a:rPr>
              <a:t> </a:t>
            </a:r>
            <a:r>
              <a:rPr sz="1400" b="1" spc="10" dirty="0">
                <a:latin typeface="Calibri"/>
                <a:cs typeface="Calibri"/>
              </a:rPr>
              <a:t>Sy</a:t>
            </a:r>
            <a:r>
              <a:rPr sz="1400" b="1" spc="35" dirty="0">
                <a:latin typeface="Calibri"/>
                <a:cs typeface="Calibri"/>
              </a:rPr>
              <a:t>s</a:t>
            </a:r>
            <a:r>
              <a:rPr sz="1400" b="1" spc="-45" dirty="0">
                <a:latin typeface="Calibri"/>
                <a:cs typeface="Calibri"/>
              </a:rPr>
              <a:t>t</a:t>
            </a:r>
            <a:r>
              <a:rPr sz="1400" b="1" spc="-35" dirty="0">
                <a:latin typeface="Calibri"/>
                <a:cs typeface="Calibri"/>
              </a:rPr>
              <a:t>e</a:t>
            </a:r>
            <a:r>
              <a:rPr sz="1400" b="1" spc="-20" dirty="0">
                <a:latin typeface="Calibri"/>
                <a:cs typeface="Calibri"/>
              </a:rPr>
              <a:t>m</a:t>
            </a:r>
            <a:r>
              <a:rPr sz="1400" b="1" spc="5" dirty="0">
                <a:latin typeface="Calibri"/>
                <a:cs typeface="Calibri"/>
              </a:rPr>
              <a:t>:</a:t>
            </a:r>
            <a:r>
              <a:rPr sz="1400" b="1" spc="-110" dirty="0">
                <a:latin typeface="Calibri"/>
                <a:cs typeface="Calibri"/>
              </a:rPr>
              <a:t> </a:t>
            </a:r>
            <a:r>
              <a:rPr sz="1400" b="1" spc="45" dirty="0">
                <a:latin typeface="Calibri"/>
                <a:cs typeface="Calibri"/>
              </a:rPr>
              <a:t>A</a:t>
            </a:r>
            <a:r>
              <a:rPr sz="1400" b="1" spc="5" dirty="0">
                <a:latin typeface="Calibri"/>
                <a:cs typeface="Calibri"/>
              </a:rPr>
              <a:t>c</a:t>
            </a:r>
            <a:r>
              <a:rPr sz="1400" b="1" spc="-75" dirty="0">
                <a:latin typeface="Calibri"/>
                <a:cs typeface="Calibri"/>
              </a:rPr>
              <a:t>k</a:t>
            </a:r>
            <a:r>
              <a:rPr sz="1400" b="1" spc="35" dirty="0">
                <a:latin typeface="Calibri"/>
                <a:cs typeface="Calibri"/>
              </a:rPr>
              <a:t>e</a:t>
            </a:r>
            <a:r>
              <a:rPr sz="1400" b="1" spc="20" dirty="0">
                <a:latin typeface="Calibri"/>
                <a:cs typeface="Calibri"/>
              </a:rPr>
              <a:t>r</a:t>
            </a:r>
            <a:r>
              <a:rPr sz="1400" b="1" spc="-20" dirty="0">
                <a:latin typeface="Calibri"/>
                <a:cs typeface="Calibri"/>
              </a:rPr>
              <a:t>ma</a:t>
            </a:r>
            <a:r>
              <a:rPr sz="1400" b="1" spc="10" dirty="0">
                <a:latin typeface="Calibri"/>
                <a:cs typeface="Calibri"/>
              </a:rPr>
              <a:t>n</a:t>
            </a:r>
            <a:endParaRPr sz="1400" dirty="0">
              <a:latin typeface="Calibri"/>
              <a:cs typeface="Calibri"/>
            </a:endParaRPr>
          </a:p>
        </p:txBody>
      </p:sp>
      <p:sp>
        <p:nvSpPr>
          <p:cNvPr id="22" name="object 17"/>
          <p:cNvSpPr txBox="1"/>
          <p:nvPr/>
        </p:nvSpPr>
        <p:spPr>
          <a:xfrm>
            <a:off x="6045718" y="1057985"/>
            <a:ext cx="2942590" cy="243204"/>
          </a:xfrm>
          <a:prstGeom prst="rect">
            <a:avLst/>
          </a:prstGeom>
        </p:spPr>
        <p:txBody>
          <a:bodyPr vert="horz" wrap="square" lIns="0" tIns="15875" rIns="0" bIns="0" rtlCol="0">
            <a:spAutoFit/>
          </a:bodyPr>
          <a:lstStyle/>
          <a:p>
            <a:pPr marL="12700">
              <a:lnSpc>
                <a:spcPct val="100000"/>
              </a:lnSpc>
              <a:spcBef>
                <a:spcPts val="125"/>
              </a:spcBef>
            </a:pPr>
            <a:r>
              <a:rPr sz="1400" b="1" spc="35" dirty="0">
                <a:latin typeface="Calibri"/>
                <a:cs typeface="Calibri"/>
              </a:rPr>
              <a:t>R</a:t>
            </a:r>
            <a:r>
              <a:rPr sz="1400" b="1" spc="-20" dirty="0">
                <a:latin typeface="Calibri"/>
                <a:cs typeface="Calibri"/>
              </a:rPr>
              <a:t>a</a:t>
            </a:r>
            <a:r>
              <a:rPr sz="1400" b="1" spc="5" dirty="0">
                <a:latin typeface="Calibri"/>
                <a:cs typeface="Calibri"/>
              </a:rPr>
              <a:t>c</a:t>
            </a:r>
            <a:r>
              <a:rPr sz="1400" b="1" spc="10" dirty="0">
                <a:latin typeface="Calibri"/>
                <a:cs typeface="Calibri"/>
              </a:rPr>
              <a:t>k</a:t>
            </a:r>
            <a:r>
              <a:rPr sz="1400" b="1" spc="-25" dirty="0">
                <a:latin typeface="Calibri"/>
                <a:cs typeface="Calibri"/>
              </a:rPr>
              <a:t> </a:t>
            </a:r>
            <a:r>
              <a:rPr sz="1400" b="1" spc="-100" dirty="0">
                <a:latin typeface="Calibri"/>
                <a:cs typeface="Calibri"/>
              </a:rPr>
              <a:t>T</a:t>
            </a:r>
            <a:r>
              <a:rPr sz="1400" b="1" spc="20" dirty="0">
                <a:latin typeface="Calibri"/>
                <a:cs typeface="Calibri"/>
              </a:rPr>
              <a:t>r</a:t>
            </a:r>
            <a:r>
              <a:rPr sz="1400" b="1" spc="-20" dirty="0">
                <a:latin typeface="Calibri"/>
                <a:cs typeface="Calibri"/>
              </a:rPr>
              <a:t>a</a:t>
            </a:r>
            <a:r>
              <a:rPr sz="1400" b="1" spc="5" dirty="0">
                <a:latin typeface="Calibri"/>
                <a:cs typeface="Calibri"/>
              </a:rPr>
              <a:t>v</a:t>
            </a:r>
            <a:r>
              <a:rPr sz="1400" b="1" spc="35" dirty="0">
                <a:latin typeface="Calibri"/>
                <a:cs typeface="Calibri"/>
              </a:rPr>
              <a:t>e</a:t>
            </a:r>
            <a:r>
              <a:rPr sz="1400" b="1" spc="5" dirty="0">
                <a:latin typeface="Calibri"/>
                <a:cs typeface="Calibri"/>
              </a:rPr>
              <a:t>l</a:t>
            </a:r>
            <a:r>
              <a:rPr sz="1400" b="1" spc="-70" dirty="0">
                <a:latin typeface="Calibri"/>
                <a:cs typeface="Calibri"/>
              </a:rPr>
              <a:t> </a:t>
            </a:r>
            <a:r>
              <a:rPr sz="1400" b="1" spc="-80" dirty="0">
                <a:latin typeface="Calibri"/>
                <a:cs typeface="Calibri"/>
              </a:rPr>
              <a:t>V</a:t>
            </a:r>
            <a:r>
              <a:rPr sz="1400" b="1" spc="-5" dirty="0">
                <a:latin typeface="Calibri"/>
                <a:cs typeface="Calibri"/>
              </a:rPr>
              <a:t>/</a:t>
            </a:r>
            <a:r>
              <a:rPr sz="1400" b="1" spc="10" dirty="0">
                <a:latin typeface="Calibri"/>
                <a:cs typeface="Calibri"/>
              </a:rPr>
              <a:t>S</a:t>
            </a:r>
            <a:r>
              <a:rPr sz="1400" b="1" spc="-95" dirty="0">
                <a:latin typeface="Calibri"/>
                <a:cs typeface="Calibri"/>
              </a:rPr>
              <a:t> </a:t>
            </a:r>
            <a:r>
              <a:rPr sz="1400" b="1" spc="-5" dirty="0">
                <a:latin typeface="Calibri"/>
                <a:cs typeface="Calibri"/>
              </a:rPr>
              <a:t>I</a:t>
            </a:r>
            <a:r>
              <a:rPr sz="1400" b="1" spc="-10" dirty="0">
                <a:latin typeface="Calibri"/>
                <a:cs typeface="Calibri"/>
              </a:rPr>
              <a:t>nn</a:t>
            </a:r>
            <a:r>
              <a:rPr sz="1400" b="1" spc="35" dirty="0">
                <a:latin typeface="Calibri"/>
                <a:cs typeface="Calibri"/>
              </a:rPr>
              <a:t>e</a:t>
            </a:r>
            <a:r>
              <a:rPr sz="1400" b="1" spc="5" dirty="0">
                <a:latin typeface="Calibri"/>
                <a:cs typeface="Calibri"/>
              </a:rPr>
              <a:t>r</a:t>
            </a:r>
            <a:r>
              <a:rPr sz="1400" b="1" spc="-75" dirty="0">
                <a:latin typeface="Calibri"/>
                <a:cs typeface="Calibri"/>
              </a:rPr>
              <a:t> </a:t>
            </a:r>
            <a:r>
              <a:rPr sz="1400" b="1" spc="45" dirty="0">
                <a:latin typeface="Calibri"/>
                <a:cs typeface="Calibri"/>
              </a:rPr>
              <a:t>A</a:t>
            </a:r>
            <a:r>
              <a:rPr sz="1400" b="1" spc="-10" dirty="0">
                <a:latin typeface="Calibri"/>
                <a:cs typeface="Calibri"/>
              </a:rPr>
              <a:t>n</a:t>
            </a:r>
            <a:r>
              <a:rPr sz="1400" b="1" spc="10" dirty="0">
                <a:latin typeface="Calibri"/>
                <a:cs typeface="Calibri"/>
              </a:rPr>
              <a:t>d</a:t>
            </a:r>
            <a:r>
              <a:rPr sz="1400" b="1" spc="-35" dirty="0">
                <a:latin typeface="Calibri"/>
                <a:cs typeface="Calibri"/>
              </a:rPr>
              <a:t> </a:t>
            </a:r>
            <a:r>
              <a:rPr sz="1400" b="1" spc="20" dirty="0">
                <a:latin typeface="Calibri"/>
                <a:cs typeface="Calibri"/>
              </a:rPr>
              <a:t>O</a:t>
            </a:r>
            <a:r>
              <a:rPr sz="1400" b="1" spc="-10" dirty="0">
                <a:latin typeface="Calibri"/>
                <a:cs typeface="Calibri"/>
              </a:rPr>
              <a:t>u</a:t>
            </a:r>
            <a:r>
              <a:rPr sz="1400" b="1" spc="35" dirty="0">
                <a:latin typeface="Calibri"/>
                <a:cs typeface="Calibri"/>
              </a:rPr>
              <a:t>te</a:t>
            </a:r>
            <a:r>
              <a:rPr sz="1400" b="1" spc="5" dirty="0">
                <a:latin typeface="Calibri"/>
                <a:cs typeface="Calibri"/>
              </a:rPr>
              <a:t>r</a:t>
            </a:r>
            <a:r>
              <a:rPr sz="1400" b="1" spc="-75" dirty="0">
                <a:latin typeface="Calibri"/>
                <a:cs typeface="Calibri"/>
              </a:rPr>
              <a:t> </a:t>
            </a:r>
            <a:r>
              <a:rPr sz="1400" b="1" spc="45" dirty="0">
                <a:latin typeface="Calibri"/>
                <a:cs typeface="Calibri"/>
              </a:rPr>
              <a:t>A</a:t>
            </a:r>
            <a:r>
              <a:rPr sz="1400" b="1" spc="-10" dirty="0">
                <a:latin typeface="Calibri"/>
                <a:cs typeface="Calibri"/>
              </a:rPr>
              <a:t>n</a:t>
            </a:r>
            <a:r>
              <a:rPr sz="1400" b="1" spc="5" dirty="0">
                <a:latin typeface="Calibri"/>
                <a:cs typeface="Calibri"/>
              </a:rPr>
              <a:t>g</a:t>
            </a:r>
            <a:r>
              <a:rPr sz="1400" b="1" spc="25" dirty="0">
                <a:latin typeface="Calibri"/>
                <a:cs typeface="Calibri"/>
              </a:rPr>
              <a:t>l</a:t>
            </a:r>
            <a:r>
              <a:rPr sz="1400" b="1" spc="35" dirty="0">
                <a:latin typeface="Calibri"/>
                <a:cs typeface="Calibri"/>
              </a:rPr>
              <a:t>e</a:t>
            </a:r>
            <a:r>
              <a:rPr sz="1400" b="1" spc="10" dirty="0">
                <a:latin typeface="Calibri"/>
                <a:cs typeface="Calibri"/>
              </a:rPr>
              <a:t>s</a:t>
            </a:r>
            <a:endParaRPr sz="1400" dirty="0">
              <a:latin typeface="Calibri"/>
              <a:cs typeface="Calibri"/>
            </a:endParaRPr>
          </a:p>
        </p:txBody>
      </p:sp>
      <p:sp>
        <p:nvSpPr>
          <p:cNvPr id="23" name="object 18"/>
          <p:cNvSpPr txBox="1"/>
          <p:nvPr/>
        </p:nvSpPr>
        <p:spPr>
          <a:xfrm>
            <a:off x="1390532" y="4845688"/>
            <a:ext cx="1329690" cy="243204"/>
          </a:xfrm>
          <a:prstGeom prst="rect">
            <a:avLst/>
          </a:prstGeom>
        </p:spPr>
        <p:txBody>
          <a:bodyPr vert="horz" wrap="square" lIns="0" tIns="15875" rIns="0" bIns="0" rtlCol="0">
            <a:spAutoFit/>
          </a:bodyPr>
          <a:lstStyle/>
          <a:p>
            <a:pPr marL="12700">
              <a:lnSpc>
                <a:spcPct val="100000"/>
              </a:lnSpc>
              <a:spcBef>
                <a:spcPts val="125"/>
              </a:spcBef>
            </a:pPr>
            <a:r>
              <a:rPr sz="1400" b="1" spc="10" dirty="0">
                <a:latin typeface="Calibri"/>
                <a:cs typeface="Calibri"/>
              </a:rPr>
              <a:t>L</a:t>
            </a:r>
            <a:r>
              <a:rPr sz="1400" b="1" spc="-25" dirty="0">
                <a:latin typeface="Calibri"/>
                <a:cs typeface="Calibri"/>
              </a:rPr>
              <a:t>a</a:t>
            </a:r>
            <a:r>
              <a:rPr sz="1400" b="1" spc="10" dirty="0">
                <a:latin typeface="Calibri"/>
                <a:cs typeface="Calibri"/>
              </a:rPr>
              <a:t>y</a:t>
            </a:r>
            <a:r>
              <a:rPr sz="1400" b="1" spc="-10" dirty="0">
                <a:latin typeface="Calibri"/>
                <a:cs typeface="Calibri"/>
              </a:rPr>
              <a:t>ou</a:t>
            </a:r>
            <a:r>
              <a:rPr sz="1400" b="1" spc="5" dirty="0">
                <a:latin typeface="Calibri"/>
                <a:cs typeface="Calibri"/>
              </a:rPr>
              <a:t>t</a:t>
            </a:r>
            <a:r>
              <a:rPr sz="1400" b="1" spc="-65" dirty="0">
                <a:latin typeface="Calibri"/>
                <a:cs typeface="Calibri"/>
              </a:rPr>
              <a:t> </a:t>
            </a:r>
            <a:r>
              <a:rPr sz="1400" b="1" spc="25" dirty="0">
                <a:latin typeface="Calibri"/>
                <a:cs typeface="Calibri"/>
              </a:rPr>
              <a:t>i</a:t>
            </a:r>
            <a:r>
              <a:rPr sz="1400" b="1" spc="10" dirty="0">
                <a:latin typeface="Calibri"/>
                <a:cs typeface="Calibri"/>
              </a:rPr>
              <a:t>n</a:t>
            </a:r>
            <a:r>
              <a:rPr sz="1400" b="1" spc="-35" dirty="0">
                <a:latin typeface="Calibri"/>
                <a:cs typeface="Calibri"/>
              </a:rPr>
              <a:t> </a:t>
            </a:r>
            <a:r>
              <a:rPr sz="1400" b="1" spc="45" dirty="0">
                <a:latin typeface="Calibri"/>
                <a:cs typeface="Calibri"/>
              </a:rPr>
              <a:t>A</a:t>
            </a:r>
            <a:r>
              <a:rPr sz="1400" b="1" spc="10" dirty="0">
                <a:latin typeface="Calibri"/>
                <a:cs typeface="Calibri"/>
              </a:rPr>
              <a:t>D</a:t>
            </a:r>
            <a:r>
              <a:rPr sz="1400" b="1" spc="45" dirty="0">
                <a:latin typeface="Calibri"/>
                <a:cs typeface="Calibri"/>
              </a:rPr>
              <a:t>AM</a:t>
            </a:r>
            <a:r>
              <a:rPr sz="1400" b="1" spc="10" dirty="0">
                <a:latin typeface="Calibri"/>
                <a:cs typeface="Calibri"/>
              </a:rPr>
              <a:t>S</a:t>
            </a:r>
            <a:endParaRPr sz="1400" dirty="0">
              <a:latin typeface="Calibri"/>
              <a:cs typeface="Calibri"/>
            </a:endParaRPr>
          </a:p>
        </p:txBody>
      </p:sp>
      <p:sp>
        <p:nvSpPr>
          <p:cNvPr id="24" name="object 19"/>
          <p:cNvSpPr txBox="1"/>
          <p:nvPr/>
        </p:nvSpPr>
        <p:spPr>
          <a:xfrm>
            <a:off x="5494991" y="6563656"/>
            <a:ext cx="2524760" cy="243204"/>
          </a:xfrm>
          <a:prstGeom prst="rect">
            <a:avLst/>
          </a:prstGeom>
        </p:spPr>
        <p:txBody>
          <a:bodyPr vert="horz" wrap="square" lIns="0" tIns="15875" rIns="0" bIns="0" rtlCol="0">
            <a:spAutoFit/>
          </a:bodyPr>
          <a:lstStyle/>
          <a:p>
            <a:pPr marL="12700">
              <a:lnSpc>
                <a:spcPct val="100000"/>
              </a:lnSpc>
              <a:spcBef>
                <a:spcPts val="125"/>
              </a:spcBef>
            </a:pPr>
            <a:r>
              <a:rPr sz="1400" b="1" spc="5" dirty="0">
                <a:latin typeface="Calibri"/>
                <a:cs typeface="Calibri"/>
              </a:rPr>
              <a:t>Lotus</a:t>
            </a:r>
            <a:r>
              <a:rPr sz="1400" b="1" spc="-65" dirty="0">
                <a:latin typeface="Calibri"/>
                <a:cs typeface="Calibri"/>
              </a:rPr>
              <a:t> </a:t>
            </a:r>
            <a:r>
              <a:rPr sz="1400" b="1" dirty="0">
                <a:latin typeface="Calibri"/>
                <a:cs typeface="Calibri"/>
              </a:rPr>
              <a:t>Ackerman</a:t>
            </a:r>
            <a:r>
              <a:rPr sz="1400" b="1" spc="-110" dirty="0">
                <a:latin typeface="Calibri"/>
                <a:cs typeface="Calibri"/>
              </a:rPr>
              <a:t> </a:t>
            </a:r>
            <a:r>
              <a:rPr sz="1400" b="1" spc="10" dirty="0">
                <a:latin typeface="Calibri"/>
                <a:cs typeface="Calibri"/>
              </a:rPr>
              <a:t>Percentage</a:t>
            </a:r>
            <a:r>
              <a:rPr sz="1400" b="1" spc="-135" dirty="0">
                <a:latin typeface="Calibri"/>
                <a:cs typeface="Calibri"/>
              </a:rPr>
              <a:t> </a:t>
            </a:r>
            <a:r>
              <a:rPr sz="1400" b="1" dirty="0">
                <a:latin typeface="Calibri"/>
                <a:cs typeface="Calibri"/>
              </a:rPr>
              <a:t>Chart</a:t>
            </a:r>
            <a:endParaRPr sz="1400" dirty="0">
              <a:latin typeface="Calibri"/>
              <a:cs typeface="Calibri"/>
            </a:endParaRPr>
          </a:p>
        </p:txBody>
      </p:sp>
      <p:sp>
        <p:nvSpPr>
          <p:cNvPr id="25" name="object 20"/>
          <p:cNvSpPr txBox="1"/>
          <p:nvPr/>
        </p:nvSpPr>
        <p:spPr>
          <a:xfrm>
            <a:off x="1576895" y="2947109"/>
            <a:ext cx="1127125" cy="242570"/>
          </a:xfrm>
          <a:prstGeom prst="rect">
            <a:avLst/>
          </a:prstGeom>
        </p:spPr>
        <p:txBody>
          <a:bodyPr vert="horz" wrap="square" lIns="0" tIns="15875" rIns="0" bIns="0" rtlCol="0">
            <a:spAutoFit/>
          </a:bodyPr>
          <a:lstStyle/>
          <a:p>
            <a:pPr marL="12700">
              <a:lnSpc>
                <a:spcPct val="100000"/>
              </a:lnSpc>
              <a:spcBef>
                <a:spcPts val="125"/>
              </a:spcBef>
            </a:pPr>
            <a:r>
              <a:rPr sz="1400" b="1" spc="10" dirty="0">
                <a:latin typeface="Calibri"/>
                <a:cs typeface="Calibri"/>
              </a:rPr>
              <a:t>L</a:t>
            </a:r>
            <a:r>
              <a:rPr sz="1400" b="1" spc="-10" dirty="0">
                <a:latin typeface="Calibri"/>
                <a:cs typeface="Calibri"/>
              </a:rPr>
              <a:t>o</a:t>
            </a:r>
            <a:r>
              <a:rPr sz="1400" b="1" spc="30" dirty="0">
                <a:latin typeface="Calibri"/>
                <a:cs typeface="Calibri"/>
              </a:rPr>
              <a:t>t</a:t>
            </a:r>
            <a:r>
              <a:rPr sz="1400" b="1" spc="-10" dirty="0">
                <a:latin typeface="Calibri"/>
                <a:cs typeface="Calibri"/>
              </a:rPr>
              <a:t>u</a:t>
            </a:r>
            <a:r>
              <a:rPr sz="1400" b="1" spc="10" dirty="0">
                <a:latin typeface="Calibri"/>
                <a:cs typeface="Calibri"/>
              </a:rPr>
              <a:t>s</a:t>
            </a:r>
            <a:r>
              <a:rPr sz="1400" b="1" spc="-65" dirty="0">
                <a:latin typeface="Calibri"/>
                <a:cs typeface="Calibri"/>
              </a:rPr>
              <a:t> </a:t>
            </a:r>
            <a:r>
              <a:rPr sz="1400" b="1" spc="50" dirty="0">
                <a:latin typeface="Calibri"/>
                <a:cs typeface="Calibri"/>
              </a:rPr>
              <a:t>A</a:t>
            </a:r>
            <a:r>
              <a:rPr sz="1400" b="1" spc="-10" dirty="0">
                <a:latin typeface="Calibri"/>
                <a:cs typeface="Calibri"/>
              </a:rPr>
              <a:t>n</a:t>
            </a:r>
            <a:r>
              <a:rPr sz="1400" b="1" spc="-20" dirty="0">
                <a:latin typeface="Calibri"/>
                <a:cs typeface="Calibri"/>
              </a:rPr>
              <a:t>a</a:t>
            </a:r>
            <a:r>
              <a:rPr sz="1400" b="1" spc="25" dirty="0">
                <a:latin typeface="Calibri"/>
                <a:cs typeface="Calibri"/>
              </a:rPr>
              <a:t>l</a:t>
            </a:r>
            <a:r>
              <a:rPr sz="1400" b="1" spc="10" dirty="0">
                <a:latin typeface="Calibri"/>
                <a:cs typeface="Calibri"/>
              </a:rPr>
              <a:t>y</a:t>
            </a:r>
            <a:r>
              <a:rPr sz="1400" b="1" spc="40" dirty="0">
                <a:latin typeface="Calibri"/>
                <a:cs typeface="Calibri"/>
              </a:rPr>
              <a:t>ze</a:t>
            </a:r>
            <a:r>
              <a:rPr sz="1400" b="1" spc="5" dirty="0">
                <a:latin typeface="Calibri"/>
                <a:cs typeface="Calibri"/>
              </a:rPr>
              <a:t>r</a:t>
            </a:r>
            <a:endParaRPr sz="1400" dirty="0">
              <a:latin typeface="Calibri"/>
              <a:cs typeface="Calibri"/>
            </a:endParaRPr>
          </a:p>
        </p:txBody>
      </p:sp>
      <p:sp>
        <p:nvSpPr>
          <p:cNvPr id="26" name="object 21"/>
          <p:cNvSpPr txBox="1"/>
          <p:nvPr/>
        </p:nvSpPr>
        <p:spPr>
          <a:xfrm>
            <a:off x="7092280" y="3282687"/>
            <a:ext cx="1753870" cy="243204"/>
          </a:xfrm>
          <a:prstGeom prst="rect">
            <a:avLst/>
          </a:prstGeom>
        </p:spPr>
        <p:txBody>
          <a:bodyPr vert="horz" wrap="square" lIns="0" tIns="15875" rIns="0" bIns="0" rtlCol="0">
            <a:spAutoFit/>
          </a:bodyPr>
          <a:lstStyle/>
          <a:p>
            <a:pPr marL="12700">
              <a:lnSpc>
                <a:spcPct val="100000"/>
              </a:lnSpc>
              <a:spcBef>
                <a:spcPts val="125"/>
              </a:spcBef>
            </a:pPr>
            <a:r>
              <a:rPr sz="1400" b="1" spc="10" dirty="0">
                <a:latin typeface="Calibri"/>
                <a:cs typeface="Calibri"/>
              </a:rPr>
              <a:t>S</a:t>
            </a:r>
            <a:r>
              <a:rPr sz="1400" b="1" spc="35" dirty="0">
                <a:latin typeface="Calibri"/>
                <a:cs typeface="Calibri"/>
              </a:rPr>
              <a:t>tee</a:t>
            </a:r>
            <a:r>
              <a:rPr sz="1400" b="1" spc="5" dirty="0">
                <a:latin typeface="Calibri"/>
                <a:cs typeface="Calibri"/>
              </a:rPr>
              <a:t>r</a:t>
            </a:r>
            <a:r>
              <a:rPr sz="1400" b="1" spc="-75" dirty="0">
                <a:latin typeface="Calibri"/>
                <a:cs typeface="Calibri"/>
              </a:rPr>
              <a:t> </a:t>
            </a:r>
            <a:r>
              <a:rPr sz="1400" b="1" spc="-80" dirty="0">
                <a:latin typeface="Calibri"/>
                <a:cs typeface="Calibri"/>
              </a:rPr>
              <a:t>V</a:t>
            </a:r>
            <a:r>
              <a:rPr sz="1400" b="1" spc="-5" dirty="0">
                <a:latin typeface="Calibri"/>
                <a:cs typeface="Calibri"/>
              </a:rPr>
              <a:t>/</a:t>
            </a:r>
            <a:r>
              <a:rPr sz="1400" b="1" spc="10" dirty="0">
                <a:latin typeface="Calibri"/>
                <a:cs typeface="Calibri"/>
              </a:rPr>
              <a:t>s</a:t>
            </a:r>
            <a:r>
              <a:rPr sz="1400" b="1" spc="-65" dirty="0">
                <a:latin typeface="Calibri"/>
                <a:cs typeface="Calibri"/>
              </a:rPr>
              <a:t> </a:t>
            </a:r>
            <a:r>
              <a:rPr sz="1400" b="1" dirty="0">
                <a:latin typeface="Calibri"/>
                <a:cs typeface="Calibri"/>
              </a:rPr>
              <a:t>C</a:t>
            </a:r>
            <a:r>
              <a:rPr sz="1400" b="1" spc="-20" dirty="0">
                <a:latin typeface="Calibri"/>
                <a:cs typeface="Calibri"/>
              </a:rPr>
              <a:t>a</a:t>
            </a:r>
            <a:r>
              <a:rPr sz="1400" b="1" spc="-15" dirty="0">
                <a:latin typeface="Calibri"/>
                <a:cs typeface="Calibri"/>
              </a:rPr>
              <a:t>m</a:t>
            </a:r>
            <a:r>
              <a:rPr sz="1400" b="1" spc="-10" dirty="0">
                <a:latin typeface="Calibri"/>
                <a:cs typeface="Calibri"/>
              </a:rPr>
              <a:t>b</a:t>
            </a:r>
            <a:r>
              <a:rPr sz="1400" b="1" spc="35" dirty="0">
                <a:latin typeface="Calibri"/>
                <a:cs typeface="Calibri"/>
              </a:rPr>
              <a:t>e</a:t>
            </a:r>
            <a:r>
              <a:rPr sz="1400" b="1" spc="5" dirty="0">
                <a:latin typeface="Calibri"/>
                <a:cs typeface="Calibri"/>
              </a:rPr>
              <a:t>r</a:t>
            </a:r>
            <a:r>
              <a:rPr sz="1400" b="1" spc="-75" dirty="0">
                <a:latin typeface="Calibri"/>
                <a:cs typeface="Calibri"/>
              </a:rPr>
              <a:t> </a:t>
            </a:r>
            <a:r>
              <a:rPr sz="1400" b="1" spc="-20" dirty="0">
                <a:latin typeface="Calibri"/>
                <a:cs typeface="Calibri"/>
              </a:rPr>
              <a:t>a</a:t>
            </a:r>
            <a:r>
              <a:rPr sz="1400" b="1" spc="-10" dirty="0">
                <a:latin typeface="Calibri"/>
                <a:cs typeface="Calibri"/>
              </a:rPr>
              <a:t>n</a:t>
            </a:r>
            <a:r>
              <a:rPr sz="1400" b="1" spc="5" dirty="0">
                <a:latin typeface="Calibri"/>
                <a:cs typeface="Calibri"/>
              </a:rPr>
              <a:t>g</a:t>
            </a:r>
            <a:r>
              <a:rPr sz="1400" b="1" spc="25" dirty="0">
                <a:latin typeface="Calibri"/>
                <a:cs typeface="Calibri"/>
              </a:rPr>
              <a:t>l</a:t>
            </a:r>
            <a:r>
              <a:rPr sz="1400" b="1" spc="10" dirty="0">
                <a:latin typeface="Calibri"/>
                <a:cs typeface="Calibri"/>
              </a:rPr>
              <a:t>e</a:t>
            </a:r>
            <a:endParaRPr sz="1400" dirty="0">
              <a:latin typeface="Calibri"/>
              <a:cs typeface="Calibri"/>
            </a:endParaRPr>
          </a:p>
        </p:txBody>
      </p:sp>
      <p:sp>
        <p:nvSpPr>
          <p:cNvPr id="27" name="object 22"/>
          <p:cNvSpPr txBox="1"/>
          <p:nvPr/>
        </p:nvSpPr>
        <p:spPr>
          <a:xfrm>
            <a:off x="4851046" y="3282687"/>
            <a:ext cx="1430020" cy="243204"/>
          </a:xfrm>
          <a:prstGeom prst="rect">
            <a:avLst/>
          </a:prstGeom>
        </p:spPr>
        <p:txBody>
          <a:bodyPr vert="horz" wrap="square" lIns="0" tIns="15875" rIns="0" bIns="0" rtlCol="0">
            <a:spAutoFit/>
          </a:bodyPr>
          <a:lstStyle/>
          <a:p>
            <a:pPr marL="12700">
              <a:lnSpc>
                <a:spcPct val="100000"/>
              </a:lnSpc>
              <a:spcBef>
                <a:spcPts val="125"/>
              </a:spcBef>
            </a:pPr>
            <a:r>
              <a:rPr sz="1400" b="1" spc="10" dirty="0">
                <a:latin typeface="Calibri"/>
                <a:cs typeface="Calibri"/>
              </a:rPr>
              <a:t>S</a:t>
            </a:r>
            <a:r>
              <a:rPr sz="1400" b="1" spc="35" dirty="0">
                <a:latin typeface="Calibri"/>
                <a:cs typeface="Calibri"/>
              </a:rPr>
              <a:t>tee</a:t>
            </a:r>
            <a:r>
              <a:rPr sz="1400" b="1" spc="5" dirty="0">
                <a:latin typeface="Calibri"/>
                <a:cs typeface="Calibri"/>
              </a:rPr>
              <a:t>r</a:t>
            </a:r>
            <a:r>
              <a:rPr sz="1400" b="1" spc="-75" dirty="0">
                <a:latin typeface="Calibri"/>
                <a:cs typeface="Calibri"/>
              </a:rPr>
              <a:t> </a:t>
            </a:r>
            <a:r>
              <a:rPr sz="1400" b="1" spc="-80" dirty="0">
                <a:latin typeface="Calibri"/>
                <a:cs typeface="Calibri"/>
              </a:rPr>
              <a:t>V</a:t>
            </a:r>
            <a:r>
              <a:rPr sz="1400" b="1" spc="-5" dirty="0">
                <a:latin typeface="Calibri"/>
                <a:cs typeface="Calibri"/>
              </a:rPr>
              <a:t>/</a:t>
            </a:r>
            <a:r>
              <a:rPr sz="1400" b="1" spc="10" dirty="0">
                <a:latin typeface="Calibri"/>
                <a:cs typeface="Calibri"/>
              </a:rPr>
              <a:t>s</a:t>
            </a:r>
            <a:r>
              <a:rPr sz="1400" b="1" spc="-65" dirty="0">
                <a:latin typeface="Calibri"/>
                <a:cs typeface="Calibri"/>
              </a:rPr>
              <a:t> </a:t>
            </a:r>
            <a:r>
              <a:rPr sz="1400" b="1" spc="-175" dirty="0">
                <a:latin typeface="Calibri"/>
                <a:cs typeface="Calibri"/>
              </a:rPr>
              <a:t>T</a:t>
            </a:r>
            <a:r>
              <a:rPr sz="1400" b="1" spc="-10" dirty="0">
                <a:latin typeface="Calibri"/>
                <a:cs typeface="Calibri"/>
              </a:rPr>
              <a:t>o</a:t>
            </a:r>
            <a:r>
              <a:rPr sz="1400" b="1" spc="10" dirty="0">
                <a:latin typeface="Calibri"/>
                <a:cs typeface="Calibri"/>
              </a:rPr>
              <a:t>e</a:t>
            </a:r>
            <a:r>
              <a:rPr sz="1400" b="1" spc="-65" dirty="0">
                <a:latin typeface="Calibri"/>
                <a:cs typeface="Calibri"/>
              </a:rPr>
              <a:t> </a:t>
            </a:r>
            <a:r>
              <a:rPr sz="1400" b="1" spc="-20" dirty="0">
                <a:latin typeface="Calibri"/>
                <a:cs typeface="Calibri"/>
              </a:rPr>
              <a:t>a</a:t>
            </a:r>
            <a:r>
              <a:rPr sz="1400" b="1" spc="-10" dirty="0">
                <a:latin typeface="Calibri"/>
                <a:cs typeface="Calibri"/>
              </a:rPr>
              <a:t>n</a:t>
            </a:r>
            <a:r>
              <a:rPr sz="1400" b="1" spc="5" dirty="0">
                <a:latin typeface="Calibri"/>
                <a:cs typeface="Calibri"/>
              </a:rPr>
              <a:t>g</a:t>
            </a:r>
            <a:r>
              <a:rPr sz="1400" b="1" spc="25" dirty="0">
                <a:latin typeface="Calibri"/>
                <a:cs typeface="Calibri"/>
              </a:rPr>
              <a:t>l</a:t>
            </a:r>
            <a:r>
              <a:rPr sz="1400" b="1" spc="10" dirty="0">
                <a:latin typeface="Calibri"/>
                <a:cs typeface="Calibri"/>
              </a:rPr>
              <a:t>e</a:t>
            </a:r>
            <a:endParaRPr sz="1400" dirty="0">
              <a:latin typeface="Calibri"/>
              <a:cs typeface="Calibri"/>
            </a:endParaRPr>
          </a:p>
        </p:txBody>
      </p:sp>
    </p:spTree>
    <p:extLst>
      <p:ext uri="{BB962C8B-B14F-4D97-AF65-F5344CB8AC3E}">
        <p14:creationId xmlns:p14="http://schemas.microsoft.com/office/powerpoint/2010/main" val="2936014708"/>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2652</Words>
  <Application>Microsoft Office PowerPoint</Application>
  <PresentationFormat>On-screen Show (4:3)</PresentationFormat>
  <Paragraphs>698</Paragraphs>
  <Slides>35</Slides>
  <Notes>2</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Vehicle Summary</vt:lpstr>
      <vt:lpstr>Vehicle Specifications &amp; Vehicle Comparison</vt:lpstr>
      <vt:lpstr>Vehicle Overview and Integration</vt:lpstr>
      <vt:lpstr>Lessons learnt</vt:lpstr>
      <vt:lpstr>Design validation plan</vt:lpstr>
      <vt:lpstr>DFMEA</vt:lpstr>
      <vt:lpstr>PowerPoint Presentation</vt:lpstr>
      <vt:lpstr>Cost –Weight Analysis</vt:lpstr>
      <vt:lpstr>Project plan</vt:lpstr>
      <vt:lpstr>Roll Cage Design Process-Ergonomics</vt:lpstr>
      <vt:lpstr>Roll Cage Design Process-Ergonomics</vt:lpstr>
      <vt:lpstr>Design of Roll cage</vt:lpstr>
      <vt:lpstr>Design of Roll cage</vt:lpstr>
      <vt:lpstr>Design of Roll cage</vt:lpstr>
      <vt:lpstr>Design of Roll cage</vt:lpstr>
      <vt:lpstr>CAE Analysis of Roll cage</vt:lpstr>
      <vt:lpstr>CAE Analysis of Roll cage</vt:lpstr>
      <vt:lpstr>CAE Analysis of Roll cage</vt:lpstr>
      <vt:lpstr>CAE Analysis of Roll cage</vt:lpstr>
      <vt:lpstr>Drivetrain</vt:lpstr>
      <vt:lpstr>Our Drivetrain layout</vt:lpstr>
      <vt:lpstr>PowerPoint Presentation</vt:lpstr>
      <vt:lpstr>PowerPoint Presentation</vt:lpstr>
      <vt:lpstr>Approach to calculate the gear ratios for gearbox and open differential</vt:lpstr>
      <vt:lpstr>Design of Gearbox</vt:lpstr>
      <vt:lpstr>DFMEA/PFMEA</vt:lpstr>
      <vt:lpstr>Lessons learnt</vt:lpstr>
      <vt:lpstr>Braking system specs</vt:lpstr>
      <vt:lpstr>Brakes System</vt:lpstr>
      <vt:lpstr>Brakes System - DFMEA/PFMEA</vt:lpstr>
      <vt:lpstr>Suspension</vt:lpstr>
      <vt:lpstr>Suspension</vt:lpstr>
      <vt:lpstr>Steering</vt:lpstr>
      <vt:lpstr>Steering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Torque</dc:title>
  <dc:creator>RohanAaron</dc:creator>
  <cp:lastModifiedBy>RohanAaron</cp:lastModifiedBy>
  <cp:revision>22</cp:revision>
  <dcterms:created xsi:type="dcterms:W3CDTF">2023-12-01T12:56:20Z</dcterms:created>
  <dcterms:modified xsi:type="dcterms:W3CDTF">2024-03-14T19:34:55Z</dcterms:modified>
</cp:coreProperties>
</file>